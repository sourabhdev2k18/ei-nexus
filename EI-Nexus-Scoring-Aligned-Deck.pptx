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WIN THIS OPENING: say explicitly that this deck is structured around their rubric before you say anything else - 'we mapped our build to all 10 of your scoring criteria, one slide each.' That single sentence signals you read the brief carefully, which itself is worth points on Problem Definition and Business Relevance. Don't linger - 15 seconds, then move to the scorecard.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WIN: this slide is a gift to time-pressured judges - point at it and say 'you can score us directly off this table, and every row has a slide behind it if you want to dig in.' If a judge is filling out a rubric live during your pitch, this is the slide they'll screenshot. Don't read every row out loud - just orient them to the structure, then move fast into slide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WIN 'PROBLEM DEFINITION': judges scoring this criterion are checking for specificity, not drama. Say the two numbers plainly - '2 to 3 weeks becomes under 90 seconds' - and name ONE of the 'who feels this' bullets that matches whoever is in the room (plant engineers if it's an industrial audience, reliability teams if it's more technical). Do not skip the 'who feels this' box - a problem statement with no named stakeholder reads as generic, and generic loses points here specifically.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WIN 'SOLUTION ARCHITECTURE': the failure mode here is a single fuzzy box diagram. You have the opposite problem - almost too much documentation - so the move is to NAME the artifact types out loud fast ('class diagram, two sequence diagrams, a state diagram, component diagram, deployment diagram, ER diagram - all in the design doc') rather than explain each one. If a judge asks a follow-up about a specific piece, that's when you go deep on that one diagram, not before. The ADR mention at the bottom is your answer to 'why did you build it this way' - point at it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WIN 'ENGINEERING/BUILD QUALITY': this is the criterion most teams will only have vibes for - you have receipts. Lead with the red box, told as a story not a confession: 'we stress-tested our own system on purpose, found a real concurrency bug, and fixed it two ways.' Judges with an engineering background will specifically probe for whether a team tests anything - having a *found and fixed* bug story is worth more than claiming zero bugs, which nobody believes anyway. If asked to prove the 16 tests are real, you can run `python -m unittest discover tests -v` live in a terminal in under 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WIN 'AI APPROPRIATENESS': this criterion punishes AI-washing - bolting an LLM onto something that didn't need one. Your strongest line is the closing one: 'AI enriches the output, it's never a single point of failure for correctness.' Say that sentence deliberately, it directly answers what a judge is listening for. If asked 'couldn't you have just used rules for everything', point at the left column - free-text symptom interpretation and evidence synthesis are genuinely language tasks, not something a regex or lookup table can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WIN 'AI IMPLEMENTATION': judges scoring depth are counting distinct AI components, not just checking a box for 'uses an LLM.' You have six genuinely different pieces here - say that number out loud: 'six separate AI/ML components, not one API call wearing a UI.' The 3-tier LLM fallback is your best answer if someone asks about reliability - most teams have a single point of failure if their API key runs out mid-demo; you don't. Mention the real MCP protocol path only if someone asks a protocol-compliance question - it's a depth signal, not a headline.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WIN 'AI IMPACT': this is the criterion where 'impact' gets confused with 'used a lot of AI' - don't make that mistake. Impact means measurable before/after, and you have a genuine one: the threshold number itself changes (3.0 to 2.94) after a real repeat incident. If you can, trigger this live during Q&amp;A - inject the same fault twice and let the judges watch the number move. That single live moment is worth more than every stat on this slide combined. If live isn't possible, say explicitly 'this isn't a simulated number for the slide, it's the actual threshold value from backend/anomaly.py.'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WIN 'BUSINESS RELEVANCE': the trap here is treating use-case alignment as a checkbox exercise - listing four codes without explaining why. Instead say the sentence that's already in your README: 'GOH-UC-034 is an AGENT use case, not a monitoring one - that's deliberate, and it's why the closed loop matters more than a dashboard would.' That one line shows judges you understood the difference between what they asked for and what most teams will build anyway.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WIN 'BENEFITS &amp; VIABILITY': judges here are checking whether you understand the difference between a demo and a product. Be honest about Stage 1 vs 2 vs 3 - say 'Stage 1 is real and running now, Stages 2 and 3 are scoped with exact deployment commands but not yet executed against a live cloud account.' That honesty is itself a viability signal - overclaiming production-readiness for a hackathon project is a bigger red flag to experienced judges than admitting what's not done yet. The ROI number: always caveat 'computed from this session, assumptions stated openly in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WIN 'WORKING DEMO': this is the single highest-leverage criterion in the whole rubric because it's the one you can prove in real time instead of arguing about. If there's ANY way to have the laptop open and the app running live, do it here instead of clicking through this slide - say 'let me just show you' and switch to the browser. These screenshots exist only as the fallback if live demo isn't possible in this particular judging round (e.g. a spot-judging walk-by with no setup time). Either way, say explicitly: 'this is the actual running app, not a mockup - you're welcome to drive it yourselves.'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WIN 'DIFFERENTIATION': don't read all six cards - a judge who's seen 20 pitches today will tune out a recitation. Pick the TWO that are hardest for another team to casually claim: 'it manages a fleet' (most teams demo one machine) and 'we found our own bug' (most teams won't volunteer this at all). Gesture at the rest as 'and a few more reasons on the screen.' This slide should feel confident and slightly amused, not defensive - you're not arguing you're different, you're just listing 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WIN THE CLOSE: read 'every scoring criterion answered with working code, not slideware' slowly - it's the thesis of the entire pitch in one sentence. Then stop talking. The recap table is there for judges taking notes, not for you to narrate. If there's time for one final beat, offer: 'pick any row on this table and we'll show you the code or the live feature right now' - that's an invitation a judge scoring you seriously will often actually take you up on, and it's the strongest possible way to end, because it hands control of the remaining time to the people doing the scoring.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13"/>
        </a:solidFill>
      </p:bgPr>
    </p:bg>
    <p:spTree>
      <p:nvGrpSpPr>
        <p:cNvPr id="1" name=""/>
        <p:cNvGrpSpPr/>
        <p:nvPr/>
      </p:nvGrpSpPr>
      <p:grpSpPr>
        <a:xfrm>
          <a:off x="0" y="0"/>
          <a:ext cx="0" cy="0"/>
          <a:chOff x="0" y="0"/>
          <a:chExt cx="0" cy="0"/>
        </a:xfrm>
      </p:grpSpPr>
      <p:sp>
        <p:nvSpPr>
          <p:cNvPr id="2" name="Shape 0"/>
          <p:cNvSpPr/>
          <p:nvPr/>
        </p:nvSpPr>
        <p:spPr>
          <a:xfrm>
            <a:off x="-2286000" y="-2743200"/>
            <a:ext cx="6400800" cy="6400800"/>
          </a:xfrm>
          <a:prstGeom prst="ellipse">
            <a:avLst/>
          </a:prstGeom>
          <a:solidFill>
            <a:srgbClr val="FF8A3D">
              <a:alpha val="8000"/>
            </a:srgbClr>
          </a:solidFill>
          <a:ln/>
        </p:spPr>
      </p:sp>
      <p:sp>
        <p:nvSpPr>
          <p:cNvPr id="3" name="Shape 1"/>
          <p:cNvSpPr/>
          <p:nvPr/>
        </p:nvSpPr>
        <p:spPr>
          <a:xfrm>
            <a:off x="8503920" y="4114800"/>
            <a:ext cx="5486400" cy="5486400"/>
          </a:xfrm>
          <a:prstGeom prst="ellipse">
            <a:avLst/>
          </a:prstGeom>
          <a:solidFill>
            <a:srgbClr val="4FD1E8">
              <a:alpha val="6000"/>
            </a:srgbClr>
          </a:solidFill>
          <a:ln/>
        </p:spPr>
      </p:sp>
      <p:sp>
        <p:nvSpPr>
          <p:cNvPr id="4" name="Text 2"/>
          <p:cNvSpPr/>
          <p:nvPr/>
        </p:nvSpPr>
        <p:spPr>
          <a:xfrm>
            <a:off x="822960" y="1188720"/>
            <a:ext cx="10058400" cy="365760"/>
          </a:xfrm>
          <a:prstGeom prst="rect">
            <a:avLst/>
          </a:prstGeom>
          <a:noFill/>
          <a:ln/>
        </p:spPr>
        <p:txBody>
          <a:bodyPr wrap="square" lIns="0" tIns="0" rIns="0" bIns="0" rtlCol="0" anchor="ctr"/>
          <a:lstStyle/>
          <a:p>
            <a:pPr indent="0" marL="0">
              <a:buNone/>
            </a:pPr>
            <a:r>
              <a:rPr lang="en-US" sz="1250" b="1" spc="200" kern="0" dirty="0">
                <a:solidFill>
                  <a:srgbClr val="FF8A3D"/>
                </a:solidFill>
                <a:latin typeface="Calibri" pitchFamily="34" charset="0"/>
                <a:ea typeface="Calibri" pitchFamily="34" charset="-122"/>
                <a:cs typeface="Calibri" pitchFamily="34" charset="-120"/>
              </a:rPr>
              <a:t>LTTS OPENHACK 2026  ·  TEAM MCP MAVERICKS  ·  SCORING-ALIGNED DECK</a:t>
            </a:r>
            <a:endParaRPr lang="en-US" sz="1250" dirty="0"/>
          </a:p>
        </p:txBody>
      </p:sp>
      <p:sp>
        <p:nvSpPr>
          <p:cNvPr id="5" name="Text 3"/>
          <p:cNvSpPr/>
          <p:nvPr/>
        </p:nvSpPr>
        <p:spPr>
          <a:xfrm>
            <a:off x="777240" y="1600200"/>
            <a:ext cx="10515600" cy="1097280"/>
          </a:xfrm>
          <a:prstGeom prst="rect">
            <a:avLst/>
          </a:prstGeom>
          <a:noFill/>
          <a:ln/>
        </p:spPr>
        <p:txBody>
          <a:bodyPr wrap="square" lIns="0" tIns="0" rIns="0" bIns="0" rtlCol="0" anchor="ctr"/>
          <a:lstStyle/>
          <a:p>
            <a:pPr indent="0" marL="0">
              <a:buNone/>
            </a:pPr>
            <a:r>
              <a:rPr lang="en-US" sz="5800" b="1" dirty="0">
                <a:solidFill>
                  <a:srgbClr val="F2F5F8"/>
                </a:solidFill>
                <a:latin typeface="Arial" pitchFamily="34" charset="0"/>
                <a:ea typeface="Arial" pitchFamily="34" charset="-122"/>
                <a:cs typeface="Arial" pitchFamily="34" charset="-120"/>
              </a:rPr>
              <a:t>EI-Nexus</a:t>
            </a:r>
            <a:endParaRPr lang="en-US" sz="5800" dirty="0"/>
          </a:p>
        </p:txBody>
      </p:sp>
      <p:sp>
        <p:nvSpPr>
          <p:cNvPr id="6" name="Text 4"/>
          <p:cNvSpPr/>
          <p:nvPr/>
        </p:nvSpPr>
        <p:spPr>
          <a:xfrm>
            <a:off x="822960" y="2651760"/>
            <a:ext cx="10058400" cy="548640"/>
          </a:xfrm>
          <a:prstGeom prst="rect">
            <a:avLst/>
          </a:prstGeom>
          <a:noFill/>
          <a:ln/>
        </p:spPr>
        <p:txBody>
          <a:bodyPr wrap="square" lIns="0" tIns="0" rIns="0" bIns="0" rtlCol="0" anchor="ctr"/>
          <a:lstStyle/>
          <a:p>
            <a:pPr indent="0" marL="0">
              <a:buNone/>
            </a:pPr>
            <a:r>
              <a:rPr lang="en-US" sz="2400" dirty="0">
                <a:solidFill>
                  <a:srgbClr val="4FD1E8"/>
                </a:solidFill>
                <a:latin typeface="Arial" pitchFamily="34" charset="0"/>
                <a:ea typeface="Arial" pitchFamily="34" charset="-122"/>
                <a:cs typeface="Arial" pitchFamily="34" charset="-120"/>
              </a:rPr>
              <a:t>Autonomous Engineering Intelligence Twin</a:t>
            </a:r>
            <a:endParaRPr lang="en-US" sz="2400" dirty="0"/>
          </a:p>
        </p:txBody>
      </p:sp>
      <p:sp>
        <p:nvSpPr>
          <p:cNvPr id="7" name="Text 5"/>
          <p:cNvSpPr/>
          <p:nvPr/>
        </p:nvSpPr>
        <p:spPr>
          <a:xfrm>
            <a:off x="822960" y="3337560"/>
            <a:ext cx="9326880" cy="731520"/>
          </a:xfrm>
          <a:prstGeom prst="rect">
            <a:avLst/>
          </a:prstGeom>
          <a:noFill/>
          <a:ln/>
        </p:spPr>
        <p:txBody>
          <a:bodyPr wrap="square" lIns="0" tIns="0" rIns="0" bIns="0" rtlCol="0" anchor="ctr"/>
          <a:lstStyle/>
          <a:p>
            <a:pPr indent="0" marL="0">
              <a:lnSpc>
                <a:spcPct val="130000"/>
              </a:lnSpc>
              <a:buNone/>
            </a:pPr>
            <a:r>
              <a:rPr lang="en-US" sz="1400" i="1" dirty="0">
                <a:solidFill>
                  <a:srgbClr val="8B98A8"/>
                </a:solidFill>
                <a:latin typeface="Calibri" pitchFamily="34" charset="0"/>
                <a:ea typeface="Calibri" pitchFamily="34" charset="-122"/>
                <a:cs typeface="Calibri" pitchFamily="34" charset="-120"/>
              </a:rPr>
              <a:t>This deck is organized around the official evaluation rubric — every one of the 10 scoring parameters gets its own slide, with the specific evidence a judge can point to.</a:t>
            </a:r>
            <a:endParaRPr lang="en-US" sz="1400" dirty="0"/>
          </a:p>
        </p:txBody>
      </p:sp>
      <p:sp>
        <p:nvSpPr>
          <p:cNvPr id="8" name="Shape 6"/>
          <p:cNvSpPr/>
          <p:nvPr/>
        </p:nvSpPr>
        <p:spPr>
          <a:xfrm>
            <a:off x="822960" y="4343400"/>
            <a:ext cx="2057400" cy="502920"/>
          </a:xfrm>
          <a:prstGeom prst="roundRect">
            <a:avLst>
              <a:gd name="adj" fmla="val 10909"/>
            </a:avLst>
          </a:prstGeom>
          <a:solidFill>
            <a:srgbClr val="1A2330"/>
          </a:solidFill>
          <a:ln w="12700">
            <a:solidFill>
              <a:srgbClr val="FF8A3D"/>
            </a:solidFill>
            <a:prstDash val="solid"/>
          </a:ln>
        </p:spPr>
      </p:sp>
      <p:sp>
        <p:nvSpPr>
          <p:cNvPr id="9" name="Text 7"/>
          <p:cNvSpPr/>
          <p:nvPr/>
        </p:nvSpPr>
        <p:spPr>
          <a:xfrm>
            <a:off x="822960" y="4343400"/>
            <a:ext cx="2057400" cy="502920"/>
          </a:xfrm>
          <a:prstGeom prst="rect">
            <a:avLst/>
          </a:prstGeom>
          <a:noFill/>
          <a:ln/>
        </p:spPr>
        <p:txBody>
          <a:bodyPr wrap="square" lIns="0" tIns="0" rIns="0" bIns="0" rtlCol="0" anchor="ctr"/>
          <a:lstStyle/>
          <a:p>
            <a:pPr algn="ctr" indent="0" marL="0">
              <a:buNone/>
            </a:pPr>
            <a:r>
              <a:rPr lang="en-US" sz="950" b="1" dirty="0">
                <a:solidFill>
                  <a:srgbClr val="F2F5F8"/>
                </a:solidFill>
                <a:latin typeface="Calibri" pitchFamily="34" charset="0"/>
                <a:ea typeface="Calibri" pitchFamily="34" charset="-122"/>
                <a:cs typeface="Calibri" pitchFamily="34" charset="-120"/>
              </a:rPr>
              <a:t>1. Problem Definition</a:t>
            </a:r>
            <a:endParaRPr lang="en-US" sz="950" dirty="0"/>
          </a:p>
        </p:txBody>
      </p:sp>
      <p:sp>
        <p:nvSpPr>
          <p:cNvPr id="10" name="Shape 8"/>
          <p:cNvSpPr/>
          <p:nvPr/>
        </p:nvSpPr>
        <p:spPr>
          <a:xfrm>
            <a:off x="2990088" y="4343400"/>
            <a:ext cx="2057400" cy="502920"/>
          </a:xfrm>
          <a:prstGeom prst="roundRect">
            <a:avLst>
              <a:gd name="adj" fmla="val 10909"/>
            </a:avLst>
          </a:prstGeom>
          <a:solidFill>
            <a:srgbClr val="1A2330"/>
          </a:solidFill>
          <a:ln w="12700">
            <a:solidFill>
              <a:srgbClr val="FF8A3D"/>
            </a:solidFill>
            <a:prstDash val="solid"/>
          </a:ln>
        </p:spPr>
      </p:sp>
      <p:sp>
        <p:nvSpPr>
          <p:cNvPr id="11" name="Text 9"/>
          <p:cNvSpPr/>
          <p:nvPr/>
        </p:nvSpPr>
        <p:spPr>
          <a:xfrm>
            <a:off x="2990088" y="4343400"/>
            <a:ext cx="2057400" cy="502920"/>
          </a:xfrm>
          <a:prstGeom prst="rect">
            <a:avLst/>
          </a:prstGeom>
          <a:noFill/>
          <a:ln/>
        </p:spPr>
        <p:txBody>
          <a:bodyPr wrap="square" lIns="0" tIns="0" rIns="0" bIns="0" rtlCol="0" anchor="ctr"/>
          <a:lstStyle/>
          <a:p>
            <a:pPr algn="ctr" indent="0" marL="0">
              <a:buNone/>
            </a:pPr>
            <a:r>
              <a:rPr lang="en-US" sz="950" b="1" dirty="0">
                <a:solidFill>
                  <a:srgbClr val="F2F5F8"/>
                </a:solidFill>
                <a:latin typeface="Calibri" pitchFamily="34" charset="0"/>
                <a:ea typeface="Calibri" pitchFamily="34" charset="-122"/>
                <a:cs typeface="Calibri" pitchFamily="34" charset="-120"/>
              </a:rPr>
              <a:t>2. Solution Architecture</a:t>
            </a:r>
            <a:endParaRPr lang="en-US" sz="950" dirty="0"/>
          </a:p>
        </p:txBody>
      </p:sp>
      <p:sp>
        <p:nvSpPr>
          <p:cNvPr id="12" name="Shape 10"/>
          <p:cNvSpPr/>
          <p:nvPr/>
        </p:nvSpPr>
        <p:spPr>
          <a:xfrm>
            <a:off x="5157216" y="4343400"/>
            <a:ext cx="2057400" cy="502920"/>
          </a:xfrm>
          <a:prstGeom prst="roundRect">
            <a:avLst>
              <a:gd name="adj" fmla="val 10909"/>
            </a:avLst>
          </a:prstGeom>
          <a:solidFill>
            <a:srgbClr val="1A2330"/>
          </a:solidFill>
          <a:ln w="12700">
            <a:solidFill>
              <a:srgbClr val="FF8A3D"/>
            </a:solidFill>
            <a:prstDash val="solid"/>
          </a:ln>
        </p:spPr>
      </p:sp>
      <p:sp>
        <p:nvSpPr>
          <p:cNvPr id="13" name="Text 11"/>
          <p:cNvSpPr/>
          <p:nvPr/>
        </p:nvSpPr>
        <p:spPr>
          <a:xfrm>
            <a:off x="5157216" y="4343400"/>
            <a:ext cx="2057400" cy="502920"/>
          </a:xfrm>
          <a:prstGeom prst="rect">
            <a:avLst/>
          </a:prstGeom>
          <a:noFill/>
          <a:ln/>
        </p:spPr>
        <p:txBody>
          <a:bodyPr wrap="square" lIns="0" tIns="0" rIns="0" bIns="0" rtlCol="0" anchor="ctr"/>
          <a:lstStyle/>
          <a:p>
            <a:pPr algn="ctr" indent="0" marL="0">
              <a:buNone/>
            </a:pPr>
            <a:r>
              <a:rPr lang="en-US" sz="950" b="1" dirty="0">
                <a:solidFill>
                  <a:srgbClr val="F2F5F8"/>
                </a:solidFill>
                <a:latin typeface="Calibri" pitchFamily="34" charset="0"/>
                <a:ea typeface="Calibri" pitchFamily="34" charset="-122"/>
                <a:cs typeface="Calibri" pitchFamily="34" charset="-120"/>
              </a:rPr>
              <a:t>3. Engineering Quality</a:t>
            </a:r>
            <a:endParaRPr lang="en-US" sz="950" dirty="0"/>
          </a:p>
        </p:txBody>
      </p:sp>
      <p:sp>
        <p:nvSpPr>
          <p:cNvPr id="14" name="Shape 12"/>
          <p:cNvSpPr/>
          <p:nvPr/>
        </p:nvSpPr>
        <p:spPr>
          <a:xfrm>
            <a:off x="7324344" y="4343400"/>
            <a:ext cx="2057400" cy="502920"/>
          </a:xfrm>
          <a:prstGeom prst="roundRect">
            <a:avLst>
              <a:gd name="adj" fmla="val 10909"/>
            </a:avLst>
          </a:prstGeom>
          <a:solidFill>
            <a:srgbClr val="1A2330"/>
          </a:solidFill>
          <a:ln w="12700">
            <a:solidFill>
              <a:srgbClr val="FF8A3D"/>
            </a:solidFill>
            <a:prstDash val="solid"/>
          </a:ln>
        </p:spPr>
      </p:sp>
      <p:sp>
        <p:nvSpPr>
          <p:cNvPr id="15" name="Text 13"/>
          <p:cNvSpPr/>
          <p:nvPr/>
        </p:nvSpPr>
        <p:spPr>
          <a:xfrm>
            <a:off x="7324344" y="4343400"/>
            <a:ext cx="2057400" cy="502920"/>
          </a:xfrm>
          <a:prstGeom prst="rect">
            <a:avLst/>
          </a:prstGeom>
          <a:noFill/>
          <a:ln/>
        </p:spPr>
        <p:txBody>
          <a:bodyPr wrap="square" lIns="0" tIns="0" rIns="0" bIns="0" rtlCol="0" anchor="ctr"/>
          <a:lstStyle/>
          <a:p>
            <a:pPr algn="ctr" indent="0" marL="0">
              <a:buNone/>
            </a:pPr>
            <a:r>
              <a:rPr lang="en-US" sz="950" b="1" dirty="0">
                <a:solidFill>
                  <a:srgbClr val="F2F5F8"/>
                </a:solidFill>
                <a:latin typeface="Calibri" pitchFamily="34" charset="0"/>
                <a:ea typeface="Calibri" pitchFamily="34" charset="-122"/>
                <a:cs typeface="Calibri" pitchFamily="34" charset="-120"/>
              </a:rPr>
              <a:t>4. AI Appropriateness</a:t>
            </a:r>
            <a:endParaRPr lang="en-US" sz="950" dirty="0"/>
          </a:p>
        </p:txBody>
      </p:sp>
      <p:sp>
        <p:nvSpPr>
          <p:cNvPr id="16" name="Shape 14"/>
          <p:cNvSpPr/>
          <p:nvPr/>
        </p:nvSpPr>
        <p:spPr>
          <a:xfrm>
            <a:off x="9491472" y="4343400"/>
            <a:ext cx="2057400" cy="502920"/>
          </a:xfrm>
          <a:prstGeom prst="roundRect">
            <a:avLst>
              <a:gd name="adj" fmla="val 10909"/>
            </a:avLst>
          </a:prstGeom>
          <a:solidFill>
            <a:srgbClr val="1A2330"/>
          </a:solidFill>
          <a:ln w="12700">
            <a:solidFill>
              <a:srgbClr val="FF8A3D"/>
            </a:solidFill>
            <a:prstDash val="solid"/>
          </a:ln>
        </p:spPr>
      </p:sp>
      <p:sp>
        <p:nvSpPr>
          <p:cNvPr id="17" name="Text 15"/>
          <p:cNvSpPr/>
          <p:nvPr/>
        </p:nvSpPr>
        <p:spPr>
          <a:xfrm>
            <a:off x="9491472" y="4343400"/>
            <a:ext cx="2057400" cy="502920"/>
          </a:xfrm>
          <a:prstGeom prst="rect">
            <a:avLst/>
          </a:prstGeom>
          <a:noFill/>
          <a:ln/>
        </p:spPr>
        <p:txBody>
          <a:bodyPr wrap="square" lIns="0" tIns="0" rIns="0" bIns="0" rtlCol="0" anchor="ctr"/>
          <a:lstStyle/>
          <a:p>
            <a:pPr algn="ctr" indent="0" marL="0">
              <a:buNone/>
            </a:pPr>
            <a:r>
              <a:rPr lang="en-US" sz="950" b="1" dirty="0">
                <a:solidFill>
                  <a:srgbClr val="F2F5F8"/>
                </a:solidFill>
                <a:latin typeface="Calibri" pitchFamily="34" charset="0"/>
                <a:ea typeface="Calibri" pitchFamily="34" charset="-122"/>
                <a:cs typeface="Calibri" pitchFamily="34" charset="-120"/>
              </a:rPr>
              <a:t>5. AI Implementation</a:t>
            </a:r>
            <a:endParaRPr lang="en-US" sz="950" dirty="0"/>
          </a:p>
        </p:txBody>
      </p:sp>
      <p:sp>
        <p:nvSpPr>
          <p:cNvPr id="18" name="Shape 16"/>
          <p:cNvSpPr/>
          <p:nvPr/>
        </p:nvSpPr>
        <p:spPr>
          <a:xfrm>
            <a:off x="822960" y="4956048"/>
            <a:ext cx="2057400" cy="502920"/>
          </a:xfrm>
          <a:prstGeom prst="roundRect">
            <a:avLst>
              <a:gd name="adj" fmla="val 10909"/>
            </a:avLst>
          </a:prstGeom>
          <a:solidFill>
            <a:srgbClr val="1A2330"/>
          </a:solidFill>
          <a:ln w="12700">
            <a:solidFill>
              <a:srgbClr val="FF8A3D"/>
            </a:solidFill>
            <a:prstDash val="solid"/>
          </a:ln>
        </p:spPr>
      </p:sp>
      <p:sp>
        <p:nvSpPr>
          <p:cNvPr id="19" name="Text 17"/>
          <p:cNvSpPr/>
          <p:nvPr/>
        </p:nvSpPr>
        <p:spPr>
          <a:xfrm>
            <a:off x="822960" y="4956048"/>
            <a:ext cx="2057400" cy="502920"/>
          </a:xfrm>
          <a:prstGeom prst="rect">
            <a:avLst/>
          </a:prstGeom>
          <a:noFill/>
          <a:ln/>
        </p:spPr>
        <p:txBody>
          <a:bodyPr wrap="square" lIns="0" tIns="0" rIns="0" bIns="0" rtlCol="0" anchor="ctr"/>
          <a:lstStyle/>
          <a:p>
            <a:pPr algn="ctr" indent="0" marL="0">
              <a:buNone/>
            </a:pPr>
            <a:r>
              <a:rPr lang="en-US" sz="950" b="1" dirty="0">
                <a:solidFill>
                  <a:srgbClr val="F2F5F8"/>
                </a:solidFill>
                <a:latin typeface="Calibri" pitchFamily="34" charset="0"/>
                <a:ea typeface="Calibri" pitchFamily="34" charset="-122"/>
                <a:cs typeface="Calibri" pitchFamily="34" charset="-120"/>
              </a:rPr>
              <a:t>6. AI Impact</a:t>
            </a:r>
            <a:endParaRPr lang="en-US" sz="950" dirty="0"/>
          </a:p>
        </p:txBody>
      </p:sp>
      <p:sp>
        <p:nvSpPr>
          <p:cNvPr id="20" name="Shape 18"/>
          <p:cNvSpPr/>
          <p:nvPr/>
        </p:nvSpPr>
        <p:spPr>
          <a:xfrm>
            <a:off x="2990088" y="4956048"/>
            <a:ext cx="2057400" cy="502920"/>
          </a:xfrm>
          <a:prstGeom prst="roundRect">
            <a:avLst>
              <a:gd name="adj" fmla="val 10909"/>
            </a:avLst>
          </a:prstGeom>
          <a:solidFill>
            <a:srgbClr val="1A2330"/>
          </a:solidFill>
          <a:ln w="12700">
            <a:solidFill>
              <a:srgbClr val="FF8A3D"/>
            </a:solidFill>
            <a:prstDash val="solid"/>
          </a:ln>
        </p:spPr>
      </p:sp>
      <p:sp>
        <p:nvSpPr>
          <p:cNvPr id="21" name="Text 19"/>
          <p:cNvSpPr/>
          <p:nvPr/>
        </p:nvSpPr>
        <p:spPr>
          <a:xfrm>
            <a:off x="2990088" y="4956048"/>
            <a:ext cx="2057400" cy="502920"/>
          </a:xfrm>
          <a:prstGeom prst="rect">
            <a:avLst/>
          </a:prstGeom>
          <a:noFill/>
          <a:ln/>
        </p:spPr>
        <p:txBody>
          <a:bodyPr wrap="square" lIns="0" tIns="0" rIns="0" bIns="0" rtlCol="0" anchor="ctr"/>
          <a:lstStyle/>
          <a:p>
            <a:pPr algn="ctr" indent="0" marL="0">
              <a:buNone/>
            </a:pPr>
            <a:r>
              <a:rPr lang="en-US" sz="950" b="1" dirty="0">
                <a:solidFill>
                  <a:srgbClr val="F2F5F8"/>
                </a:solidFill>
                <a:latin typeface="Calibri" pitchFamily="34" charset="0"/>
                <a:ea typeface="Calibri" pitchFamily="34" charset="-122"/>
                <a:cs typeface="Calibri" pitchFamily="34" charset="-120"/>
              </a:rPr>
              <a:t>7. Business Relevance</a:t>
            </a:r>
            <a:endParaRPr lang="en-US" sz="950" dirty="0"/>
          </a:p>
        </p:txBody>
      </p:sp>
      <p:sp>
        <p:nvSpPr>
          <p:cNvPr id="22" name="Shape 20"/>
          <p:cNvSpPr/>
          <p:nvPr/>
        </p:nvSpPr>
        <p:spPr>
          <a:xfrm>
            <a:off x="5157216" y="4956048"/>
            <a:ext cx="2057400" cy="502920"/>
          </a:xfrm>
          <a:prstGeom prst="roundRect">
            <a:avLst>
              <a:gd name="adj" fmla="val 10909"/>
            </a:avLst>
          </a:prstGeom>
          <a:solidFill>
            <a:srgbClr val="1A2330"/>
          </a:solidFill>
          <a:ln w="12700">
            <a:solidFill>
              <a:srgbClr val="FF8A3D"/>
            </a:solidFill>
            <a:prstDash val="solid"/>
          </a:ln>
        </p:spPr>
      </p:sp>
      <p:sp>
        <p:nvSpPr>
          <p:cNvPr id="23" name="Text 21"/>
          <p:cNvSpPr/>
          <p:nvPr/>
        </p:nvSpPr>
        <p:spPr>
          <a:xfrm>
            <a:off x="5157216" y="4956048"/>
            <a:ext cx="2057400" cy="502920"/>
          </a:xfrm>
          <a:prstGeom prst="rect">
            <a:avLst/>
          </a:prstGeom>
          <a:noFill/>
          <a:ln/>
        </p:spPr>
        <p:txBody>
          <a:bodyPr wrap="square" lIns="0" tIns="0" rIns="0" bIns="0" rtlCol="0" anchor="ctr"/>
          <a:lstStyle/>
          <a:p>
            <a:pPr algn="ctr" indent="0" marL="0">
              <a:buNone/>
            </a:pPr>
            <a:r>
              <a:rPr lang="en-US" sz="950" b="1" dirty="0">
                <a:solidFill>
                  <a:srgbClr val="F2F5F8"/>
                </a:solidFill>
                <a:latin typeface="Calibri" pitchFamily="34" charset="0"/>
                <a:ea typeface="Calibri" pitchFamily="34" charset="-122"/>
                <a:cs typeface="Calibri" pitchFamily="34" charset="-120"/>
              </a:rPr>
              <a:t>8. Benefits &amp; Viability</a:t>
            </a:r>
            <a:endParaRPr lang="en-US" sz="950" dirty="0"/>
          </a:p>
        </p:txBody>
      </p:sp>
      <p:sp>
        <p:nvSpPr>
          <p:cNvPr id="24" name="Shape 22"/>
          <p:cNvSpPr/>
          <p:nvPr/>
        </p:nvSpPr>
        <p:spPr>
          <a:xfrm>
            <a:off x="7324344" y="4956048"/>
            <a:ext cx="2057400" cy="502920"/>
          </a:xfrm>
          <a:prstGeom prst="roundRect">
            <a:avLst>
              <a:gd name="adj" fmla="val 10909"/>
            </a:avLst>
          </a:prstGeom>
          <a:solidFill>
            <a:srgbClr val="1A2330"/>
          </a:solidFill>
          <a:ln w="12700">
            <a:solidFill>
              <a:srgbClr val="FF8A3D"/>
            </a:solidFill>
            <a:prstDash val="solid"/>
          </a:ln>
        </p:spPr>
      </p:sp>
      <p:sp>
        <p:nvSpPr>
          <p:cNvPr id="25" name="Text 23"/>
          <p:cNvSpPr/>
          <p:nvPr/>
        </p:nvSpPr>
        <p:spPr>
          <a:xfrm>
            <a:off x="7324344" y="4956048"/>
            <a:ext cx="2057400" cy="502920"/>
          </a:xfrm>
          <a:prstGeom prst="rect">
            <a:avLst/>
          </a:prstGeom>
          <a:noFill/>
          <a:ln/>
        </p:spPr>
        <p:txBody>
          <a:bodyPr wrap="square" lIns="0" tIns="0" rIns="0" bIns="0" rtlCol="0" anchor="ctr"/>
          <a:lstStyle/>
          <a:p>
            <a:pPr algn="ctr" indent="0" marL="0">
              <a:buNone/>
            </a:pPr>
            <a:r>
              <a:rPr lang="en-US" sz="950" b="1" dirty="0">
                <a:solidFill>
                  <a:srgbClr val="F2F5F8"/>
                </a:solidFill>
                <a:latin typeface="Calibri" pitchFamily="34" charset="0"/>
                <a:ea typeface="Calibri" pitchFamily="34" charset="-122"/>
                <a:cs typeface="Calibri" pitchFamily="34" charset="-120"/>
              </a:rPr>
              <a:t>9. Working Demo</a:t>
            </a:r>
            <a:endParaRPr lang="en-US" sz="950" dirty="0"/>
          </a:p>
        </p:txBody>
      </p:sp>
      <p:sp>
        <p:nvSpPr>
          <p:cNvPr id="26" name="Shape 24"/>
          <p:cNvSpPr/>
          <p:nvPr/>
        </p:nvSpPr>
        <p:spPr>
          <a:xfrm>
            <a:off x="9491472" y="4956048"/>
            <a:ext cx="2057400" cy="502920"/>
          </a:xfrm>
          <a:prstGeom prst="roundRect">
            <a:avLst>
              <a:gd name="adj" fmla="val 10909"/>
            </a:avLst>
          </a:prstGeom>
          <a:solidFill>
            <a:srgbClr val="1A2330"/>
          </a:solidFill>
          <a:ln w="12700">
            <a:solidFill>
              <a:srgbClr val="FF8A3D"/>
            </a:solidFill>
            <a:prstDash val="solid"/>
          </a:ln>
        </p:spPr>
      </p:sp>
      <p:sp>
        <p:nvSpPr>
          <p:cNvPr id="27" name="Text 25"/>
          <p:cNvSpPr/>
          <p:nvPr/>
        </p:nvSpPr>
        <p:spPr>
          <a:xfrm>
            <a:off x="9491472" y="4956048"/>
            <a:ext cx="2057400" cy="502920"/>
          </a:xfrm>
          <a:prstGeom prst="rect">
            <a:avLst/>
          </a:prstGeom>
          <a:noFill/>
          <a:ln/>
        </p:spPr>
        <p:txBody>
          <a:bodyPr wrap="square" lIns="0" tIns="0" rIns="0" bIns="0" rtlCol="0" anchor="ctr"/>
          <a:lstStyle/>
          <a:p>
            <a:pPr algn="ctr" indent="0" marL="0">
              <a:buNone/>
            </a:pPr>
            <a:r>
              <a:rPr lang="en-US" sz="950" b="1" dirty="0">
                <a:solidFill>
                  <a:srgbClr val="F2F5F8"/>
                </a:solidFill>
                <a:latin typeface="Calibri" pitchFamily="34" charset="0"/>
                <a:ea typeface="Calibri" pitchFamily="34" charset="-122"/>
                <a:cs typeface="Calibri" pitchFamily="34" charset="-120"/>
              </a:rPr>
              <a:t>10. Differentiation</a:t>
            </a:r>
            <a:endParaRPr lang="en-US" sz="950" dirty="0"/>
          </a:p>
        </p:txBody>
      </p:sp>
      <p:sp>
        <p:nvSpPr>
          <p:cNvPr id="28" name="Text 26"/>
          <p:cNvSpPr/>
          <p:nvPr/>
        </p:nvSpPr>
        <p:spPr>
          <a:xfrm>
            <a:off x="11338560" y="6355080"/>
            <a:ext cx="457200" cy="320040"/>
          </a:xfrm>
          <a:prstGeom prst="rect">
            <a:avLst/>
          </a:prstGeom>
          <a:noFill/>
          <a:ln/>
        </p:spPr>
        <p:txBody>
          <a:bodyPr wrap="square" lIns="0" tIns="0" rIns="0" bIns="0" rtlCol="0" anchor="ctr"/>
          <a:lstStyle/>
          <a:p>
            <a:pPr algn="r" indent="0" marL="0">
              <a:buNone/>
            </a:pPr>
            <a:r>
              <a:rPr lang="en-US" sz="1000" dirty="0">
                <a:solidFill>
                  <a:srgbClr val="8B98A8"/>
                </a:solidFill>
                <a:latin typeface="Calibri" pitchFamily="34" charset="0"/>
                <a:ea typeface="Calibri" pitchFamily="34" charset="-122"/>
                <a:cs typeface="Calibri" pitchFamily="34" charset="-120"/>
              </a:rPr>
              <a:t>1</a:t>
            </a:r>
            <a:endParaRPr lang="en-US" sz="1000" dirty="0"/>
          </a:p>
        </p:txBody>
      </p:sp>
      <p:sp>
        <p:nvSpPr>
          <p:cNvPr id="29" name="Text 27"/>
          <p:cNvSpPr/>
          <p:nvPr/>
        </p:nvSpPr>
        <p:spPr>
          <a:xfrm>
            <a:off x="548640" y="6355080"/>
            <a:ext cx="4572000" cy="320040"/>
          </a:xfrm>
          <a:prstGeom prst="rect">
            <a:avLst/>
          </a:prstGeom>
          <a:noFill/>
          <a:ln/>
        </p:spPr>
        <p:txBody>
          <a:bodyPr wrap="square" lIns="0" tIns="0" rIns="0" bIns="0" rtlCol="0" anchor="ctr"/>
          <a:lstStyle/>
          <a:p>
            <a:pPr indent="0" marL="0">
              <a:buNone/>
            </a:pPr>
            <a:r>
              <a:rPr lang="en-US" sz="900" spc="100" kern="0" dirty="0">
                <a:solidFill>
                  <a:srgbClr val="8B98A8"/>
                </a:solidFill>
                <a:latin typeface="Calibri" pitchFamily="34" charset="0"/>
                <a:ea typeface="Calibri" pitchFamily="34" charset="-122"/>
                <a:cs typeface="Calibri" pitchFamily="34" charset="-120"/>
              </a:rPr>
              <a:t>EI-NEXUS · MCP MAVERICKS</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E13"/>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lIns="0" tIns="0" rIns="0" bIns="0" rtlCol="0" anchor="ctr"/>
          <a:lstStyle/>
          <a:p>
            <a:pPr indent="0" marL="0">
              <a:buNone/>
            </a:pPr>
            <a:r>
              <a:rPr lang="en-US" sz="1200" b="1" spc="200" kern="0" dirty="0">
                <a:solidFill>
                  <a:srgbClr val="FF8A3D"/>
                </a:solidFill>
                <a:latin typeface="Calibri" pitchFamily="34" charset="0"/>
                <a:ea typeface="Calibri" pitchFamily="34" charset="-122"/>
                <a:cs typeface="Calibri" pitchFamily="34" charset="-120"/>
              </a:rPr>
              <a:t>READ THIS SLIDE FIRST</a:t>
            </a:r>
            <a:endParaRPr lang="en-US" sz="1200" dirty="0"/>
          </a:p>
        </p:txBody>
      </p:sp>
      <p:sp>
        <p:nvSpPr>
          <p:cNvPr id="3" name="Text 1"/>
          <p:cNvSpPr/>
          <p:nvPr/>
        </p:nvSpPr>
        <p:spPr>
          <a:xfrm>
            <a:off x="548640" y="685800"/>
            <a:ext cx="10515600" cy="822960"/>
          </a:xfrm>
          <a:prstGeom prst="rect">
            <a:avLst/>
          </a:prstGeom>
          <a:noFill/>
          <a:ln/>
        </p:spPr>
        <p:txBody>
          <a:bodyPr wrap="square" lIns="0" tIns="0" rIns="0" bIns="0" rtlCol="0" anchor="ctr"/>
          <a:lstStyle/>
          <a:p>
            <a:pPr indent="0" marL="0">
              <a:buNone/>
            </a:pPr>
            <a:r>
              <a:rPr lang="en-US" sz="2400" b="1" dirty="0">
                <a:solidFill>
                  <a:srgbClr val="F2F5F8"/>
                </a:solidFill>
                <a:latin typeface="Arial" pitchFamily="34" charset="0"/>
                <a:ea typeface="Arial" pitchFamily="34" charset="-122"/>
                <a:cs typeface="Arial" pitchFamily="34" charset="-120"/>
              </a:rPr>
              <a:t>Scorecard at a glance — where to find the evidence</a:t>
            </a:r>
            <a:endParaRPr lang="en-US" sz="2400" dirty="0"/>
          </a:p>
        </p:txBody>
      </p:sp>
      <p:sp>
        <p:nvSpPr>
          <p:cNvPr id="4" name="Shape 2"/>
          <p:cNvSpPr/>
          <p:nvPr/>
        </p:nvSpPr>
        <p:spPr>
          <a:xfrm>
            <a:off x="548640" y="1554480"/>
            <a:ext cx="11064240" cy="384048"/>
          </a:xfrm>
          <a:prstGeom prst="roundRect">
            <a:avLst>
              <a:gd name="adj" fmla="val 9524"/>
            </a:avLst>
          </a:prstGeom>
          <a:solidFill>
            <a:srgbClr val="FF8A3D"/>
          </a:solidFill>
          <a:ln/>
        </p:spPr>
      </p:sp>
      <p:sp>
        <p:nvSpPr>
          <p:cNvPr id="5" name="Text 3"/>
          <p:cNvSpPr/>
          <p:nvPr/>
        </p:nvSpPr>
        <p:spPr>
          <a:xfrm>
            <a:off x="658368" y="1554480"/>
            <a:ext cx="320040" cy="384048"/>
          </a:xfrm>
          <a:prstGeom prst="rect">
            <a:avLst/>
          </a:prstGeom>
          <a:noFill/>
          <a:ln/>
        </p:spPr>
        <p:txBody>
          <a:bodyPr wrap="square" lIns="0" tIns="0" rIns="0" bIns="0" rtlCol="0" anchor="ctr"/>
          <a:lstStyle/>
          <a:p>
            <a:pPr algn="ctr" indent="0" marL="0">
              <a:buNone/>
            </a:pPr>
            <a:r>
              <a:rPr lang="en-US" sz="1050" b="1" dirty="0">
                <a:solidFill>
                  <a:srgbClr val="0A0E13"/>
                </a:solidFill>
                <a:latin typeface="Calibri" pitchFamily="34" charset="0"/>
                <a:ea typeface="Calibri" pitchFamily="34" charset="-122"/>
                <a:cs typeface="Calibri" pitchFamily="34" charset="-120"/>
              </a:rPr>
              <a:t>#</a:t>
            </a:r>
            <a:endParaRPr lang="en-US" sz="1050" dirty="0"/>
          </a:p>
        </p:txBody>
      </p:sp>
      <p:sp>
        <p:nvSpPr>
          <p:cNvPr id="6" name="Text 4"/>
          <p:cNvSpPr/>
          <p:nvPr/>
        </p:nvSpPr>
        <p:spPr>
          <a:xfrm>
            <a:off x="1115568" y="1554480"/>
            <a:ext cx="1965960" cy="384048"/>
          </a:xfrm>
          <a:prstGeom prst="rect">
            <a:avLst/>
          </a:prstGeom>
          <a:noFill/>
          <a:ln/>
        </p:spPr>
        <p:txBody>
          <a:bodyPr wrap="square" lIns="0" tIns="0" rIns="0" bIns="0" rtlCol="0" anchor="ctr"/>
          <a:lstStyle/>
          <a:p>
            <a:pPr algn="l" indent="0" marL="0">
              <a:buNone/>
            </a:pPr>
            <a:r>
              <a:rPr lang="en-US" sz="1050" b="1" dirty="0">
                <a:solidFill>
                  <a:srgbClr val="0A0E13"/>
                </a:solidFill>
                <a:latin typeface="Calibri" pitchFamily="34" charset="0"/>
                <a:ea typeface="Calibri" pitchFamily="34" charset="-122"/>
                <a:cs typeface="Calibri" pitchFamily="34" charset="-120"/>
              </a:rPr>
              <a:t>Criterion</a:t>
            </a:r>
            <a:endParaRPr lang="en-US" sz="1050" dirty="0"/>
          </a:p>
        </p:txBody>
      </p:sp>
      <p:sp>
        <p:nvSpPr>
          <p:cNvPr id="7" name="Text 5"/>
          <p:cNvSpPr/>
          <p:nvPr/>
        </p:nvSpPr>
        <p:spPr>
          <a:xfrm>
            <a:off x="3218688" y="1554480"/>
            <a:ext cx="7360920" cy="384048"/>
          </a:xfrm>
          <a:prstGeom prst="rect">
            <a:avLst/>
          </a:prstGeom>
          <a:noFill/>
          <a:ln/>
        </p:spPr>
        <p:txBody>
          <a:bodyPr wrap="square" lIns="0" tIns="0" rIns="0" bIns="0" rtlCol="0" anchor="ctr"/>
          <a:lstStyle/>
          <a:p>
            <a:pPr algn="l" indent="0" marL="0">
              <a:buNone/>
            </a:pPr>
            <a:r>
              <a:rPr lang="en-US" sz="1050" b="1" dirty="0">
                <a:solidFill>
                  <a:srgbClr val="0A0E13"/>
                </a:solidFill>
                <a:latin typeface="Calibri" pitchFamily="34" charset="0"/>
                <a:ea typeface="Calibri" pitchFamily="34" charset="-122"/>
                <a:cs typeface="Calibri" pitchFamily="34" charset="-120"/>
              </a:rPr>
              <a:t>Primary Evidence</a:t>
            </a:r>
            <a:endParaRPr lang="en-US" sz="1050" dirty="0"/>
          </a:p>
        </p:txBody>
      </p:sp>
      <p:sp>
        <p:nvSpPr>
          <p:cNvPr id="8" name="Text 6"/>
          <p:cNvSpPr/>
          <p:nvPr/>
        </p:nvSpPr>
        <p:spPr>
          <a:xfrm>
            <a:off x="10716768" y="1554480"/>
            <a:ext cx="868680" cy="384048"/>
          </a:xfrm>
          <a:prstGeom prst="rect">
            <a:avLst/>
          </a:prstGeom>
          <a:noFill/>
          <a:ln/>
        </p:spPr>
        <p:txBody>
          <a:bodyPr wrap="square" lIns="0" tIns="0" rIns="0" bIns="0" rtlCol="0" anchor="ctr"/>
          <a:lstStyle/>
          <a:p>
            <a:pPr algn="ctr" indent="0" marL="0">
              <a:buNone/>
            </a:pPr>
            <a:r>
              <a:rPr lang="en-US" sz="1050" b="1" dirty="0">
                <a:solidFill>
                  <a:srgbClr val="0A0E13"/>
                </a:solidFill>
                <a:latin typeface="Calibri" pitchFamily="34" charset="0"/>
                <a:ea typeface="Calibri" pitchFamily="34" charset="-122"/>
                <a:cs typeface="Calibri" pitchFamily="34" charset="-120"/>
              </a:rPr>
              <a:t>Slide</a:t>
            </a:r>
            <a:endParaRPr lang="en-US" sz="1050" dirty="0"/>
          </a:p>
        </p:txBody>
      </p:sp>
      <p:sp>
        <p:nvSpPr>
          <p:cNvPr id="9" name="Shape 7"/>
          <p:cNvSpPr/>
          <p:nvPr/>
        </p:nvSpPr>
        <p:spPr>
          <a:xfrm>
            <a:off x="548640" y="1938528"/>
            <a:ext cx="11064240" cy="429768"/>
          </a:xfrm>
          <a:prstGeom prst="rect">
            <a:avLst/>
          </a:prstGeom>
          <a:solidFill>
            <a:srgbClr val="141B24"/>
          </a:solidFill>
          <a:ln w="6350">
            <a:solidFill>
              <a:srgbClr val="232E3B"/>
            </a:solidFill>
            <a:prstDash val="solid"/>
          </a:ln>
        </p:spPr>
      </p:sp>
      <p:sp>
        <p:nvSpPr>
          <p:cNvPr id="10" name="Text 8"/>
          <p:cNvSpPr/>
          <p:nvPr/>
        </p:nvSpPr>
        <p:spPr>
          <a:xfrm>
            <a:off x="658368" y="1938528"/>
            <a:ext cx="320040" cy="429768"/>
          </a:xfrm>
          <a:prstGeom prst="rect">
            <a:avLst/>
          </a:prstGeom>
          <a:noFill/>
          <a:ln/>
        </p:spPr>
        <p:txBody>
          <a:bodyPr wrap="square" lIns="0" tIns="0" rIns="0" bIns="0" rtlCol="0" anchor="ctr"/>
          <a:lstStyle/>
          <a:p>
            <a:pPr algn="ctr" indent="0" marL="0">
              <a:buNone/>
            </a:pPr>
            <a:r>
              <a:rPr lang="en-US" sz="1100" b="1" dirty="0">
                <a:solidFill>
                  <a:srgbClr val="FF8A3D"/>
                </a:solidFill>
                <a:latin typeface="Arial" pitchFamily="34" charset="0"/>
                <a:ea typeface="Arial" pitchFamily="34" charset="-122"/>
                <a:cs typeface="Arial" pitchFamily="34" charset="-120"/>
              </a:rPr>
              <a:t>1</a:t>
            </a:r>
            <a:endParaRPr lang="en-US" sz="1100" dirty="0"/>
          </a:p>
        </p:txBody>
      </p:sp>
      <p:sp>
        <p:nvSpPr>
          <p:cNvPr id="11" name="Text 9"/>
          <p:cNvSpPr/>
          <p:nvPr/>
        </p:nvSpPr>
        <p:spPr>
          <a:xfrm>
            <a:off x="1115568" y="1938528"/>
            <a:ext cx="1965960" cy="429768"/>
          </a:xfrm>
          <a:prstGeom prst="rect">
            <a:avLst/>
          </a:prstGeom>
          <a:noFill/>
          <a:ln/>
        </p:spPr>
        <p:txBody>
          <a:bodyPr wrap="square" lIns="0" tIns="0" rIns="0" bIns="0" rtlCol="0" anchor="ctr"/>
          <a:lstStyle/>
          <a:p>
            <a:pPr indent="0" marL="0">
              <a:buNone/>
            </a:pPr>
            <a:r>
              <a:rPr lang="en-US" sz="1050" b="1" dirty="0">
                <a:solidFill>
                  <a:srgbClr val="4FD1E8"/>
                </a:solidFill>
                <a:latin typeface="Arial" pitchFamily="34" charset="0"/>
                <a:ea typeface="Arial" pitchFamily="34" charset="-122"/>
                <a:cs typeface="Arial" pitchFamily="34" charset="-120"/>
              </a:rPr>
              <a:t>Problem Definition</a:t>
            </a:r>
            <a:endParaRPr lang="en-US" sz="1050" dirty="0"/>
          </a:p>
        </p:txBody>
      </p:sp>
      <p:sp>
        <p:nvSpPr>
          <p:cNvPr id="12" name="Text 10"/>
          <p:cNvSpPr/>
          <p:nvPr/>
        </p:nvSpPr>
        <p:spPr>
          <a:xfrm>
            <a:off x="3218688" y="1938528"/>
            <a:ext cx="7315200" cy="429768"/>
          </a:xfrm>
          <a:prstGeom prst="rect">
            <a:avLst/>
          </a:prstGeom>
          <a:noFill/>
          <a:ln/>
        </p:spPr>
        <p:txBody>
          <a:bodyPr wrap="square" lIns="0" tIns="0" rIns="0" bIns="0" rtlCol="0" anchor="ctr"/>
          <a:lstStyle/>
          <a:p>
            <a:pPr indent="0" marL="0">
              <a:buNone/>
            </a:pPr>
            <a:r>
              <a:rPr lang="en-US" sz="950" dirty="0">
                <a:solidFill>
                  <a:srgbClr val="F2F5F8"/>
                </a:solidFill>
                <a:latin typeface="Calibri" pitchFamily="34" charset="0"/>
                <a:ea typeface="Calibri" pitchFamily="34" charset="-122"/>
                <a:cs typeface="Calibri" pitchFamily="34" charset="-120"/>
              </a:rPr>
              <a:t>Quantified: 2-3 weeks manual RCA, 6 named consequences, real industry pattern</a:t>
            </a:r>
            <a:endParaRPr lang="en-US" sz="950" dirty="0"/>
          </a:p>
        </p:txBody>
      </p:sp>
      <p:sp>
        <p:nvSpPr>
          <p:cNvPr id="13" name="Text 11"/>
          <p:cNvSpPr/>
          <p:nvPr/>
        </p:nvSpPr>
        <p:spPr>
          <a:xfrm>
            <a:off x="10607040" y="1938528"/>
            <a:ext cx="1005840" cy="429768"/>
          </a:xfrm>
          <a:prstGeom prst="rect">
            <a:avLst/>
          </a:prstGeom>
          <a:noFill/>
          <a:ln/>
        </p:spPr>
        <p:txBody>
          <a:bodyPr wrap="square" lIns="0" tIns="0" rIns="0" bIns="0" rtlCol="0" anchor="ctr"/>
          <a:lstStyle/>
          <a:p>
            <a:pPr algn="ctr" indent="0" marL="0">
              <a:buNone/>
            </a:pPr>
            <a:r>
              <a:rPr lang="en-US" sz="1100" b="1" dirty="0">
                <a:solidFill>
                  <a:srgbClr val="8B98A8"/>
                </a:solidFill>
                <a:latin typeface="Arial" pitchFamily="34" charset="0"/>
                <a:ea typeface="Arial" pitchFamily="34" charset="-122"/>
                <a:cs typeface="Arial" pitchFamily="34" charset="-120"/>
              </a:rPr>
              <a:t>3</a:t>
            </a:r>
            <a:endParaRPr lang="en-US" sz="1100" dirty="0"/>
          </a:p>
        </p:txBody>
      </p:sp>
      <p:sp>
        <p:nvSpPr>
          <p:cNvPr id="14" name="Shape 12"/>
          <p:cNvSpPr/>
          <p:nvPr/>
        </p:nvSpPr>
        <p:spPr>
          <a:xfrm>
            <a:off x="548640" y="2368296"/>
            <a:ext cx="11064240" cy="429768"/>
          </a:xfrm>
          <a:prstGeom prst="rect">
            <a:avLst/>
          </a:prstGeom>
          <a:solidFill>
            <a:srgbClr val="1A2330"/>
          </a:solidFill>
          <a:ln w="6350">
            <a:solidFill>
              <a:srgbClr val="232E3B"/>
            </a:solidFill>
            <a:prstDash val="solid"/>
          </a:ln>
        </p:spPr>
      </p:sp>
      <p:sp>
        <p:nvSpPr>
          <p:cNvPr id="15" name="Text 13"/>
          <p:cNvSpPr/>
          <p:nvPr/>
        </p:nvSpPr>
        <p:spPr>
          <a:xfrm>
            <a:off x="658368" y="2368296"/>
            <a:ext cx="320040" cy="429768"/>
          </a:xfrm>
          <a:prstGeom prst="rect">
            <a:avLst/>
          </a:prstGeom>
          <a:noFill/>
          <a:ln/>
        </p:spPr>
        <p:txBody>
          <a:bodyPr wrap="square" lIns="0" tIns="0" rIns="0" bIns="0" rtlCol="0" anchor="ctr"/>
          <a:lstStyle/>
          <a:p>
            <a:pPr algn="ctr" indent="0" marL="0">
              <a:buNone/>
            </a:pPr>
            <a:r>
              <a:rPr lang="en-US" sz="1100" b="1" dirty="0">
                <a:solidFill>
                  <a:srgbClr val="FF8A3D"/>
                </a:solidFill>
                <a:latin typeface="Arial" pitchFamily="34" charset="0"/>
                <a:ea typeface="Arial" pitchFamily="34" charset="-122"/>
                <a:cs typeface="Arial" pitchFamily="34" charset="-120"/>
              </a:rPr>
              <a:t>2</a:t>
            </a:r>
            <a:endParaRPr lang="en-US" sz="1100" dirty="0"/>
          </a:p>
        </p:txBody>
      </p:sp>
      <p:sp>
        <p:nvSpPr>
          <p:cNvPr id="16" name="Text 14"/>
          <p:cNvSpPr/>
          <p:nvPr/>
        </p:nvSpPr>
        <p:spPr>
          <a:xfrm>
            <a:off x="1115568" y="2368296"/>
            <a:ext cx="1965960" cy="429768"/>
          </a:xfrm>
          <a:prstGeom prst="rect">
            <a:avLst/>
          </a:prstGeom>
          <a:noFill/>
          <a:ln/>
        </p:spPr>
        <p:txBody>
          <a:bodyPr wrap="square" lIns="0" tIns="0" rIns="0" bIns="0" rtlCol="0" anchor="ctr"/>
          <a:lstStyle/>
          <a:p>
            <a:pPr indent="0" marL="0">
              <a:buNone/>
            </a:pPr>
            <a:r>
              <a:rPr lang="en-US" sz="1050" b="1" dirty="0">
                <a:solidFill>
                  <a:srgbClr val="4FD1E8"/>
                </a:solidFill>
                <a:latin typeface="Arial" pitchFamily="34" charset="0"/>
                <a:ea typeface="Arial" pitchFamily="34" charset="-122"/>
                <a:cs typeface="Arial" pitchFamily="34" charset="-120"/>
              </a:rPr>
              <a:t>Solution Architecture</a:t>
            </a:r>
            <a:endParaRPr lang="en-US" sz="1050" dirty="0"/>
          </a:p>
        </p:txBody>
      </p:sp>
      <p:sp>
        <p:nvSpPr>
          <p:cNvPr id="17" name="Text 15"/>
          <p:cNvSpPr/>
          <p:nvPr/>
        </p:nvSpPr>
        <p:spPr>
          <a:xfrm>
            <a:off x="3218688" y="2368296"/>
            <a:ext cx="7315200" cy="429768"/>
          </a:xfrm>
          <a:prstGeom prst="rect">
            <a:avLst/>
          </a:prstGeom>
          <a:noFill/>
          <a:ln/>
        </p:spPr>
        <p:txBody>
          <a:bodyPr wrap="square" lIns="0" tIns="0" rIns="0" bIns="0" rtlCol="0" anchor="ctr"/>
          <a:lstStyle/>
          <a:p>
            <a:pPr indent="0" marL="0">
              <a:buNone/>
            </a:pPr>
            <a:r>
              <a:rPr lang="en-US" sz="950" dirty="0">
                <a:solidFill>
                  <a:srgbClr val="F2F5F8"/>
                </a:solidFill>
                <a:latin typeface="Calibri" pitchFamily="34" charset="0"/>
                <a:ea typeface="Calibri" pitchFamily="34" charset="-122"/>
                <a:cs typeface="Calibri" pitchFamily="34" charset="-120"/>
              </a:rPr>
              <a:t>6 UML diagrams (class/sequence/state/component/deployment/ER), documented ADRs</a:t>
            </a:r>
            <a:endParaRPr lang="en-US" sz="950" dirty="0"/>
          </a:p>
        </p:txBody>
      </p:sp>
      <p:sp>
        <p:nvSpPr>
          <p:cNvPr id="18" name="Text 16"/>
          <p:cNvSpPr/>
          <p:nvPr/>
        </p:nvSpPr>
        <p:spPr>
          <a:xfrm>
            <a:off x="10607040" y="2368296"/>
            <a:ext cx="1005840" cy="429768"/>
          </a:xfrm>
          <a:prstGeom prst="rect">
            <a:avLst/>
          </a:prstGeom>
          <a:noFill/>
          <a:ln/>
        </p:spPr>
        <p:txBody>
          <a:bodyPr wrap="square" lIns="0" tIns="0" rIns="0" bIns="0" rtlCol="0" anchor="ctr"/>
          <a:lstStyle/>
          <a:p>
            <a:pPr algn="ctr" indent="0" marL="0">
              <a:buNone/>
            </a:pPr>
            <a:r>
              <a:rPr lang="en-US" sz="1100" b="1" dirty="0">
                <a:solidFill>
                  <a:srgbClr val="8B98A8"/>
                </a:solidFill>
                <a:latin typeface="Arial" pitchFamily="34" charset="0"/>
                <a:ea typeface="Arial" pitchFamily="34" charset="-122"/>
                <a:cs typeface="Arial" pitchFamily="34" charset="-120"/>
              </a:rPr>
              <a:t>4</a:t>
            </a:r>
            <a:endParaRPr lang="en-US" sz="1100" dirty="0"/>
          </a:p>
        </p:txBody>
      </p:sp>
      <p:sp>
        <p:nvSpPr>
          <p:cNvPr id="19" name="Shape 17"/>
          <p:cNvSpPr/>
          <p:nvPr/>
        </p:nvSpPr>
        <p:spPr>
          <a:xfrm>
            <a:off x="548640" y="2798064"/>
            <a:ext cx="11064240" cy="429768"/>
          </a:xfrm>
          <a:prstGeom prst="rect">
            <a:avLst/>
          </a:prstGeom>
          <a:solidFill>
            <a:srgbClr val="141B24"/>
          </a:solidFill>
          <a:ln w="6350">
            <a:solidFill>
              <a:srgbClr val="232E3B"/>
            </a:solidFill>
            <a:prstDash val="solid"/>
          </a:ln>
        </p:spPr>
      </p:sp>
      <p:sp>
        <p:nvSpPr>
          <p:cNvPr id="20" name="Text 18"/>
          <p:cNvSpPr/>
          <p:nvPr/>
        </p:nvSpPr>
        <p:spPr>
          <a:xfrm>
            <a:off x="658368" y="2798064"/>
            <a:ext cx="320040" cy="429768"/>
          </a:xfrm>
          <a:prstGeom prst="rect">
            <a:avLst/>
          </a:prstGeom>
          <a:noFill/>
          <a:ln/>
        </p:spPr>
        <p:txBody>
          <a:bodyPr wrap="square" lIns="0" tIns="0" rIns="0" bIns="0" rtlCol="0" anchor="ctr"/>
          <a:lstStyle/>
          <a:p>
            <a:pPr algn="ctr" indent="0" marL="0">
              <a:buNone/>
            </a:pPr>
            <a:r>
              <a:rPr lang="en-US" sz="1100" b="1" dirty="0">
                <a:solidFill>
                  <a:srgbClr val="FF8A3D"/>
                </a:solidFill>
                <a:latin typeface="Arial" pitchFamily="34" charset="0"/>
                <a:ea typeface="Arial" pitchFamily="34" charset="-122"/>
                <a:cs typeface="Arial" pitchFamily="34" charset="-120"/>
              </a:rPr>
              <a:t>3</a:t>
            </a:r>
            <a:endParaRPr lang="en-US" sz="1100" dirty="0"/>
          </a:p>
        </p:txBody>
      </p:sp>
      <p:sp>
        <p:nvSpPr>
          <p:cNvPr id="21" name="Text 19"/>
          <p:cNvSpPr/>
          <p:nvPr/>
        </p:nvSpPr>
        <p:spPr>
          <a:xfrm>
            <a:off x="1115568" y="2798064"/>
            <a:ext cx="1965960" cy="429768"/>
          </a:xfrm>
          <a:prstGeom prst="rect">
            <a:avLst/>
          </a:prstGeom>
          <a:noFill/>
          <a:ln/>
        </p:spPr>
        <p:txBody>
          <a:bodyPr wrap="square" lIns="0" tIns="0" rIns="0" bIns="0" rtlCol="0" anchor="ctr"/>
          <a:lstStyle/>
          <a:p>
            <a:pPr indent="0" marL="0">
              <a:buNone/>
            </a:pPr>
            <a:r>
              <a:rPr lang="en-US" sz="1050" b="1" dirty="0">
                <a:solidFill>
                  <a:srgbClr val="4FD1E8"/>
                </a:solidFill>
                <a:latin typeface="Arial" pitchFamily="34" charset="0"/>
                <a:ea typeface="Arial" pitchFamily="34" charset="-122"/>
                <a:cs typeface="Arial" pitchFamily="34" charset="-120"/>
              </a:rPr>
              <a:t>Engineering Quality</a:t>
            </a:r>
            <a:endParaRPr lang="en-US" sz="1050" dirty="0"/>
          </a:p>
        </p:txBody>
      </p:sp>
      <p:sp>
        <p:nvSpPr>
          <p:cNvPr id="22" name="Text 20"/>
          <p:cNvSpPr/>
          <p:nvPr/>
        </p:nvSpPr>
        <p:spPr>
          <a:xfrm>
            <a:off x="3218688" y="2798064"/>
            <a:ext cx="7315200" cy="429768"/>
          </a:xfrm>
          <a:prstGeom prst="rect">
            <a:avLst/>
          </a:prstGeom>
          <a:noFill/>
          <a:ln/>
        </p:spPr>
        <p:txBody>
          <a:bodyPr wrap="square" lIns="0" tIns="0" rIns="0" bIns="0" rtlCol="0" anchor="ctr"/>
          <a:lstStyle/>
          <a:p>
            <a:pPr indent="0" marL="0">
              <a:buNone/>
            </a:pPr>
            <a:r>
              <a:rPr lang="en-US" sz="950" dirty="0">
                <a:solidFill>
                  <a:srgbClr val="F2F5F8"/>
                </a:solidFill>
                <a:latin typeface="Calibri" pitchFamily="34" charset="0"/>
                <a:ea typeface="Calibri" pitchFamily="34" charset="-122"/>
                <a:cs typeface="Calibri" pitchFamily="34" charset="-120"/>
              </a:rPr>
              <a:t>16 automated tests, CI pipeline, Docker, 2 real bugs found+fixed+documented</a:t>
            </a:r>
            <a:endParaRPr lang="en-US" sz="950" dirty="0"/>
          </a:p>
        </p:txBody>
      </p:sp>
      <p:sp>
        <p:nvSpPr>
          <p:cNvPr id="23" name="Text 21"/>
          <p:cNvSpPr/>
          <p:nvPr/>
        </p:nvSpPr>
        <p:spPr>
          <a:xfrm>
            <a:off x="10607040" y="2798064"/>
            <a:ext cx="1005840" cy="429768"/>
          </a:xfrm>
          <a:prstGeom prst="rect">
            <a:avLst/>
          </a:prstGeom>
          <a:noFill/>
          <a:ln/>
        </p:spPr>
        <p:txBody>
          <a:bodyPr wrap="square" lIns="0" tIns="0" rIns="0" bIns="0" rtlCol="0" anchor="ctr"/>
          <a:lstStyle/>
          <a:p>
            <a:pPr algn="ctr" indent="0" marL="0">
              <a:buNone/>
            </a:pPr>
            <a:r>
              <a:rPr lang="en-US" sz="1100" b="1" dirty="0">
                <a:solidFill>
                  <a:srgbClr val="8B98A8"/>
                </a:solidFill>
                <a:latin typeface="Arial" pitchFamily="34" charset="0"/>
                <a:ea typeface="Arial" pitchFamily="34" charset="-122"/>
                <a:cs typeface="Arial" pitchFamily="34" charset="-120"/>
              </a:rPr>
              <a:t>5</a:t>
            </a:r>
            <a:endParaRPr lang="en-US" sz="1100" dirty="0"/>
          </a:p>
        </p:txBody>
      </p:sp>
      <p:sp>
        <p:nvSpPr>
          <p:cNvPr id="24" name="Shape 22"/>
          <p:cNvSpPr/>
          <p:nvPr/>
        </p:nvSpPr>
        <p:spPr>
          <a:xfrm>
            <a:off x="548640" y="3227832"/>
            <a:ext cx="11064240" cy="429768"/>
          </a:xfrm>
          <a:prstGeom prst="rect">
            <a:avLst/>
          </a:prstGeom>
          <a:solidFill>
            <a:srgbClr val="1A2330"/>
          </a:solidFill>
          <a:ln w="6350">
            <a:solidFill>
              <a:srgbClr val="232E3B"/>
            </a:solidFill>
            <a:prstDash val="solid"/>
          </a:ln>
        </p:spPr>
      </p:sp>
      <p:sp>
        <p:nvSpPr>
          <p:cNvPr id="25" name="Text 23"/>
          <p:cNvSpPr/>
          <p:nvPr/>
        </p:nvSpPr>
        <p:spPr>
          <a:xfrm>
            <a:off x="658368" y="3227832"/>
            <a:ext cx="320040" cy="429768"/>
          </a:xfrm>
          <a:prstGeom prst="rect">
            <a:avLst/>
          </a:prstGeom>
          <a:noFill/>
          <a:ln/>
        </p:spPr>
        <p:txBody>
          <a:bodyPr wrap="square" lIns="0" tIns="0" rIns="0" bIns="0" rtlCol="0" anchor="ctr"/>
          <a:lstStyle/>
          <a:p>
            <a:pPr algn="ctr" indent="0" marL="0">
              <a:buNone/>
            </a:pPr>
            <a:r>
              <a:rPr lang="en-US" sz="1100" b="1" dirty="0">
                <a:solidFill>
                  <a:srgbClr val="FF8A3D"/>
                </a:solidFill>
                <a:latin typeface="Arial" pitchFamily="34" charset="0"/>
                <a:ea typeface="Arial" pitchFamily="34" charset="-122"/>
                <a:cs typeface="Arial" pitchFamily="34" charset="-120"/>
              </a:rPr>
              <a:t>4</a:t>
            </a:r>
            <a:endParaRPr lang="en-US" sz="1100" dirty="0"/>
          </a:p>
        </p:txBody>
      </p:sp>
      <p:sp>
        <p:nvSpPr>
          <p:cNvPr id="26" name="Text 24"/>
          <p:cNvSpPr/>
          <p:nvPr/>
        </p:nvSpPr>
        <p:spPr>
          <a:xfrm>
            <a:off x="1115568" y="3227832"/>
            <a:ext cx="1965960" cy="429768"/>
          </a:xfrm>
          <a:prstGeom prst="rect">
            <a:avLst/>
          </a:prstGeom>
          <a:noFill/>
          <a:ln/>
        </p:spPr>
        <p:txBody>
          <a:bodyPr wrap="square" lIns="0" tIns="0" rIns="0" bIns="0" rtlCol="0" anchor="ctr"/>
          <a:lstStyle/>
          <a:p>
            <a:pPr indent="0" marL="0">
              <a:buNone/>
            </a:pPr>
            <a:r>
              <a:rPr lang="en-US" sz="1050" b="1" dirty="0">
                <a:solidFill>
                  <a:srgbClr val="4FD1E8"/>
                </a:solidFill>
                <a:latin typeface="Arial" pitchFamily="34" charset="0"/>
                <a:ea typeface="Arial" pitchFamily="34" charset="-122"/>
                <a:cs typeface="Arial" pitchFamily="34" charset="-120"/>
              </a:rPr>
              <a:t>AI Appropriateness</a:t>
            </a:r>
            <a:endParaRPr lang="en-US" sz="1050" dirty="0"/>
          </a:p>
        </p:txBody>
      </p:sp>
      <p:sp>
        <p:nvSpPr>
          <p:cNvPr id="27" name="Text 25"/>
          <p:cNvSpPr/>
          <p:nvPr/>
        </p:nvSpPr>
        <p:spPr>
          <a:xfrm>
            <a:off x="3218688" y="3227832"/>
            <a:ext cx="7315200" cy="429768"/>
          </a:xfrm>
          <a:prstGeom prst="rect">
            <a:avLst/>
          </a:prstGeom>
          <a:noFill/>
          <a:ln/>
        </p:spPr>
        <p:txBody>
          <a:bodyPr wrap="square" lIns="0" tIns="0" rIns="0" bIns="0" rtlCol="0" anchor="ctr"/>
          <a:lstStyle/>
          <a:p>
            <a:pPr indent="0" marL="0">
              <a:buNone/>
            </a:pPr>
            <a:r>
              <a:rPr lang="en-US" sz="950" dirty="0">
                <a:solidFill>
                  <a:srgbClr val="F2F5F8"/>
                </a:solidFill>
                <a:latin typeface="Calibri" pitchFamily="34" charset="0"/>
                <a:ea typeface="Calibri" pitchFamily="34" charset="-122"/>
                <a:cs typeface="Calibri" pitchFamily="34" charset="-120"/>
              </a:rPr>
              <a:t>AI used exactly where reasoning is needed; rules stay deterministic elsewhere</a:t>
            </a:r>
            <a:endParaRPr lang="en-US" sz="950" dirty="0"/>
          </a:p>
        </p:txBody>
      </p:sp>
      <p:sp>
        <p:nvSpPr>
          <p:cNvPr id="28" name="Text 26"/>
          <p:cNvSpPr/>
          <p:nvPr/>
        </p:nvSpPr>
        <p:spPr>
          <a:xfrm>
            <a:off x="10607040" y="3227832"/>
            <a:ext cx="1005840" cy="429768"/>
          </a:xfrm>
          <a:prstGeom prst="rect">
            <a:avLst/>
          </a:prstGeom>
          <a:noFill/>
          <a:ln/>
        </p:spPr>
        <p:txBody>
          <a:bodyPr wrap="square" lIns="0" tIns="0" rIns="0" bIns="0" rtlCol="0" anchor="ctr"/>
          <a:lstStyle/>
          <a:p>
            <a:pPr algn="ctr" indent="0" marL="0">
              <a:buNone/>
            </a:pPr>
            <a:r>
              <a:rPr lang="en-US" sz="1100" b="1" dirty="0">
                <a:solidFill>
                  <a:srgbClr val="8B98A8"/>
                </a:solidFill>
                <a:latin typeface="Arial" pitchFamily="34" charset="0"/>
                <a:ea typeface="Arial" pitchFamily="34" charset="-122"/>
                <a:cs typeface="Arial" pitchFamily="34" charset="-120"/>
              </a:rPr>
              <a:t>6</a:t>
            </a:r>
            <a:endParaRPr lang="en-US" sz="1100" dirty="0"/>
          </a:p>
        </p:txBody>
      </p:sp>
      <p:sp>
        <p:nvSpPr>
          <p:cNvPr id="29" name="Shape 27"/>
          <p:cNvSpPr/>
          <p:nvPr/>
        </p:nvSpPr>
        <p:spPr>
          <a:xfrm>
            <a:off x="548640" y="3657600"/>
            <a:ext cx="11064240" cy="429768"/>
          </a:xfrm>
          <a:prstGeom prst="rect">
            <a:avLst/>
          </a:prstGeom>
          <a:solidFill>
            <a:srgbClr val="141B24"/>
          </a:solidFill>
          <a:ln w="6350">
            <a:solidFill>
              <a:srgbClr val="232E3B"/>
            </a:solidFill>
            <a:prstDash val="solid"/>
          </a:ln>
        </p:spPr>
      </p:sp>
      <p:sp>
        <p:nvSpPr>
          <p:cNvPr id="30" name="Text 28"/>
          <p:cNvSpPr/>
          <p:nvPr/>
        </p:nvSpPr>
        <p:spPr>
          <a:xfrm>
            <a:off x="658368" y="3657600"/>
            <a:ext cx="320040" cy="429768"/>
          </a:xfrm>
          <a:prstGeom prst="rect">
            <a:avLst/>
          </a:prstGeom>
          <a:noFill/>
          <a:ln/>
        </p:spPr>
        <p:txBody>
          <a:bodyPr wrap="square" lIns="0" tIns="0" rIns="0" bIns="0" rtlCol="0" anchor="ctr"/>
          <a:lstStyle/>
          <a:p>
            <a:pPr algn="ctr" indent="0" marL="0">
              <a:buNone/>
            </a:pPr>
            <a:r>
              <a:rPr lang="en-US" sz="1100" b="1" dirty="0">
                <a:solidFill>
                  <a:srgbClr val="FF8A3D"/>
                </a:solidFill>
                <a:latin typeface="Arial" pitchFamily="34" charset="0"/>
                <a:ea typeface="Arial" pitchFamily="34" charset="-122"/>
                <a:cs typeface="Arial" pitchFamily="34" charset="-120"/>
              </a:rPr>
              <a:t>5</a:t>
            </a:r>
            <a:endParaRPr lang="en-US" sz="1100" dirty="0"/>
          </a:p>
        </p:txBody>
      </p:sp>
      <p:sp>
        <p:nvSpPr>
          <p:cNvPr id="31" name="Text 29"/>
          <p:cNvSpPr/>
          <p:nvPr/>
        </p:nvSpPr>
        <p:spPr>
          <a:xfrm>
            <a:off x="1115568" y="3657600"/>
            <a:ext cx="1965960" cy="429768"/>
          </a:xfrm>
          <a:prstGeom prst="rect">
            <a:avLst/>
          </a:prstGeom>
          <a:noFill/>
          <a:ln/>
        </p:spPr>
        <p:txBody>
          <a:bodyPr wrap="square" lIns="0" tIns="0" rIns="0" bIns="0" rtlCol="0" anchor="ctr"/>
          <a:lstStyle/>
          <a:p>
            <a:pPr indent="0" marL="0">
              <a:buNone/>
            </a:pPr>
            <a:r>
              <a:rPr lang="en-US" sz="1050" b="1" dirty="0">
                <a:solidFill>
                  <a:srgbClr val="4FD1E8"/>
                </a:solidFill>
                <a:latin typeface="Arial" pitchFamily="34" charset="0"/>
                <a:ea typeface="Arial" pitchFamily="34" charset="-122"/>
                <a:cs typeface="Arial" pitchFamily="34" charset="-120"/>
              </a:rPr>
              <a:t>AI Implementation</a:t>
            </a:r>
            <a:endParaRPr lang="en-US" sz="1050" dirty="0"/>
          </a:p>
        </p:txBody>
      </p:sp>
      <p:sp>
        <p:nvSpPr>
          <p:cNvPr id="32" name="Text 30"/>
          <p:cNvSpPr/>
          <p:nvPr/>
        </p:nvSpPr>
        <p:spPr>
          <a:xfrm>
            <a:off x="3218688" y="3657600"/>
            <a:ext cx="7315200" cy="429768"/>
          </a:xfrm>
          <a:prstGeom prst="rect">
            <a:avLst/>
          </a:prstGeom>
          <a:noFill/>
          <a:ln/>
        </p:spPr>
        <p:txBody>
          <a:bodyPr wrap="square" lIns="0" tIns="0" rIns="0" bIns="0" rtlCol="0" anchor="ctr"/>
          <a:lstStyle/>
          <a:p>
            <a:pPr indent="0" marL="0">
              <a:buNone/>
            </a:pPr>
            <a:r>
              <a:rPr lang="en-US" sz="950" dirty="0">
                <a:solidFill>
                  <a:srgbClr val="F2F5F8"/>
                </a:solidFill>
                <a:latin typeface="Calibri" pitchFamily="34" charset="0"/>
                <a:ea typeface="Calibri" pitchFamily="34" charset="-122"/>
                <a:cs typeface="Calibri" pitchFamily="34" charset="-120"/>
              </a:rPr>
              <a:t>4-tool MCP agent, RAG, hybrid detection, 3-tier LLM fallback, ARIA chatbot</a:t>
            </a:r>
            <a:endParaRPr lang="en-US" sz="950" dirty="0"/>
          </a:p>
        </p:txBody>
      </p:sp>
      <p:sp>
        <p:nvSpPr>
          <p:cNvPr id="33" name="Text 31"/>
          <p:cNvSpPr/>
          <p:nvPr/>
        </p:nvSpPr>
        <p:spPr>
          <a:xfrm>
            <a:off x="10607040" y="3657600"/>
            <a:ext cx="1005840" cy="429768"/>
          </a:xfrm>
          <a:prstGeom prst="rect">
            <a:avLst/>
          </a:prstGeom>
          <a:noFill/>
          <a:ln/>
        </p:spPr>
        <p:txBody>
          <a:bodyPr wrap="square" lIns="0" tIns="0" rIns="0" bIns="0" rtlCol="0" anchor="ctr"/>
          <a:lstStyle/>
          <a:p>
            <a:pPr algn="ctr" indent="0" marL="0">
              <a:buNone/>
            </a:pPr>
            <a:r>
              <a:rPr lang="en-US" sz="1100" b="1" dirty="0">
                <a:solidFill>
                  <a:srgbClr val="8B98A8"/>
                </a:solidFill>
                <a:latin typeface="Arial" pitchFamily="34" charset="0"/>
                <a:ea typeface="Arial" pitchFamily="34" charset="-122"/>
                <a:cs typeface="Arial" pitchFamily="34" charset="-120"/>
              </a:rPr>
              <a:t>7</a:t>
            </a:r>
            <a:endParaRPr lang="en-US" sz="1100" dirty="0"/>
          </a:p>
        </p:txBody>
      </p:sp>
      <p:sp>
        <p:nvSpPr>
          <p:cNvPr id="34" name="Shape 32"/>
          <p:cNvSpPr/>
          <p:nvPr/>
        </p:nvSpPr>
        <p:spPr>
          <a:xfrm>
            <a:off x="548640" y="4087368"/>
            <a:ext cx="11064240" cy="429768"/>
          </a:xfrm>
          <a:prstGeom prst="rect">
            <a:avLst/>
          </a:prstGeom>
          <a:solidFill>
            <a:srgbClr val="1A2330"/>
          </a:solidFill>
          <a:ln w="6350">
            <a:solidFill>
              <a:srgbClr val="232E3B"/>
            </a:solidFill>
            <a:prstDash val="solid"/>
          </a:ln>
        </p:spPr>
      </p:sp>
      <p:sp>
        <p:nvSpPr>
          <p:cNvPr id="35" name="Text 33"/>
          <p:cNvSpPr/>
          <p:nvPr/>
        </p:nvSpPr>
        <p:spPr>
          <a:xfrm>
            <a:off x="658368" y="4087368"/>
            <a:ext cx="320040" cy="429768"/>
          </a:xfrm>
          <a:prstGeom prst="rect">
            <a:avLst/>
          </a:prstGeom>
          <a:noFill/>
          <a:ln/>
        </p:spPr>
        <p:txBody>
          <a:bodyPr wrap="square" lIns="0" tIns="0" rIns="0" bIns="0" rtlCol="0" anchor="ctr"/>
          <a:lstStyle/>
          <a:p>
            <a:pPr algn="ctr" indent="0" marL="0">
              <a:buNone/>
            </a:pPr>
            <a:r>
              <a:rPr lang="en-US" sz="1100" b="1" dirty="0">
                <a:solidFill>
                  <a:srgbClr val="FF8A3D"/>
                </a:solidFill>
                <a:latin typeface="Arial" pitchFamily="34" charset="0"/>
                <a:ea typeface="Arial" pitchFamily="34" charset="-122"/>
                <a:cs typeface="Arial" pitchFamily="34" charset="-120"/>
              </a:rPr>
              <a:t>6</a:t>
            </a:r>
            <a:endParaRPr lang="en-US" sz="1100" dirty="0"/>
          </a:p>
        </p:txBody>
      </p:sp>
      <p:sp>
        <p:nvSpPr>
          <p:cNvPr id="36" name="Text 34"/>
          <p:cNvSpPr/>
          <p:nvPr/>
        </p:nvSpPr>
        <p:spPr>
          <a:xfrm>
            <a:off x="1115568" y="4087368"/>
            <a:ext cx="1965960" cy="429768"/>
          </a:xfrm>
          <a:prstGeom prst="rect">
            <a:avLst/>
          </a:prstGeom>
          <a:noFill/>
          <a:ln/>
        </p:spPr>
        <p:txBody>
          <a:bodyPr wrap="square" lIns="0" tIns="0" rIns="0" bIns="0" rtlCol="0" anchor="ctr"/>
          <a:lstStyle/>
          <a:p>
            <a:pPr indent="0" marL="0">
              <a:buNone/>
            </a:pPr>
            <a:r>
              <a:rPr lang="en-US" sz="1050" b="1" dirty="0">
                <a:solidFill>
                  <a:srgbClr val="4FD1E8"/>
                </a:solidFill>
                <a:latin typeface="Arial" pitchFamily="34" charset="0"/>
                <a:ea typeface="Arial" pitchFamily="34" charset="-122"/>
                <a:cs typeface="Arial" pitchFamily="34" charset="-120"/>
              </a:rPr>
              <a:t>AI Impact</a:t>
            </a:r>
            <a:endParaRPr lang="en-US" sz="1050" dirty="0"/>
          </a:p>
        </p:txBody>
      </p:sp>
      <p:sp>
        <p:nvSpPr>
          <p:cNvPr id="37" name="Text 35"/>
          <p:cNvSpPr/>
          <p:nvPr/>
        </p:nvSpPr>
        <p:spPr>
          <a:xfrm>
            <a:off x="3218688" y="4087368"/>
            <a:ext cx="7315200" cy="429768"/>
          </a:xfrm>
          <a:prstGeom prst="rect">
            <a:avLst/>
          </a:prstGeom>
          <a:noFill/>
          <a:ln/>
        </p:spPr>
        <p:txBody>
          <a:bodyPr wrap="square" lIns="0" tIns="0" rIns="0" bIns="0" rtlCol="0" anchor="ctr"/>
          <a:lstStyle/>
          <a:p>
            <a:pPr indent="0" marL="0">
              <a:buNone/>
            </a:pPr>
            <a:r>
              <a:rPr lang="en-US" sz="950" dirty="0">
                <a:solidFill>
                  <a:srgbClr val="F2F5F8"/>
                </a:solidFill>
                <a:latin typeface="Calibri" pitchFamily="34" charset="0"/>
                <a:ea typeface="Calibri" pitchFamily="34" charset="-122"/>
                <a:cs typeface="Calibri" pitchFamily="34" charset="-120"/>
              </a:rPr>
              <a:t>100% RAG precision, self-tightening thresholds, live before/after metrics</a:t>
            </a:r>
            <a:endParaRPr lang="en-US" sz="950" dirty="0"/>
          </a:p>
        </p:txBody>
      </p:sp>
      <p:sp>
        <p:nvSpPr>
          <p:cNvPr id="38" name="Text 36"/>
          <p:cNvSpPr/>
          <p:nvPr/>
        </p:nvSpPr>
        <p:spPr>
          <a:xfrm>
            <a:off x="10607040" y="4087368"/>
            <a:ext cx="1005840" cy="429768"/>
          </a:xfrm>
          <a:prstGeom prst="rect">
            <a:avLst/>
          </a:prstGeom>
          <a:noFill/>
          <a:ln/>
        </p:spPr>
        <p:txBody>
          <a:bodyPr wrap="square" lIns="0" tIns="0" rIns="0" bIns="0" rtlCol="0" anchor="ctr"/>
          <a:lstStyle/>
          <a:p>
            <a:pPr algn="ctr" indent="0" marL="0">
              <a:buNone/>
            </a:pPr>
            <a:r>
              <a:rPr lang="en-US" sz="1100" b="1" dirty="0">
                <a:solidFill>
                  <a:srgbClr val="8B98A8"/>
                </a:solidFill>
                <a:latin typeface="Arial" pitchFamily="34" charset="0"/>
                <a:ea typeface="Arial" pitchFamily="34" charset="-122"/>
                <a:cs typeface="Arial" pitchFamily="34" charset="-120"/>
              </a:rPr>
              <a:t>8</a:t>
            </a:r>
            <a:endParaRPr lang="en-US" sz="1100" dirty="0"/>
          </a:p>
        </p:txBody>
      </p:sp>
      <p:sp>
        <p:nvSpPr>
          <p:cNvPr id="39" name="Shape 37"/>
          <p:cNvSpPr/>
          <p:nvPr/>
        </p:nvSpPr>
        <p:spPr>
          <a:xfrm>
            <a:off x="548640" y="4517136"/>
            <a:ext cx="11064240" cy="429768"/>
          </a:xfrm>
          <a:prstGeom prst="rect">
            <a:avLst/>
          </a:prstGeom>
          <a:solidFill>
            <a:srgbClr val="141B24"/>
          </a:solidFill>
          <a:ln w="6350">
            <a:solidFill>
              <a:srgbClr val="232E3B"/>
            </a:solidFill>
            <a:prstDash val="solid"/>
          </a:ln>
        </p:spPr>
      </p:sp>
      <p:sp>
        <p:nvSpPr>
          <p:cNvPr id="40" name="Text 38"/>
          <p:cNvSpPr/>
          <p:nvPr/>
        </p:nvSpPr>
        <p:spPr>
          <a:xfrm>
            <a:off x="658368" y="4517136"/>
            <a:ext cx="320040" cy="429768"/>
          </a:xfrm>
          <a:prstGeom prst="rect">
            <a:avLst/>
          </a:prstGeom>
          <a:noFill/>
          <a:ln/>
        </p:spPr>
        <p:txBody>
          <a:bodyPr wrap="square" lIns="0" tIns="0" rIns="0" bIns="0" rtlCol="0" anchor="ctr"/>
          <a:lstStyle/>
          <a:p>
            <a:pPr algn="ctr" indent="0" marL="0">
              <a:buNone/>
            </a:pPr>
            <a:r>
              <a:rPr lang="en-US" sz="1100" b="1" dirty="0">
                <a:solidFill>
                  <a:srgbClr val="FF8A3D"/>
                </a:solidFill>
                <a:latin typeface="Arial" pitchFamily="34" charset="0"/>
                <a:ea typeface="Arial" pitchFamily="34" charset="-122"/>
                <a:cs typeface="Arial" pitchFamily="34" charset="-120"/>
              </a:rPr>
              <a:t>7</a:t>
            </a:r>
            <a:endParaRPr lang="en-US" sz="1100" dirty="0"/>
          </a:p>
        </p:txBody>
      </p:sp>
      <p:sp>
        <p:nvSpPr>
          <p:cNvPr id="41" name="Text 39"/>
          <p:cNvSpPr/>
          <p:nvPr/>
        </p:nvSpPr>
        <p:spPr>
          <a:xfrm>
            <a:off x="1115568" y="4517136"/>
            <a:ext cx="1965960" cy="429768"/>
          </a:xfrm>
          <a:prstGeom prst="rect">
            <a:avLst/>
          </a:prstGeom>
          <a:noFill/>
          <a:ln/>
        </p:spPr>
        <p:txBody>
          <a:bodyPr wrap="square" lIns="0" tIns="0" rIns="0" bIns="0" rtlCol="0" anchor="ctr"/>
          <a:lstStyle/>
          <a:p>
            <a:pPr indent="0" marL="0">
              <a:buNone/>
            </a:pPr>
            <a:r>
              <a:rPr lang="en-US" sz="1050" b="1" dirty="0">
                <a:solidFill>
                  <a:srgbClr val="4FD1E8"/>
                </a:solidFill>
                <a:latin typeface="Arial" pitchFamily="34" charset="0"/>
                <a:ea typeface="Arial" pitchFamily="34" charset="-122"/>
                <a:cs typeface="Arial" pitchFamily="34" charset="-120"/>
              </a:rPr>
              <a:t>Business Relevance</a:t>
            </a:r>
            <a:endParaRPr lang="en-US" sz="1050" dirty="0"/>
          </a:p>
        </p:txBody>
      </p:sp>
      <p:sp>
        <p:nvSpPr>
          <p:cNvPr id="42" name="Text 40"/>
          <p:cNvSpPr/>
          <p:nvPr/>
        </p:nvSpPr>
        <p:spPr>
          <a:xfrm>
            <a:off x="3218688" y="4517136"/>
            <a:ext cx="7315200" cy="429768"/>
          </a:xfrm>
          <a:prstGeom prst="rect">
            <a:avLst/>
          </a:prstGeom>
          <a:noFill/>
          <a:ln/>
        </p:spPr>
        <p:txBody>
          <a:bodyPr wrap="square" lIns="0" tIns="0" rIns="0" bIns="0" rtlCol="0" anchor="ctr"/>
          <a:lstStyle/>
          <a:p>
            <a:pPr indent="0" marL="0">
              <a:buNone/>
            </a:pPr>
            <a:r>
              <a:rPr lang="en-US" sz="950" dirty="0">
                <a:solidFill>
                  <a:srgbClr val="F2F5F8"/>
                </a:solidFill>
                <a:latin typeface="Calibri" pitchFamily="34" charset="0"/>
                <a:ea typeface="Calibri" pitchFamily="34" charset="-122"/>
                <a:cs typeface="Calibri" pitchFamily="34" charset="-120"/>
              </a:rPr>
              <a:t>GOH-UC-034 primary + 3 secondary use cases, 2 Big Bets, named industry pain</a:t>
            </a:r>
            <a:endParaRPr lang="en-US" sz="950" dirty="0"/>
          </a:p>
        </p:txBody>
      </p:sp>
      <p:sp>
        <p:nvSpPr>
          <p:cNvPr id="43" name="Text 41"/>
          <p:cNvSpPr/>
          <p:nvPr/>
        </p:nvSpPr>
        <p:spPr>
          <a:xfrm>
            <a:off x="10607040" y="4517136"/>
            <a:ext cx="1005840" cy="429768"/>
          </a:xfrm>
          <a:prstGeom prst="rect">
            <a:avLst/>
          </a:prstGeom>
          <a:noFill/>
          <a:ln/>
        </p:spPr>
        <p:txBody>
          <a:bodyPr wrap="square" lIns="0" tIns="0" rIns="0" bIns="0" rtlCol="0" anchor="ctr"/>
          <a:lstStyle/>
          <a:p>
            <a:pPr algn="ctr" indent="0" marL="0">
              <a:buNone/>
            </a:pPr>
            <a:r>
              <a:rPr lang="en-US" sz="1100" b="1" dirty="0">
                <a:solidFill>
                  <a:srgbClr val="8B98A8"/>
                </a:solidFill>
                <a:latin typeface="Arial" pitchFamily="34" charset="0"/>
                <a:ea typeface="Arial" pitchFamily="34" charset="-122"/>
                <a:cs typeface="Arial" pitchFamily="34" charset="-120"/>
              </a:rPr>
              <a:t>9</a:t>
            </a:r>
            <a:endParaRPr lang="en-US" sz="1100" dirty="0"/>
          </a:p>
        </p:txBody>
      </p:sp>
      <p:sp>
        <p:nvSpPr>
          <p:cNvPr id="44" name="Shape 42"/>
          <p:cNvSpPr/>
          <p:nvPr/>
        </p:nvSpPr>
        <p:spPr>
          <a:xfrm>
            <a:off x="548640" y="4946904"/>
            <a:ext cx="11064240" cy="429768"/>
          </a:xfrm>
          <a:prstGeom prst="rect">
            <a:avLst/>
          </a:prstGeom>
          <a:solidFill>
            <a:srgbClr val="1A2330"/>
          </a:solidFill>
          <a:ln w="6350">
            <a:solidFill>
              <a:srgbClr val="232E3B"/>
            </a:solidFill>
            <a:prstDash val="solid"/>
          </a:ln>
        </p:spPr>
      </p:sp>
      <p:sp>
        <p:nvSpPr>
          <p:cNvPr id="45" name="Text 43"/>
          <p:cNvSpPr/>
          <p:nvPr/>
        </p:nvSpPr>
        <p:spPr>
          <a:xfrm>
            <a:off x="658368" y="4946904"/>
            <a:ext cx="320040" cy="429768"/>
          </a:xfrm>
          <a:prstGeom prst="rect">
            <a:avLst/>
          </a:prstGeom>
          <a:noFill/>
          <a:ln/>
        </p:spPr>
        <p:txBody>
          <a:bodyPr wrap="square" lIns="0" tIns="0" rIns="0" bIns="0" rtlCol="0" anchor="ctr"/>
          <a:lstStyle/>
          <a:p>
            <a:pPr algn="ctr" indent="0" marL="0">
              <a:buNone/>
            </a:pPr>
            <a:r>
              <a:rPr lang="en-US" sz="1100" b="1" dirty="0">
                <a:solidFill>
                  <a:srgbClr val="FF8A3D"/>
                </a:solidFill>
                <a:latin typeface="Arial" pitchFamily="34" charset="0"/>
                <a:ea typeface="Arial" pitchFamily="34" charset="-122"/>
                <a:cs typeface="Arial" pitchFamily="34" charset="-120"/>
              </a:rPr>
              <a:t>8</a:t>
            </a:r>
            <a:endParaRPr lang="en-US" sz="1100" dirty="0"/>
          </a:p>
        </p:txBody>
      </p:sp>
      <p:sp>
        <p:nvSpPr>
          <p:cNvPr id="46" name="Text 44"/>
          <p:cNvSpPr/>
          <p:nvPr/>
        </p:nvSpPr>
        <p:spPr>
          <a:xfrm>
            <a:off x="1115568" y="4946904"/>
            <a:ext cx="1965960" cy="429768"/>
          </a:xfrm>
          <a:prstGeom prst="rect">
            <a:avLst/>
          </a:prstGeom>
          <a:noFill/>
          <a:ln/>
        </p:spPr>
        <p:txBody>
          <a:bodyPr wrap="square" lIns="0" tIns="0" rIns="0" bIns="0" rtlCol="0" anchor="ctr"/>
          <a:lstStyle/>
          <a:p>
            <a:pPr indent="0" marL="0">
              <a:buNone/>
            </a:pPr>
            <a:r>
              <a:rPr lang="en-US" sz="1050" b="1" dirty="0">
                <a:solidFill>
                  <a:srgbClr val="4FD1E8"/>
                </a:solidFill>
                <a:latin typeface="Arial" pitchFamily="34" charset="0"/>
                <a:ea typeface="Arial" pitchFamily="34" charset="-122"/>
                <a:cs typeface="Arial" pitchFamily="34" charset="-120"/>
              </a:rPr>
              <a:t>Benefits &amp; Viability</a:t>
            </a:r>
            <a:endParaRPr lang="en-US" sz="1050" dirty="0"/>
          </a:p>
        </p:txBody>
      </p:sp>
      <p:sp>
        <p:nvSpPr>
          <p:cNvPr id="47" name="Text 45"/>
          <p:cNvSpPr/>
          <p:nvPr/>
        </p:nvSpPr>
        <p:spPr>
          <a:xfrm>
            <a:off x="3218688" y="4946904"/>
            <a:ext cx="7315200" cy="429768"/>
          </a:xfrm>
          <a:prstGeom prst="rect">
            <a:avLst/>
          </a:prstGeom>
          <a:noFill/>
          <a:ln/>
        </p:spPr>
        <p:txBody>
          <a:bodyPr wrap="square" lIns="0" tIns="0" rIns="0" bIns="0" rtlCol="0" anchor="ctr"/>
          <a:lstStyle/>
          <a:p>
            <a:pPr indent="0" marL="0">
              <a:buNone/>
            </a:pPr>
            <a:r>
              <a:rPr lang="en-US" sz="950" dirty="0">
                <a:solidFill>
                  <a:srgbClr val="F2F5F8"/>
                </a:solidFill>
                <a:latin typeface="Calibri" pitchFamily="34" charset="0"/>
                <a:ea typeface="Calibri" pitchFamily="34" charset="-122"/>
                <a:cs typeface="Calibri" pitchFamily="34" charset="-120"/>
              </a:rPr>
              <a:t>Live ROI ($/hr saved), 3-stage deployment plan, cloud-ready today</a:t>
            </a:r>
            <a:endParaRPr lang="en-US" sz="950" dirty="0"/>
          </a:p>
        </p:txBody>
      </p:sp>
      <p:sp>
        <p:nvSpPr>
          <p:cNvPr id="48" name="Text 46"/>
          <p:cNvSpPr/>
          <p:nvPr/>
        </p:nvSpPr>
        <p:spPr>
          <a:xfrm>
            <a:off x="10607040" y="4946904"/>
            <a:ext cx="1005840" cy="429768"/>
          </a:xfrm>
          <a:prstGeom prst="rect">
            <a:avLst/>
          </a:prstGeom>
          <a:noFill/>
          <a:ln/>
        </p:spPr>
        <p:txBody>
          <a:bodyPr wrap="square" lIns="0" tIns="0" rIns="0" bIns="0" rtlCol="0" anchor="ctr"/>
          <a:lstStyle/>
          <a:p>
            <a:pPr algn="ctr" indent="0" marL="0">
              <a:buNone/>
            </a:pPr>
            <a:r>
              <a:rPr lang="en-US" sz="1100" b="1" dirty="0">
                <a:solidFill>
                  <a:srgbClr val="8B98A8"/>
                </a:solidFill>
                <a:latin typeface="Arial" pitchFamily="34" charset="0"/>
                <a:ea typeface="Arial" pitchFamily="34" charset="-122"/>
                <a:cs typeface="Arial" pitchFamily="34" charset="-120"/>
              </a:rPr>
              <a:t>10</a:t>
            </a:r>
            <a:endParaRPr lang="en-US" sz="1100" dirty="0"/>
          </a:p>
        </p:txBody>
      </p:sp>
      <p:sp>
        <p:nvSpPr>
          <p:cNvPr id="49" name="Shape 47"/>
          <p:cNvSpPr/>
          <p:nvPr/>
        </p:nvSpPr>
        <p:spPr>
          <a:xfrm>
            <a:off x="548640" y="5376672"/>
            <a:ext cx="11064240" cy="429768"/>
          </a:xfrm>
          <a:prstGeom prst="rect">
            <a:avLst/>
          </a:prstGeom>
          <a:solidFill>
            <a:srgbClr val="141B24"/>
          </a:solidFill>
          <a:ln w="6350">
            <a:solidFill>
              <a:srgbClr val="232E3B"/>
            </a:solidFill>
            <a:prstDash val="solid"/>
          </a:ln>
        </p:spPr>
      </p:sp>
      <p:sp>
        <p:nvSpPr>
          <p:cNvPr id="50" name="Text 48"/>
          <p:cNvSpPr/>
          <p:nvPr/>
        </p:nvSpPr>
        <p:spPr>
          <a:xfrm>
            <a:off x="658368" y="5376672"/>
            <a:ext cx="320040" cy="429768"/>
          </a:xfrm>
          <a:prstGeom prst="rect">
            <a:avLst/>
          </a:prstGeom>
          <a:noFill/>
          <a:ln/>
        </p:spPr>
        <p:txBody>
          <a:bodyPr wrap="square" lIns="0" tIns="0" rIns="0" bIns="0" rtlCol="0" anchor="ctr"/>
          <a:lstStyle/>
          <a:p>
            <a:pPr algn="ctr" indent="0" marL="0">
              <a:buNone/>
            </a:pPr>
            <a:r>
              <a:rPr lang="en-US" sz="1100" b="1" dirty="0">
                <a:solidFill>
                  <a:srgbClr val="FF8A3D"/>
                </a:solidFill>
                <a:latin typeface="Arial" pitchFamily="34" charset="0"/>
                <a:ea typeface="Arial" pitchFamily="34" charset="-122"/>
                <a:cs typeface="Arial" pitchFamily="34" charset="-120"/>
              </a:rPr>
              <a:t>9</a:t>
            </a:r>
            <a:endParaRPr lang="en-US" sz="1100" dirty="0"/>
          </a:p>
        </p:txBody>
      </p:sp>
      <p:sp>
        <p:nvSpPr>
          <p:cNvPr id="51" name="Text 49"/>
          <p:cNvSpPr/>
          <p:nvPr/>
        </p:nvSpPr>
        <p:spPr>
          <a:xfrm>
            <a:off x="1115568" y="5376672"/>
            <a:ext cx="1965960" cy="429768"/>
          </a:xfrm>
          <a:prstGeom prst="rect">
            <a:avLst/>
          </a:prstGeom>
          <a:noFill/>
          <a:ln/>
        </p:spPr>
        <p:txBody>
          <a:bodyPr wrap="square" lIns="0" tIns="0" rIns="0" bIns="0" rtlCol="0" anchor="ctr"/>
          <a:lstStyle/>
          <a:p>
            <a:pPr indent="0" marL="0">
              <a:buNone/>
            </a:pPr>
            <a:r>
              <a:rPr lang="en-US" sz="1050" b="1" dirty="0">
                <a:solidFill>
                  <a:srgbClr val="4FD1E8"/>
                </a:solidFill>
                <a:latin typeface="Arial" pitchFamily="34" charset="0"/>
                <a:ea typeface="Arial" pitchFamily="34" charset="-122"/>
                <a:cs typeface="Arial" pitchFamily="34" charset="-120"/>
              </a:rPr>
              <a:t>Working Demo</a:t>
            </a:r>
            <a:endParaRPr lang="en-US" sz="1050" dirty="0"/>
          </a:p>
        </p:txBody>
      </p:sp>
      <p:sp>
        <p:nvSpPr>
          <p:cNvPr id="52" name="Text 50"/>
          <p:cNvSpPr/>
          <p:nvPr/>
        </p:nvSpPr>
        <p:spPr>
          <a:xfrm>
            <a:off x="3218688" y="5376672"/>
            <a:ext cx="7315200" cy="429768"/>
          </a:xfrm>
          <a:prstGeom prst="rect">
            <a:avLst/>
          </a:prstGeom>
          <a:noFill/>
          <a:ln/>
        </p:spPr>
        <p:txBody>
          <a:bodyPr wrap="square" lIns="0" tIns="0" rIns="0" bIns="0" rtlCol="0" anchor="ctr"/>
          <a:lstStyle/>
          <a:p>
            <a:pPr indent="0" marL="0">
              <a:buNone/>
            </a:pPr>
            <a:r>
              <a:rPr lang="en-US" sz="950" dirty="0">
                <a:solidFill>
                  <a:srgbClr val="F2F5F8"/>
                </a:solidFill>
                <a:latin typeface="Calibri" pitchFamily="34" charset="0"/>
                <a:ea typeface="Calibri" pitchFamily="34" charset="-122"/>
                <a:cs typeface="Calibri" pitchFamily="34" charset="-120"/>
              </a:rPr>
              <a:t>Fully running app — not mockups. Screenshots + live walkthrough available now</a:t>
            </a:r>
            <a:endParaRPr lang="en-US" sz="950" dirty="0"/>
          </a:p>
        </p:txBody>
      </p:sp>
      <p:sp>
        <p:nvSpPr>
          <p:cNvPr id="53" name="Text 51"/>
          <p:cNvSpPr/>
          <p:nvPr/>
        </p:nvSpPr>
        <p:spPr>
          <a:xfrm>
            <a:off x="10607040" y="5376672"/>
            <a:ext cx="1005840" cy="429768"/>
          </a:xfrm>
          <a:prstGeom prst="rect">
            <a:avLst/>
          </a:prstGeom>
          <a:noFill/>
          <a:ln/>
        </p:spPr>
        <p:txBody>
          <a:bodyPr wrap="square" lIns="0" tIns="0" rIns="0" bIns="0" rtlCol="0" anchor="ctr"/>
          <a:lstStyle/>
          <a:p>
            <a:pPr algn="ctr" indent="0" marL="0">
              <a:buNone/>
            </a:pPr>
            <a:r>
              <a:rPr lang="en-US" sz="1100" b="1" dirty="0">
                <a:solidFill>
                  <a:srgbClr val="8B98A8"/>
                </a:solidFill>
                <a:latin typeface="Arial" pitchFamily="34" charset="0"/>
                <a:ea typeface="Arial" pitchFamily="34" charset="-122"/>
                <a:cs typeface="Arial" pitchFamily="34" charset="-120"/>
              </a:rPr>
              <a:t>11</a:t>
            </a:r>
            <a:endParaRPr lang="en-US" sz="1100" dirty="0"/>
          </a:p>
        </p:txBody>
      </p:sp>
      <p:sp>
        <p:nvSpPr>
          <p:cNvPr id="54" name="Shape 52"/>
          <p:cNvSpPr/>
          <p:nvPr/>
        </p:nvSpPr>
        <p:spPr>
          <a:xfrm>
            <a:off x="548640" y="5806440"/>
            <a:ext cx="11064240" cy="429768"/>
          </a:xfrm>
          <a:prstGeom prst="rect">
            <a:avLst/>
          </a:prstGeom>
          <a:solidFill>
            <a:srgbClr val="1A2330"/>
          </a:solidFill>
          <a:ln w="6350">
            <a:solidFill>
              <a:srgbClr val="232E3B"/>
            </a:solidFill>
            <a:prstDash val="solid"/>
          </a:ln>
        </p:spPr>
      </p:sp>
      <p:sp>
        <p:nvSpPr>
          <p:cNvPr id="55" name="Text 53"/>
          <p:cNvSpPr/>
          <p:nvPr/>
        </p:nvSpPr>
        <p:spPr>
          <a:xfrm>
            <a:off x="658368" y="5806440"/>
            <a:ext cx="320040" cy="429768"/>
          </a:xfrm>
          <a:prstGeom prst="rect">
            <a:avLst/>
          </a:prstGeom>
          <a:noFill/>
          <a:ln/>
        </p:spPr>
        <p:txBody>
          <a:bodyPr wrap="square" lIns="0" tIns="0" rIns="0" bIns="0" rtlCol="0" anchor="ctr"/>
          <a:lstStyle/>
          <a:p>
            <a:pPr algn="ctr" indent="0" marL="0">
              <a:buNone/>
            </a:pPr>
            <a:r>
              <a:rPr lang="en-US" sz="1100" b="1" dirty="0">
                <a:solidFill>
                  <a:srgbClr val="FF8A3D"/>
                </a:solidFill>
                <a:latin typeface="Arial" pitchFamily="34" charset="0"/>
                <a:ea typeface="Arial" pitchFamily="34" charset="-122"/>
                <a:cs typeface="Arial" pitchFamily="34" charset="-120"/>
              </a:rPr>
              <a:t>10</a:t>
            </a:r>
            <a:endParaRPr lang="en-US" sz="1100" dirty="0"/>
          </a:p>
        </p:txBody>
      </p:sp>
      <p:sp>
        <p:nvSpPr>
          <p:cNvPr id="56" name="Text 54"/>
          <p:cNvSpPr/>
          <p:nvPr/>
        </p:nvSpPr>
        <p:spPr>
          <a:xfrm>
            <a:off x="1115568" y="5806440"/>
            <a:ext cx="1965960" cy="429768"/>
          </a:xfrm>
          <a:prstGeom prst="rect">
            <a:avLst/>
          </a:prstGeom>
          <a:noFill/>
          <a:ln/>
        </p:spPr>
        <p:txBody>
          <a:bodyPr wrap="square" lIns="0" tIns="0" rIns="0" bIns="0" rtlCol="0" anchor="ctr"/>
          <a:lstStyle/>
          <a:p>
            <a:pPr indent="0" marL="0">
              <a:buNone/>
            </a:pPr>
            <a:r>
              <a:rPr lang="en-US" sz="1050" b="1" dirty="0">
                <a:solidFill>
                  <a:srgbClr val="4FD1E8"/>
                </a:solidFill>
                <a:latin typeface="Arial" pitchFamily="34" charset="0"/>
                <a:ea typeface="Arial" pitchFamily="34" charset="-122"/>
                <a:cs typeface="Arial" pitchFamily="34" charset="-120"/>
              </a:rPr>
              <a:t>Differentiation</a:t>
            </a:r>
            <a:endParaRPr lang="en-US" sz="1050" dirty="0"/>
          </a:p>
        </p:txBody>
      </p:sp>
      <p:sp>
        <p:nvSpPr>
          <p:cNvPr id="57" name="Text 55"/>
          <p:cNvSpPr/>
          <p:nvPr/>
        </p:nvSpPr>
        <p:spPr>
          <a:xfrm>
            <a:off x="3218688" y="5806440"/>
            <a:ext cx="7315200" cy="429768"/>
          </a:xfrm>
          <a:prstGeom prst="rect">
            <a:avLst/>
          </a:prstGeom>
          <a:noFill/>
          <a:ln/>
        </p:spPr>
        <p:txBody>
          <a:bodyPr wrap="square" lIns="0" tIns="0" rIns="0" bIns="0" rtlCol="0" anchor="ctr"/>
          <a:lstStyle/>
          <a:p>
            <a:pPr indent="0" marL="0">
              <a:buNone/>
            </a:pPr>
            <a:r>
              <a:rPr lang="en-US" sz="950" dirty="0">
                <a:solidFill>
                  <a:srgbClr val="F2F5F8"/>
                </a:solidFill>
                <a:latin typeface="Calibri" pitchFamily="34" charset="0"/>
                <a:ea typeface="Calibri" pitchFamily="34" charset="-122"/>
                <a:cs typeface="Calibri" pitchFamily="34" charset="-120"/>
              </a:rPr>
              <a:t>Fleet concurrency, self-optimization, dual-LLM fallback, found-a-real-bug story</a:t>
            </a:r>
            <a:endParaRPr lang="en-US" sz="950" dirty="0"/>
          </a:p>
        </p:txBody>
      </p:sp>
      <p:sp>
        <p:nvSpPr>
          <p:cNvPr id="58" name="Text 56"/>
          <p:cNvSpPr/>
          <p:nvPr/>
        </p:nvSpPr>
        <p:spPr>
          <a:xfrm>
            <a:off x="10607040" y="5806440"/>
            <a:ext cx="1005840" cy="429768"/>
          </a:xfrm>
          <a:prstGeom prst="rect">
            <a:avLst/>
          </a:prstGeom>
          <a:noFill/>
          <a:ln/>
        </p:spPr>
        <p:txBody>
          <a:bodyPr wrap="square" lIns="0" tIns="0" rIns="0" bIns="0" rtlCol="0" anchor="ctr"/>
          <a:lstStyle/>
          <a:p>
            <a:pPr algn="ctr" indent="0" marL="0">
              <a:buNone/>
            </a:pPr>
            <a:r>
              <a:rPr lang="en-US" sz="1100" b="1" dirty="0">
                <a:solidFill>
                  <a:srgbClr val="8B98A8"/>
                </a:solidFill>
                <a:latin typeface="Arial" pitchFamily="34" charset="0"/>
                <a:ea typeface="Arial" pitchFamily="34" charset="-122"/>
                <a:cs typeface="Arial" pitchFamily="34" charset="-120"/>
              </a:rPr>
              <a:t>12</a:t>
            </a:r>
            <a:endParaRPr lang="en-US" sz="1100" dirty="0"/>
          </a:p>
        </p:txBody>
      </p:sp>
      <p:sp>
        <p:nvSpPr>
          <p:cNvPr id="59" name="Text 57"/>
          <p:cNvSpPr/>
          <p:nvPr/>
        </p:nvSpPr>
        <p:spPr>
          <a:xfrm>
            <a:off x="11338560" y="6355080"/>
            <a:ext cx="457200" cy="320040"/>
          </a:xfrm>
          <a:prstGeom prst="rect">
            <a:avLst/>
          </a:prstGeom>
          <a:noFill/>
          <a:ln/>
        </p:spPr>
        <p:txBody>
          <a:bodyPr wrap="square" lIns="0" tIns="0" rIns="0" bIns="0" rtlCol="0" anchor="ctr"/>
          <a:lstStyle/>
          <a:p>
            <a:pPr algn="r" indent="0" marL="0">
              <a:buNone/>
            </a:pPr>
            <a:r>
              <a:rPr lang="en-US" sz="1000" dirty="0">
                <a:solidFill>
                  <a:srgbClr val="8B98A8"/>
                </a:solidFill>
                <a:latin typeface="Calibri" pitchFamily="34" charset="0"/>
                <a:ea typeface="Calibri" pitchFamily="34" charset="-122"/>
                <a:cs typeface="Calibri" pitchFamily="34" charset="-120"/>
              </a:rPr>
              <a:t>2</a:t>
            </a:r>
            <a:endParaRPr lang="en-US" sz="1000" dirty="0"/>
          </a:p>
        </p:txBody>
      </p:sp>
      <p:sp>
        <p:nvSpPr>
          <p:cNvPr id="60" name="Text 58"/>
          <p:cNvSpPr/>
          <p:nvPr/>
        </p:nvSpPr>
        <p:spPr>
          <a:xfrm>
            <a:off x="548640" y="6355080"/>
            <a:ext cx="4572000" cy="320040"/>
          </a:xfrm>
          <a:prstGeom prst="rect">
            <a:avLst/>
          </a:prstGeom>
          <a:noFill/>
          <a:ln/>
        </p:spPr>
        <p:txBody>
          <a:bodyPr wrap="square" lIns="0" tIns="0" rIns="0" bIns="0" rtlCol="0" anchor="ctr"/>
          <a:lstStyle/>
          <a:p>
            <a:pPr indent="0" marL="0">
              <a:buNone/>
            </a:pPr>
            <a:r>
              <a:rPr lang="en-US" sz="900" spc="100" kern="0" dirty="0">
                <a:solidFill>
                  <a:srgbClr val="8B98A8"/>
                </a:solidFill>
                <a:latin typeface="Calibri" pitchFamily="34" charset="0"/>
                <a:ea typeface="Calibri" pitchFamily="34" charset="-122"/>
                <a:cs typeface="Calibri" pitchFamily="34" charset="-120"/>
              </a:rPr>
              <a:t>EI-NEXUS · MCP MAVERICKS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E13"/>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lIns="0" tIns="0" rIns="0" bIns="0" rtlCol="0" anchor="ctr"/>
          <a:lstStyle/>
          <a:p>
            <a:pPr indent="0" marL="0">
              <a:buNone/>
            </a:pPr>
            <a:r>
              <a:rPr lang="en-US" sz="1200" b="1" spc="200" kern="0" dirty="0">
                <a:solidFill>
                  <a:srgbClr val="FF8A3D"/>
                </a:solidFill>
                <a:latin typeface="Calibri" pitchFamily="34" charset="0"/>
                <a:ea typeface="Calibri" pitchFamily="34" charset="-122"/>
                <a:cs typeface="Calibri" pitchFamily="34" charset="-120"/>
              </a:rPr>
              <a:t>CRITERION 1 · PROBLEM DEFINITION</a:t>
            </a:r>
            <a:endParaRPr lang="en-US" sz="1200" dirty="0"/>
          </a:p>
        </p:txBody>
      </p:sp>
      <p:sp>
        <p:nvSpPr>
          <p:cNvPr id="3" name="Text 1"/>
          <p:cNvSpPr/>
          <p:nvPr/>
        </p:nvSpPr>
        <p:spPr>
          <a:xfrm>
            <a:off x="548640" y="685800"/>
            <a:ext cx="10515600" cy="822960"/>
          </a:xfrm>
          <a:prstGeom prst="rect">
            <a:avLst/>
          </a:prstGeom>
          <a:noFill/>
          <a:ln/>
        </p:spPr>
        <p:txBody>
          <a:bodyPr wrap="square" lIns="0" tIns="0" rIns="0" bIns="0" rtlCol="0" anchor="ctr"/>
          <a:lstStyle/>
          <a:p>
            <a:pPr indent="0" marL="0">
              <a:buNone/>
            </a:pPr>
            <a:r>
              <a:rPr lang="en-US" sz="3000" b="1" dirty="0">
                <a:solidFill>
                  <a:srgbClr val="F2F5F8"/>
                </a:solidFill>
                <a:latin typeface="Arial" pitchFamily="34" charset="0"/>
                <a:ea typeface="Arial" pitchFamily="34" charset="-122"/>
                <a:cs typeface="Arial" pitchFamily="34" charset="-120"/>
              </a:rPr>
              <a:t>A specific, quantified, industry-real problem</a:t>
            </a:r>
            <a:endParaRPr lang="en-US" sz="3000" dirty="0"/>
          </a:p>
        </p:txBody>
      </p:sp>
      <p:sp>
        <p:nvSpPr>
          <p:cNvPr id="4" name="Text 2"/>
          <p:cNvSpPr/>
          <p:nvPr/>
        </p:nvSpPr>
        <p:spPr>
          <a:xfrm>
            <a:off x="548640" y="1554480"/>
            <a:ext cx="5577840" cy="1371600"/>
          </a:xfrm>
          <a:prstGeom prst="rect">
            <a:avLst/>
          </a:prstGeom>
          <a:noFill/>
          <a:ln/>
        </p:spPr>
        <p:txBody>
          <a:bodyPr wrap="square" lIns="0" tIns="0" rIns="0" bIns="0" rtlCol="0" anchor="ctr"/>
          <a:lstStyle/>
          <a:p>
            <a:pPr indent="0" marL="0">
              <a:lnSpc>
                <a:spcPct val="130000"/>
              </a:lnSpc>
              <a:buNone/>
            </a:pPr>
            <a:r>
              <a:rPr lang="en-US" sz="1350" dirty="0">
                <a:solidFill>
                  <a:srgbClr val="8B98A8"/>
                </a:solidFill>
                <a:latin typeface="Calibri" pitchFamily="34" charset="0"/>
                <a:ea typeface="Calibri" pitchFamily="34" charset="-122"/>
                <a:cs typeface="Calibri" pitchFamily="34" charset="-120"/>
              </a:rPr>
              <a:t>Modern industrial plants generate enormous volumes of telemetry, engineering drawings, maintenance records, BOMs, historical service tickets, and operational documents — but this information sits in disconnected systems. Engineers can't diagnose failures quickly or accurately.</a:t>
            </a:r>
            <a:endParaRPr lang="en-US" sz="1350" dirty="0"/>
          </a:p>
        </p:txBody>
      </p:sp>
      <p:sp>
        <p:nvSpPr>
          <p:cNvPr id="5" name="Text 3"/>
          <p:cNvSpPr/>
          <p:nvPr/>
        </p:nvSpPr>
        <p:spPr>
          <a:xfrm>
            <a:off x="548640" y="2971800"/>
            <a:ext cx="5486400" cy="320040"/>
          </a:xfrm>
          <a:prstGeom prst="rect">
            <a:avLst/>
          </a:prstGeom>
          <a:noFill/>
          <a:ln/>
        </p:spPr>
        <p:txBody>
          <a:bodyPr wrap="square" lIns="0" tIns="0" rIns="0" bIns="0" rtlCol="0" anchor="ctr"/>
          <a:lstStyle/>
          <a:p>
            <a:pPr indent="0" marL="0">
              <a:buNone/>
            </a:pPr>
            <a:r>
              <a:rPr lang="en-US" sz="1350" b="1" dirty="0">
                <a:solidFill>
                  <a:srgbClr val="F2F5F8"/>
                </a:solidFill>
                <a:latin typeface="Arial" pitchFamily="34" charset="0"/>
                <a:ea typeface="Arial" pitchFamily="34" charset="-122"/>
                <a:cs typeface="Arial" pitchFamily="34" charset="-120"/>
              </a:rPr>
              <a:t>Named, specific consequences (not vague pain points):</a:t>
            </a:r>
            <a:endParaRPr lang="en-US" sz="1350" dirty="0"/>
          </a:p>
        </p:txBody>
      </p:sp>
      <p:sp>
        <p:nvSpPr>
          <p:cNvPr id="6" name="Shape 4"/>
          <p:cNvSpPr/>
          <p:nvPr/>
        </p:nvSpPr>
        <p:spPr>
          <a:xfrm>
            <a:off x="548640" y="3456432"/>
            <a:ext cx="82296" cy="82296"/>
          </a:xfrm>
          <a:prstGeom prst="ellipse">
            <a:avLst/>
          </a:prstGeom>
          <a:solidFill>
            <a:srgbClr val="FF5C5C"/>
          </a:solidFill>
          <a:ln/>
        </p:spPr>
      </p:sp>
      <p:sp>
        <p:nvSpPr>
          <p:cNvPr id="7" name="Text 5"/>
          <p:cNvSpPr/>
          <p:nvPr/>
        </p:nvSpPr>
        <p:spPr>
          <a:xfrm>
            <a:off x="777240" y="3337560"/>
            <a:ext cx="2560320" cy="292608"/>
          </a:xfrm>
          <a:prstGeom prst="rect">
            <a:avLst/>
          </a:prstGeom>
          <a:noFill/>
          <a:ln/>
        </p:spPr>
        <p:txBody>
          <a:bodyPr wrap="square" lIns="0" tIns="0" rIns="0" bIns="0" rtlCol="0" anchor="ctr"/>
          <a:lstStyle/>
          <a:p>
            <a:pPr indent="0" marL="0">
              <a:buNone/>
            </a:pPr>
            <a:r>
              <a:rPr lang="en-US" sz="1150" dirty="0">
                <a:solidFill>
                  <a:srgbClr val="F2F5F8"/>
                </a:solidFill>
                <a:latin typeface="Calibri" pitchFamily="34" charset="0"/>
                <a:ea typeface="Calibri" pitchFamily="34" charset="-122"/>
                <a:cs typeface="Calibri" pitchFamily="34" charset="-120"/>
              </a:rPr>
              <a:t>Unplanned production downtime</a:t>
            </a:r>
            <a:endParaRPr lang="en-US" sz="1150" dirty="0"/>
          </a:p>
        </p:txBody>
      </p:sp>
      <p:sp>
        <p:nvSpPr>
          <p:cNvPr id="8" name="Shape 6"/>
          <p:cNvSpPr/>
          <p:nvPr/>
        </p:nvSpPr>
        <p:spPr>
          <a:xfrm>
            <a:off x="3383280" y="3456432"/>
            <a:ext cx="82296" cy="82296"/>
          </a:xfrm>
          <a:prstGeom prst="ellipse">
            <a:avLst/>
          </a:prstGeom>
          <a:solidFill>
            <a:srgbClr val="FF5C5C"/>
          </a:solidFill>
          <a:ln/>
        </p:spPr>
      </p:sp>
      <p:sp>
        <p:nvSpPr>
          <p:cNvPr id="9" name="Text 7"/>
          <p:cNvSpPr/>
          <p:nvPr/>
        </p:nvSpPr>
        <p:spPr>
          <a:xfrm>
            <a:off x="3611880" y="3337560"/>
            <a:ext cx="2560320" cy="292608"/>
          </a:xfrm>
          <a:prstGeom prst="rect">
            <a:avLst/>
          </a:prstGeom>
          <a:noFill/>
          <a:ln/>
        </p:spPr>
        <p:txBody>
          <a:bodyPr wrap="square" lIns="0" tIns="0" rIns="0" bIns="0" rtlCol="0" anchor="ctr"/>
          <a:lstStyle/>
          <a:p>
            <a:pPr indent="0" marL="0">
              <a:buNone/>
            </a:pPr>
            <a:r>
              <a:rPr lang="en-US" sz="1150" dirty="0">
                <a:solidFill>
                  <a:srgbClr val="F2F5F8"/>
                </a:solidFill>
                <a:latin typeface="Calibri" pitchFamily="34" charset="0"/>
                <a:ea typeface="Calibri" pitchFamily="34" charset="-122"/>
                <a:cs typeface="Calibri" pitchFamily="34" charset="-120"/>
              </a:rPr>
              <a:t>High maintenance cost</a:t>
            </a:r>
            <a:endParaRPr lang="en-US" sz="1150" dirty="0"/>
          </a:p>
        </p:txBody>
      </p:sp>
      <p:sp>
        <p:nvSpPr>
          <p:cNvPr id="10" name="Shape 8"/>
          <p:cNvSpPr/>
          <p:nvPr/>
        </p:nvSpPr>
        <p:spPr>
          <a:xfrm>
            <a:off x="548640" y="3840480"/>
            <a:ext cx="82296" cy="82296"/>
          </a:xfrm>
          <a:prstGeom prst="ellipse">
            <a:avLst/>
          </a:prstGeom>
          <a:solidFill>
            <a:srgbClr val="FF5C5C"/>
          </a:solidFill>
          <a:ln/>
        </p:spPr>
      </p:sp>
      <p:sp>
        <p:nvSpPr>
          <p:cNvPr id="11" name="Text 9"/>
          <p:cNvSpPr/>
          <p:nvPr/>
        </p:nvSpPr>
        <p:spPr>
          <a:xfrm>
            <a:off x="777240" y="3721608"/>
            <a:ext cx="2560320" cy="292608"/>
          </a:xfrm>
          <a:prstGeom prst="rect">
            <a:avLst/>
          </a:prstGeom>
          <a:noFill/>
          <a:ln/>
        </p:spPr>
        <p:txBody>
          <a:bodyPr wrap="square" lIns="0" tIns="0" rIns="0" bIns="0" rtlCol="0" anchor="ctr"/>
          <a:lstStyle/>
          <a:p>
            <a:pPr indent="0" marL="0">
              <a:buNone/>
            </a:pPr>
            <a:r>
              <a:rPr lang="en-US" sz="1150" dirty="0">
                <a:solidFill>
                  <a:srgbClr val="F2F5F8"/>
                </a:solidFill>
                <a:latin typeface="Calibri" pitchFamily="34" charset="0"/>
                <a:ea typeface="Calibri" pitchFamily="34" charset="-122"/>
                <a:cs typeface="Calibri" pitchFamily="34" charset="-120"/>
              </a:rPr>
              <a:t>Delayed troubleshooting</a:t>
            </a:r>
            <a:endParaRPr lang="en-US" sz="1150" dirty="0"/>
          </a:p>
        </p:txBody>
      </p:sp>
      <p:sp>
        <p:nvSpPr>
          <p:cNvPr id="12" name="Shape 10"/>
          <p:cNvSpPr/>
          <p:nvPr/>
        </p:nvSpPr>
        <p:spPr>
          <a:xfrm>
            <a:off x="3383280" y="3840480"/>
            <a:ext cx="82296" cy="82296"/>
          </a:xfrm>
          <a:prstGeom prst="ellipse">
            <a:avLst/>
          </a:prstGeom>
          <a:solidFill>
            <a:srgbClr val="FF5C5C"/>
          </a:solidFill>
          <a:ln/>
        </p:spPr>
      </p:sp>
      <p:sp>
        <p:nvSpPr>
          <p:cNvPr id="13" name="Text 11"/>
          <p:cNvSpPr/>
          <p:nvPr/>
        </p:nvSpPr>
        <p:spPr>
          <a:xfrm>
            <a:off x="3611880" y="3721608"/>
            <a:ext cx="2560320" cy="292608"/>
          </a:xfrm>
          <a:prstGeom prst="rect">
            <a:avLst/>
          </a:prstGeom>
          <a:noFill/>
          <a:ln/>
        </p:spPr>
        <p:txBody>
          <a:bodyPr wrap="square" lIns="0" tIns="0" rIns="0" bIns="0" rtlCol="0" anchor="ctr"/>
          <a:lstStyle/>
          <a:p>
            <a:pPr indent="0" marL="0">
              <a:buNone/>
            </a:pPr>
            <a:r>
              <a:rPr lang="en-US" sz="1150" dirty="0">
                <a:solidFill>
                  <a:srgbClr val="F2F5F8"/>
                </a:solidFill>
                <a:latin typeface="Calibri" pitchFamily="34" charset="0"/>
                <a:ea typeface="Calibri" pitchFamily="34" charset="-122"/>
                <a:cs typeface="Calibri" pitchFamily="34" charset="-120"/>
              </a:rPr>
              <a:t>Increased mean-time-to-repair</a:t>
            </a:r>
            <a:endParaRPr lang="en-US" sz="1150" dirty="0"/>
          </a:p>
        </p:txBody>
      </p:sp>
      <p:sp>
        <p:nvSpPr>
          <p:cNvPr id="14" name="Shape 12"/>
          <p:cNvSpPr/>
          <p:nvPr/>
        </p:nvSpPr>
        <p:spPr>
          <a:xfrm>
            <a:off x="548640" y="4224528"/>
            <a:ext cx="82296" cy="82296"/>
          </a:xfrm>
          <a:prstGeom prst="ellipse">
            <a:avLst/>
          </a:prstGeom>
          <a:solidFill>
            <a:srgbClr val="FF5C5C"/>
          </a:solidFill>
          <a:ln/>
        </p:spPr>
      </p:sp>
      <p:sp>
        <p:nvSpPr>
          <p:cNvPr id="15" name="Text 13"/>
          <p:cNvSpPr/>
          <p:nvPr/>
        </p:nvSpPr>
        <p:spPr>
          <a:xfrm>
            <a:off x="777240" y="4105656"/>
            <a:ext cx="2560320" cy="292608"/>
          </a:xfrm>
          <a:prstGeom prst="rect">
            <a:avLst/>
          </a:prstGeom>
          <a:noFill/>
          <a:ln/>
        </p:spPr>
        <p:txBody>
          <a:bodyPr wrap="square" lIns="0" tIns="0" rIns="0" bIns="0" rtlCol="0" anchor="ctr"/>
          <a:lstStyle/>
          <a:p>
            <a:pPr indent="0" marL="0">
              <a:buNone/>
            </a:pPr>
            <a:r>
              <a:rPr lang="en-US" sz="1150" dirty="0">
                <a:solidFill>
                  <a:srgbClr val="F2F5F8"/>
                </a:solidFill>
                <a:latin typeface="Calibri" pitchFamily="34" charset="0"/>
                <a:ea typeface="Calibri" pitchFamily="34" charset="-122"/>
                <a:cs typeface="Calibri" pitchFamily="34" charset="-120"/>
              </a:rPr>
              <a:t>Reduced equipment reliability</a:t>
            </a:r>
            <a:endParaRPr lang="en-US" sz="1150" dirty="0"/>
          </a:p>
        </p:txBody>
      </p:sp>
      <p:sp>
        <p:nvSpPr>
          <p:cNvPr id="16" name="Shape 14"/>
          <p:cNvSpPr/>
          <p:nvPr/>
        </p:nvSpPr>
        <p:spPr>
          <a:xfrm>
            <a:off x="3383280" y="4224528"/>
            <a:ext cx="82296" cy="82296"/>
          </a:xfrm>
          <a:prstGeom prst="ellipse">
            <a:avLst/>
          </a:prstGeom>
          <a:solidFill>
            <a:srgbClr val="FF5C5C"/>
          </a:solidFill>
          <a:ln/>
        </p:spPr>
      </p:sp>
      <p:sp>
        <p:nvSpPr>
          <p:cNvPr id="17" name="Text 15"/>
          <p:cNvSpPr/>
          <p:nvPr/>
        </p:nvSpPr>
        <p:spPr>
          <a:xfrm>
            <a:off x="3611880" y="4105656"/>
            <a:ext cx="2560320" cy="292608"/>
          </a:xfrm>
          <a:prstGeom prst="rect">
            <a:avLst/>
          </a:prstGeom>
          <a:noFill/>
          <a:ln/>
        </p:spPr>
        <p:txBody>
          <a:bodyPr wrap="square" lIns="0" tIns="0" rIns="0" bIns="0" rtlCol="0" anchor="ctr"/>
          <a:lstStyle/>
          <a:p>
            <a:pPr indent="0" marL="0">
              <a:buNone/>
            </a:pPr>
            <a:r>
              <a:rPr lang="en-US" sz="1150" dirty="0">
                <a:solidFill>
                  <a:srgbClr val="F2F5F8"/>
                </a:solidFill>
                <a:latin typeface="Calibri" pitchFamily="34" charset="0"/>
                <a:ea typeface="Calibri" pitchFamily="34" charset="-122"/>
                <a:cs typeface="Calibri" pitchFamily="34" charset="-120"/>
              </a:rPr>
              <a:t>Lost operational efficiency</a:t>
            </a:r>
            <a:endParaRPr lang="en-US" sz="1150" dirty="0"/>
          </a:p>
        </p:txBody>
      </p:sp>
      <p:sp>
        <p:nvSpPr>
          <p:cNvPr id="18" name="Shape 16"/>
          <p:cNvSpPr/>
          <p:nvPr/>
        </p:nvSpPr>
        <p:spPr>
          <a:xfrm>
            <a:off x="6492240" y="1554480"/>
            <a:ext cx="5120640" cy="4389120"/>
          </a:xfrm>
          <a:prstGeom prst="roundRect">
            <a:avLst>
              <a:gd name="adj" fmla="val 1667"/>
            </a:avLst>
          </a:prstGeom>
          <a:solidFill>
            <a:srgbClr val="1A2330"/>
          </a:solidFill>
          <a:ln w="12700">
            <a:solidFill>
              <a:srgbClr val="232E3B"/>
            </a:solidFill>
            <a:prstDash val="solid"/>
          </a:ln>
          <a:effectLst>
            <a:outerShdw sx="100000" sy="100000" kx="0" ky="0" algn="bl" rotWithShape="0" blurRad="101600" dist="38100" dir="2700000">
              <a:srgbClr val="000000">
                <a:alpha val="35000"/>
              </a:srgbClr>
            </a:outerShdw>
          </a:effectLst>
        </p:spPr>
      </p:sp>
      <p:sp>
        <p:nvSpPr>
          <p:cNvPr id="19" name="Text 17"/>
          <p:cNvSpPr/>
          <p:nvPr/>
        </p:nvSpPr>
        <p:spPr>
          <a:xfrm>
            <a:off x="6858000" y="1874520"/>
            <a:ext cx="4389120" cy="274320"/>
          </a:xfrm>
          <a:prstGeom prst="rect">
            <a:avLst/>
          </a:prstGeom>
          <a:noFill/>
          <a:ln/>
        </p:spPr>
        <p:txBody>
          <a:bodyPr wrap="square" lIns="0" tIns="0" rIns="0" bIns="0" rtlCol="0" anchor="ctr"/>
          <a:lstStyle/>
          <a:p>
            <a:pPr indent="0" marL="0">
              <a:buNone/>
            </a:pPr>
            <a:r>
              <a:rPr lang="en-US" sz="1100" b="1" spc="150" kern="0" dirty="0">
                <a:solidFill>
                  <a:srgbClr val="8B98A8"/>
                </a:solidFill>
                <a:latin typeface="Calibri" pitchFamily="34" charset="0"/>
                <a:ea typeface="Calibri" pitchFamily="34" charset="-122"/>
                <a:cs typeface="Calibri" pitchFamily="34" charset="-120"/>
              </a:rPr>
              <a:t>QUANTIFIED</a:t>
            </a:r>
            <a:endParaRPr lang="en-US" sz="1100" dirty="0"/>
          </a:p>
        </p:txBody>
      </p:sp>
      <p:sp>
        <p:nvSpPr>
          <p:cNvPr id="20" name="Text 18"/>
          <p:cNvSpPr/>
          <p:nvPr/>
        </p:nvSpPr>
        <p:spPr>
          <a:xfrm>
            <a:off x="6858000" y="2194560"/>
            <a:ext cx="4389120" cy="822960"/>
          </a:xfrm>
          <a:prstGeom prst="rect">
            <a:avLst/>
          </a:prstGeom>
          <a:noFill/>
          <a:ln/>
        </p:spPr>
        <p:txBody>
          <a:bodyPr wrap="square" lIns="0" tIns="0" rIns="0" bIns="0" rtlCol="0" anchor="ctr"/>
          <a:lstStyle/>
          <a:p>
            <a:pPr indent="0" marL="0">
              <a:buNone/>
            </a:pPr>
            <a:r>
              <a:rPr lang="en-US" sz="4600" b="1" dirty="0">
                <a:solidFill>
                  <a:srgbClr val="FF5C5C"/>
                </a:solidFill>
                <a:latin typeface="Arial" pitchFamily="34" charset="0"/>
                <a:ea typeface="Arial" pitchFamily="34" charset="-122"/>
                <a:cs typeface="Arial" pitchFamily="34" charset="-120"/>
              </a:rPr>
              <a:t>2–3 WEEKS</a:t>
            </a:r>
            <a:endParaRPr lang="en-US" sz="4600" dirty="0"/>
          </a:p>
        </p:txBody>
      </p:sp>
      <p:sp>
        <p:nvSpPr>
          <p:cNvPr id="21" name="Text 19"/>
          <p:cNvSpPr/>
          <p:nvPr/>
        </p:nvSpPr>
        <p:spPr>
          <a:xfrm>
            <a:off x="6858000" y="2971800"/>
            <a:ext cx="4389120" cy="640080"/>
          </a:xfrm>
          <a:prstGeom prst="rect">
            <a:avLst/>
          </a:prstGeom>
          <a:noFill/>
          <a:ln/>
        </p:spPr>
        <p:txBody>
          <a:bodyPr wrap="square" lIns="0" tIns="0" rIns="0" bIns="0" rtlCol="0" anchor="ctr"/>
          <a:lstStyle/>
          <a:p>
            <a:pPr indent="0" marL="0">
              <a:buNone/>
            </a:pPr>
            <a:r>
              <a:rPr lang="en-US" sz="1200" i="1" dirty="0">
                <a:solidFill>
                  <a:srgbClr val="8B98A8"/>
                </a:solidFill>
                <a:latin typeface="Calibri" pitchFamily="34" charset="0"/>
                <a:ea typeface="Calibri" pitchFamily="34" charset="-122"/>
                <a:cs typeface="Calibri" pitchFamily="34" charset="-120"/>
              </a:rPr>
              <a:t>per field failure — manually tracing tickets, BOM specs, and design docs by hand</a:t>
            </a:r>
            <a:endParaRPr lang="en-US" sz="1200" dirty="0"/>
          </a:p>
        </p:txBody>
      </p:sp>
      <p:sp>
        <p:nvSpPr>
          <p:cNvPr id="22" name="Shape 20"/>
          <p:cNvSpPr/>
          <p:nvPr/>
        </p:nvSpPr>
        <p:spPr>
          <a:xfrm>
            <a:off x="6858000" y="3749040"/>
            <a:ext cx="4023360" cy="0"/>
          </a:xfrm>
          <a:prstGeom prst="line">
            <a:avLst/>
          </a:prstGeom>
          <a:noFill/>
          <a:ln w="12700">
            <a:solidFill>
              <a:srgbClr val="232E3B"/>
            </a:solidFill>
            <a:prstDash val="solid"/>
          </a:ln>
        </p:spPr>
      </p:sp>
      <p:sp>
        <p:nvSpPr>
          <p:cNvPr id="23" name="Text 21"/>
          <p:cNvSpPr/>
          <p:nvPr/>
        </p:nvSpPr>
        <p:spPr>
          <a:xfrm>
            <a:off x="6858000" y="3931920"/>
            <a:ext cx="4389120" cy="274320"/>
          </a:xfrm>
          <a:prstGeom prst="rect">
            <a:avLst/>
          </a:prstGeom>
          <a:noFill/>
          <a:ln/>
        </p:spPr>
        <p:txBody>
          <a:bodyPr wrap="square" lIns="0" tIns="0" rIns="0" bIns="0" rtlCol="0" anchor="ctr"/>
          <a:lstStyle/>
          <a:p>
            <a:pPr indent="0" marL="0">
              <a:buNone/>
            </a:pPr>
            <a:r>
              <a:rPr lang="en-US" sz="1100" b="1" spc="150" kern="0" dirty="0">
                <a:solidFill>
                  <a:srgbClr val="8B98A8"/>
                </a:solidFill>
                <a:latin typeface="Calibri" pitchFamily="34" charset="0"/>
                <a:ea typeface="Calibri" pitchFamily="34" charset="-122"/>
                <a:cs typeface="Calibri" pitchFamily="34" charset="-120"/>
              </a:rPr>
              <a:t>WHO FEELS THIS</a:t>
            </a:r>
            <a:endParaRPr lang="en-US" sz="1100" dirty="0"/>
          </a:p>
        </p:txBody>
      </p:sp>
      <p:sp>
        <p:nvSpPr>
          <p:cNvPr id="24" name="Shape 22"/>
          <p:cNvSpPr/>
          <p:nvPr/>
        </p:nvSpPr>
        <p:spPr>
          <a:xfrm>
            <a:off x="6858000" y="4315968"/>
            <a:ext cx="73152" cy="73152"/>
          </a:xfrm>
          <a:prstGeom prst="ellipse">
            <a:avLst/>
          </a:prstGeom>
          <a:solidFill>
            <a:srgbClr val="FF8A3D"/>
          </a:solidFill>
          <a:ln/>
        </p:spPr>
      </p:sp>
      <p:sp>
        <p:nvSpPr>
          <p:cNvPr id="25" name="Text 23"/>
          <p:cNvSpPr/>
          <p:nvPr/>
        </p:nvSpPr>
        <p:spPr>
          <a:xfrm>
            <a:off x="7059168" y="4206240"/>
            <a:ext cx="4023360" cy="502920"/>
          </a:xfrm>
          <a:prstGeom prst="rect">
            <a:avLst/>
          </a:prstGeom>
          <a:noFill/>
          <a:ln/>
        </p:spPr>
        <p:txBody>
          <a:bodyPr wrap="square" lIns="0" tIns="0" rIns="0" bIns="0" rtlCol="0" anchor="ctr"/>
          <a:lstStyle/>
          <a:p>
            <a:pPr indent="0" marL="0">
              <a:lnSpc>
                <a:spcPct val="120000"/>
              </a:lnSpc>
              <a:buNone/>
            </a:pPr>
            <a:r>
              <a:rPr lang="en-US" sz="1100" dirty="0">
                <a:solidFill>
                  <a:srgbClr val="F2F5F8"/>
                </a:solidFill>
                <a:latin typeface="Calibri" pitchFamily="34" charset="0"/>
                <a:ea typeface="Calibri" pitchFamily="34" charset="-122"/>
                <a:cs typeface="Calibri" pitchFamily="34" charset="-120"/>
              </a:rPr>
              <a:t>Plant maintenance engineers — chase root cause across 4+ disconnected systems</a:t>
            </a:r>
            <a:endParaRPr lang="en-US" sz="1100" dirty="0"/>
          </a:p>
        </p:txBody>
      </p:sp>
      <p:sp>
        <p:nvSpPr>
          <p:cNvPr id="26" name="Shape 24"/>
          <p:cNvSpPr/>
          <p:nvPr/>
        </p:nvSpPr>
        <p:spPr>
          <a:xfrm>
            <a:off x="6858000" y="4882896"/>
            <a:ext cx="73152" cy="73152"/>
          </a:xfrm>
          <a:prstGeom prst="ellipse">
            <a:avLst/>
          </a:prstGeom>
          <a:solidFill>
            <a:srgbClr val="FF8A3D"/>
          </a:solidFill>
          <a:ln/>
        </p:spPr>
      </p:sp>
      <p:sp>
        <p:nvSpPr>
          <p:cNvPr id="27" name="Text 25"/>
          <p:cNvSpPr/>
          <p:nvPr/>
        </p:nvSpPr>
        <p:spPr>
          <a:xfrm>
            <a:off x="7059168" y="4773168"/>
            <a:ext cx="4023360" cy="502920"/>
          </a:xfrm>
          <a:prstGeom prst="rect">
            <a:avLst/>
          </a:prstGeom>
          <a:noFill/>
          <a:ln/>
        </p:spPr>
        <p:txBody>
          <a:bodyPr wrap="square" lIns="0" tIns="0" rIns="0" bIns="0" rtlCol="0" anchor="ctr"/>
          <a:lstStyle/>
          <a:p>
            <a:pPr indent="0" marL="0">
              <a:lnSpc>
                <a:spcPct val="120000"/>
              </a:lnSpc>
              <a:buNone/>
            </a:pPr>
            <a:r>
              <a:rPr lang="en-US" sz="1100" dirty="0">
                <a:solidFill>
                  <a:srgbClr val="F2F5F8"/>
                </a:solidFill>
                <a:latin typeface="Calibri" pitchFamily="34" charset="0"/>
                <a:ea typeface="Calibri" pitchFamily="34" charset="-122"/>
                <a:cs typeface="Calibri" pitchFamily="34" charset="-120"/>
              </a:rPr>
              <a:t>Reliability teams — repeat failures because design feedback never closes the loop</a:t>
            </a:r>
            <a:endParaRPr lang="en-US" sz="1100" dirty="0"/>
          </a:p>
        </p:txBody>
      </p:sp>
      <p:sp>
        <p:nvSpPr>
          <p:cNvPr id="28" name="Shape 26"/>
          <p:cNvSpPr/>
          <p:nvPr/>
        </p:nvSpPr>
        <p:spPr>
          <a:xfrm>
            <a:off x="6858000" y="5449824"/>
            <a:ext cx="73152" cy="73152"/>
          </a:xfrm>
          <a:prstGeom prst="ellipse">
            <a:avLst/>
          </a:prstGeom>
          <a:solidFill>
            <a:srgbClr val="FF8A3D"/>
          </a:solidFill>
          <a:ln/>
        </p:spPr>
      </p:sp>
      <p:sp>
        <p:nvSpPr>
          <p:cNvPr id="29" name="Text 27"/>
          <p:cNvSpPr/>
          <p:nvPr/>
        </p:nvSpPr>
        <p:spPr>
          <a:xfrm>
            <a:off x="7059168" y="5340096"/>
            <a:ext cx="4023360" cy="502920"/>
          </a:xfrm>
          <a:prstGeom prst="rect">
            <a:avLst/>
          </a:prstGeom>
          <a:noFill/>
          <a:ln/>
        </p:spPr>
        <p:txBody>
          <a:bodyPr wrap="square" lIns="0" tIns="0" rIns="0" bIns="0" rtlCol="0" anchor="ctr"/>
          <a:lstStyle/>
          <a:p>
            <a:pPr indent="0" marL="0">
              <a:lnSpc>
                <a:spcPct val="120000"/>
              </a:lnSpc>
              <a:buNone/>
            </a:pPr>
            <a:r>
              <a:rPr lang="en-US" sz="1100" dirty="0">
                <a:solidFill>
                  <a:srgbClr val="F2F5F8"/>
                </a:solidFill>
                <a:latin typeface="Calibri" pitchFamily="34" charset="0"/>
                <a:ea typeface="Calibri" pitchFamily="34" charset="-122"/>
                <a:cs typeface="Calibri" pitchFamily="34" charset="-120"/>
              </a:rPr>
              <a:t>Plant managers — unplanned downtime directly hits production targets</a:t>
            </a:r>
            <a:endParaRPr lang="en-US" sz="1100" dirty="0"/>
          </a:p>
        </p:txBody>
      </p:sp>
      <p:sp>
        <p:nvSpPr>
          <p:cNvPr id="30" name="Text 28"/>
          <p:cNvSpPr/>
          <p:nvPr/>
        </p:nvSpPr>
        <p:spPr>
          <a:xfrm>
            <a:off x="11338560" y="6355080"/>
            <a:ext cx="457200" cy="320040"/>
          </a:xfrm>
          <a:prstGeom prst="rect">
            <a:avLst/>
          </a:prstGeom>
          <a:noFill/>
          <a:ln/>
        </p:spPr>
        <p:txBody>
          <a:bodyPr wrap="square" lIns="0" tIns="0" rIns="0" bIns="0" rtlCol="0" anchor="ctr"/>
          <a:lstStyle/>
          <a:p>
            <a:pPr algn="r" indent="0" marL="0">
              <a:buNone/>
            </a:pPr>
            <a:r>
              <a:rPr lang="en-US" sz="1000" dirty="0">
                <a:solidFill>
                  <a:srgbClr val="8B98A8"/>
                </a:solidFill>
                <a:latin typeface="Calibri" pitchFamily="34" charset="0"/>
                <a:ea typeface="Calibri" pitchFamily="34" charset="-122"/>
                <a:cs typeface="Calibri" pitchFamily="34" charset="-120"/>
              </a:rPr>
              <a:t>3</a:t>
            </a:r>
            <a:endParaRPr lang="en-US" sz="1000" dirty="0"/>
          </a:p>
        </p:txBody>
      </p:sp>
      <p:sp>
        <p:nvSpPr>
          <p:cNvPr id="31" name="Text 29"/>
          <p:cNvSpPr/>
          <p:nvPr/>
        </p:nvSpPr>
        <p:spPr>
          <a:xfrm>
            <a:off x="548640" y="6355080"/>
            <a:ext cx="4572000" cy="320040"/>
          </a:xfrm>
          <a:prstGeom prst="rect">
            <a:avLst/>
          </a:prstGeom>
          <a:noFill/>
          <a:ln/>
        </p:spPr>
        <p:txBody>
          <a:bodyPr wrap="square" lIns="0" tIns="0" rIns="0" bIns="0" rtlCol="0" anchor="ctr"/>
          <a:lstStyle/>
          <a:p>
            <a:pPr indent="0" marL="0">
              <a:buNone/>
            </a:pPr>
            <a:r>
              <a:rPr lang="en-US" sz="900" spc="100" kern="0" dirty="0">
                <a:solidFill>
                  <a:srgbClr val="8B98A8"/>
                </a:solidFill>
                <a:latin typeface="Calibri" pitchFamily="34" charset="0"/>
                <a:ea typeface="Calibri" pitchFamily="34" charset="-122"/>
                <a:cs typeface="Calibri" pitchFamily="34" charset="-120"/>
              </a:rPr>
              <a:t>EI-NEXUS · MCP MAVERICKS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E13"/>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lIns="0" tIns="0" rIns="0" bIns="0" rtlCol="0" anchor="ctr"/>
          <a:lstStyle/>
          <a:p>
            <a:pPr indent="0" marL="0">
              <a:buNone/>
            </a:pPr>
            <a:r>
              <a:rPr lang="en-US" sz="1200" b="1" spc="200" kern="0" dirty="0">
                <a:solidFill>
                  <a:srgbClr val="FF8A3D"/>
                </a:solidFill>
                <a:latin typeface="Calibri" pitchFamily="34" charset="0"/>
                <a:ea typeface="Calibri" pitchFamily="34" charset="-122"/>
                <a:cs typeface="Calibri" pitchFamily="34" charset="-120"/>
              </a:rPr>
              <a:t>CRITERION 2 · SOLUTION ARCHITECTURE</a:t>
            </a:r>
            <a:endParaRPr lang="en-US" sz="1200" dirty="0"/>
          </a:p>
        </p:txBody>
      </p:sp>
      <p:sp>
        <p:nvSpPr>
          <p:cNvPr id="3" name="Text 1"/>
          <p:cNvSpPr/>
          <p:nvPr/>
        </p:nvSpPr>
        <p:spPr>
          <a:xfrm>
            <a:off x="548640" y="685800"/>
            <a:ext cx="10515600" cy="822960"/>
          </a:xfrm>
          <a:prstGeom prst="rect">
            <a:avLst/>
          </a:prstGeom>
          <a:noFill/>
          <a:ln/>
        </p:spPr>
        <p:txBody>
          <a:bodyPr wrap="square" lIns="0" tIns="0" rIns="0" bIns="0" rtlCol="0" anchor="ctr"/>
          <a:lstStyle/>
          <a:p>
            <a:pPr indent="0" marL="0">
              <a:buNone/>
            </a:pPr>
            <a:r>
              <a:rPr lang="en-US" sz="2400" b="1" dirty="0">
                <a:solidFill>
                  <a:srgbClr val="F2F5F8"/>
                </a:solidFill>
                <a:latin typeface="Arial" pitchFamily="34" charset="0"/>
                <a:ea typeface="Arial" pitchFamily="34" charset="-122"/>
                <a:cs typeface="Arial" pitchFamily="34" charset="-120"/>
              </a:rPr>
              <a:t>Documented at every level — not just a slide diagram</a:t>
            </a:r>
            <a:endParaRPr lang="en-US" sz="2400" dirty="0"/>
          </a:p>
        </p:txBody>
      </p:sp>
      <p:sp>
        <p:nvSpPr>
          <p:cNvPr id="4" name="Shape 2"/>
          <p:cNvSpPr/>
          <p:nvPr/>
        </p:nvSpPr>
        <p:spPr>
          <a:xfrm>
            <a:off x="548640" y="1600200"/>
            <a:ext cx="3505200" cy="1417320"/>
          </a:xfrm>
          <a:prstGeom prst="roundRect">
            <a:avLst>
              <a:gd name="adj" fmla="val 5161"/>
            </a:avLst>
          </a:prstGeom>
          <a:solidFill>
            <a:srgbClr val="1A2330"/>
          </a:solidFill>
          <a:ln w="12700">
            <a:solidFill>
              <a:srgbClr val="232E3B"/>
            </a:solidFill>
            <a:prstDash val="solid"/>
          </a:ln>
          <a:effectLst>
            <a:outerShdw sx="100000" sy="100000" kx="0" ky="0" algn="bl" rotWithShape="0" blurRad="101600" dist="38100" dir="2700000">
              <a:srgbClr val="000000">
                <a:alpha val="35000"/>
              </a:srgbClr>
            </a:outerShdw>
          </a:effectLst>
        </p:spPr>
      </p:sp>
      <p:sp>
        <p:nvSpPr>
          <p:cNvPr id="5" name="Shape 3"/>
          <p:cNvSpPr/>
          <p:nvPr/>
        </p:nvSpPr>
        <p:spPr>
          <a:xfrm>
            <a:off x="777240" y="1801368"/>
            <a:ext cx="438912" cy="438912"/>
          </a:xfrm>
          <a:prstGeom prst="ellipse">
            <a:avLst/>
          </a:prstGeom>
          <a:solidFill>
            <a:srgbClr val="1A2330"/>
          </a:solidFill>
          <a:ln w="19050">
            <a:solidFill>
              <a:srgbClr val="4FD1E8"/>
            </a:solidFill>
            <a:prstDash val="solid"/>
          </a:ln>
        </p:spPr>
      </p:sp>
      <p:pic>
        <p:nvPicPr>
          <p:cNvPr id="6" name="Image 0" descr="preencoded.png">    </p:cNvPr>
          <p:cNvPicPr>
            <a:picLocks noChangeAspect="1"/>
          </p:cNvPicPr>
          <p:nvPr/>
        </p:nvPicPr>
        <p:blipFill>
          <a:blip r:embed="rId1"/>
          <a:stretch>
            <a:fillRect/>
          </a:stretch>
        </p:blipFill>
        <p:spPr>
          <a:xfrm>
            <a:off x="891357" y="1915485"/>
            <a:ext cx="210678" cy="210678"/>
          </a:xfrm>
          <a:prstGeom prst="rect">
            <a:avLst/>
          </a:prstGeom>
        </p:spPr>
      </p:pic>
      <p:sp>
        <p:nvSpPr>
          <p:cNvPr id="7" name="Text 4"/>
          <p:cNvSpPr/>
          <p:nvPr/>
        </p:nvSpPr>
        <p:spPr>
          <a:xfrm>
            <a:off x="1371600" y="1783080"/>
            <a:ext cx="2499360" cy="365760"/>
          </a:xfrm>
          <a:prstGeom prst="rect">
            <a:avLst/>
          </a:prstGeom>
          <a:noFill/>
          <a:ln/>
        </p:spPr>
        <p:txBody>
          <a:bodyPr wrap="square" lIns="0" tIns="0" rIns="0" bIns="0" rtlCol="0" anchor="ctr"/>
          <a:lstStyle/>
          <a:p>
            <a:pPr indent="0" marL="0">
              <a:buNone/>
            </a:pPr>
            <a:r>
              <a:rPr lang="en-US" sz="1300" b="1" dirty="0">
                <a:solidFill>
                  <a:srgbClr val="F2F5F8"/>
                </a:solidFill>
                <a:latin typeface="Arial" pitchFamily="34" charset="0"/>
                <a:ea typeface="Arial" pitchFamily="34" charset="-122"/>
                <a:cs typeface="Arial" pitchFamily="34" charset="-120"/>
              </a:rPr>
              <a:t>Class Diagram</a:t>
            </a:r>
            <a:endParaRPr lang="en-US" sz="1300" dirty="0"/>
          </a:p>
        </p:txBody>
      </p:sp>
      <p:sp>
        <p:nvSpPr>
          <p:cNvPr id="8" name="Text 5"/>
          <p:cNvSpPr/>
          <p:nvPr/>
        </p:nvSpPr>
        <p:spPr>
          <a:xfrm>
            <a:off x="777240" y="2313432"/>
            <a:ext cx="3048000" cy="594360"/>
          </a:xfrm>
          <a:prstGeom prst="rect">
            <a:avLst/>
          </a:prstGeom>
          <a:noFill/>
          <a:ln/>
        </p:spPr>
        <p:txBody>
          <a:bodyPr wrap="square" lIns="0" tIns="0" rIns="0" bIns="0" rtlCol="0" anchor="ctr"/>
          <a:lstStyle/>
          <a:p>
            <a:pPr indent="0" marL="0">
              <a:lnSpc>
                <a:spcPct val="120000"/>
              </a:lnSpc>
              <a:buNone/>
            </a:pPr>
            <a:r>
              <a:rPr lang="en-US" sz="1000" dirty="0">
                <a:solidFill>
                  <a:srgbClr val="8B98A8"/>
                </a:solidFill>
                <a:latin typeface="Calibri" pitchFamily="34" charset="0"/>
                <a:ea typeface="Calibri" pitchFamily="34" charset="-122"/>
                <a:cs typeface="Calibri" pitchFamily="34" charset="-120"/>
              </a:rPr>
              <a:t>Every backend module, every relationship</a:t>
            </a:r>
            <a:endParaRPr lang="en-US" sz="1000" dirty="0"/>
          </a:p>
        </p:txBody>
      </p:sp>
      <p:sp>
        <p:nvSpPr>
          <p:cNvPr id="9" name="Shape 6"/>
          <p:cNvSpPr/>
          <p:nvPr/>
        </p:nvSpPr>
        <p:spPr>
          <a:xfrm>
            <a:off x="4328160" y="1600200"/>
            <a:ext cx="3505200" cy="1417320"/>
          </a:xfrm>
          <a:prstGeom prst="roundRect">
            <a:avLst>
              <a:gd name="adj" fmla="val 5161"/>
            </a:avLst>
          </a:prstGeom>
          <a:solidFill>
            <a:srgbClr val="1A2330"/>
          </a:solidFill>
          <a:ln w="12700">
            <a:solidFill>
              <a:srgbClr val="232E3B"/>
            </a:solidFill>
            <a:prstDash val="solid"/>
          </a:ln>
          <a:effectLst>
            <a:outerShdw sx="100000" sy="100000" kx="0" ky="0" algn="bl" rotWithShape="0" blurRad="101600" dist="38100" dir="2700000">
              <a:srgbClr val="000000">
                <a:alpha val="35000"/>
              </a:srgbClr>
            </a:outerShdw>
          </a:effectLst>
        </p:spPr>
      </p:sp>
      <p:sp>
        <p:nvSpPr>
          <p:cNvPr id="10" name="Shape 7"/>
          <p:cNvSpPr/>
          <p:nvPr/>
        </p:nvSpPr>
        <p:spPr>
          <a:xfrm>
            <a:off x="4556760" y="1801368"/>
            <a:ext cx="438912" cy="438912"/>
          </a:xfrm>
          <a:prstGeom prst="ellipse">
            <a:avLst/>
          </a:prstGeom>
          <a:solidFill>
            <a:srgbClr val="1A2330"/>
          </a:solidFill>
          <a:ln w="19050">
            <a:solidFill>
              <a:srgbClr val="5B8DEF"/>
            </a:solidFill>
            <a:prstDash val="solid"/>
          </a:ln>
        </p:spPr>
      </p:sp>
      <p:pic>
        <p:nvPicPr>
          <p:cNvPr id="11" name="Image 1" descr="preencoded.png">    </p:cNvPr>
          <p:cNvPicPr>
            <a:picLocks noChangeAspect="1"/>
          </p:cNvPicPr>
          <p:nvPr/>
        </p:nvPicPr>
        <p:blipFill>
          <a:blip r:embed="rId2"/>
          <a:stretch>
            <a:fillRect/>
          </a:stretch>
        </p:blipFill>
        <p:spPr>
          <a:xfrm>
            <a:off x="4670877" y="1915485"/>
            <a:ext cx="210678" cy="210678"/>
          </a:xfrm>
          <a:prstGeom prst="rect">
            <a:avLst/>
          </a:prstGeom>
        </p:spPr>
      </p:pic>
      <p:sp>
        <p:nvSpPr>
          <p:cNvPr id="12" name="Text 8"/>
          <p:cNvSpPr/>
          <p:nvPr/>
        </p:nvSpPr>
        <p:spPr>
          <a:xfrm>
            <a:off x="5151120" y="1783080"/>
            <a:ext cx="2499360" cy="365760"/>
          </a:xfrm>
          <a:prstGeom prst="rect">
            <a:avLst/>
          </a:prstGeom>
          <a:noFill/>
          <a:ln/>
        </p:spPr>
        <p:txBody>
          <a:bodyPr wrap="square" lIns="0" tIns="0" rIns="0" bIns="0" rtlCol="0" anchor="ctr"/>
          <a:lstStyle/>
          <a:p>
            <a:pPr indent="0" marL="0">
              <a:buNone/>
            </a:pPr>
            <a:r>
              <a:rPr lang="en-US" sz="1300" b="1" dirty="0">
                <a:solidFill>
                  <a:srgbClr val="F2F5F8"/>
                </a:solidFill>
                <a:latin typeface="Arial" pitchFamily="34" charset="0"/>
                <a:ea typeface="Arial" pitchFamily="34" charset="-122"/>
                <a:cs typeface="Arial" pitchFamily="34" charset="-120"/>
              </a:rPr>
              <a:t>2 Sequence Diagrams</a:t>
            </a:r>
            <a:endParaRPr lang="en-US" sz="1300" dirty="0"/>
          </a:p>
        </p:txBody>
      </p:sp>
      <p:sp>
        <p:nvSpPr>
          <p:cNvPr id="13" name="Text 9"/>
          <p:cNvSpPr/>
          <p:nvPr/>
        </p:nvSpPr>
        <p:spPr>
          <a:xfrm>
            <a:off x="4556760" y="2313432"/>
            <a:ext cx="3048000" cy="594360"/>
          </a:xfrm>
          <a:prstGeom prst="rect">
            <a:avLst/>
          </a:prstGeom>
          <a:noFill/>
          <a:ln/>
        </p:spPr>
        <p:txBody>
          <a:bodyPr wrap="square" lIns="0" tIns="0" rIns="0" bIns="0" rtlCol="0" anchor="ctr"/>
          <a:lstStyle/>
          <a:p>
            <a:pPr indent="0" marL="0">
              <a:lnSpc>
                <a:spcPct val="120000"/>
              </a:lnSpc>
              <a:buNone/>
            </a:pPr>
            <a:r>
              <a:rPr lang="en-US" sz="1000" dirty="0">
                <a:solidFill>
                  <a:srgbClr val="8B98A8"/>
                </a:solidFill>
                <a:latin typeface="Calibri" pitchFamily="34" charset="0"/>
                <a:ea typeface="Calibri" pitchFamily="34" charset="-122"/>
                <a:cs typeface="Calibri" pitchFamily="34" charset="-120"/>
              </a:rPr>
              <a:t>Manual RCA flow + autonomous closed loop</a:t>
            </a:r>
            <a:endParaRPr lang="en-US" sz="1000" dirty="0"/>
          </a:p>
        </p:txBody>
      </p:sp>
      <p:sp>
        <p:nvSpPr>
          <p:cNvPr id="14" name="Shape 10"/>
          <p:cNvSpPr/>
          <p:nvPr/>
        </p:nvSpPr>
        <p:spPr>
          <a:xfrm>
            <a:off x="8107680" y="1600200"/>
            <a:ext cx="3505200" cy="1417320"/>
          </a:xfrm>
          <a:prstGeom prst="roundRect">
            <a:avLst>
              <a:gd name="adj" fmla="val 5161"/>
            </a:avLst>
          </a:prstGeom>
          <a:solidFill>
            <a:srgbClr val="1A2330"/>
          </a:solidFill>
          <a:ln w="12700">
            <a:solidFill>
              <a:srgbClr val="232E3B"/>
            </a:solidFill>
            <a:prstDash val="solid"/>
          </a:ln>
          <a:effectLst>
            <a:outerShdw sx="100000" sy="100000" kx="0" ky="0" algn="bl" rotWithShape="0" blurRad="101600" dist="38100" dir="2700000">
              <a:srgbClr val="000000">
                <a:alpha val="35000"/>
              </a:srgbClr>
            </a:outerShdw>
          </a:effectLst>
        </p:spPr>
      </p:sp>
      <p:sp>
        <p:nvSpPr>
          <p:cNvPr id="15" name="Shape 11"/>
          <p:cNvSpPr/>
          <p:nvPr/>
        </p:nvSpPr>
        <p:spPr>
          <a:xfrm>
            <a:off x="8336280" y="1801368"/>
            <a:ext cx="438912" cy="438912"/>
          </a:xfrm>
          <a:prstGeom prst="ellipse">
            <a:avLst/>
          </a:prstGeom>
          <a:solidFill>
            <a:srgbClr val="1A2330"/>
          </a:solidFill>
          <a:ln w="19050">
            <a:solidFill>
              <a:srgbClr val="FF8A3D"/>
            </a:solidFill>
            <a:prstDash val="solid"/>
          </a:ln>
        </p:spPr>
      </p:sp>
      <p:pic>
        <p:nvPicPr>
          <p:cNvPr id="16" name="Image 2" descr="preencoded.png">    </p:cNvPr>
          <p:cNvPicPr>
            <a:picLocks noChangeAspect="1"/>
          </p:cNvPicPr>
          <p:nvPr/>
        </p:nvPicPr>
        <p:blipFill>
          <a:blip r:embed="rId3"/>
          <a:stretch>
            <a:fillRect/>
          </a:stretch>
        </p:blipFill>
        <p:spPr>
          <a:xfrm>
            <a:off x="8450397" y="1915485"/>
            <a:ext cx="210678" cy="210678"/>
          </a:xfrm>
          <a:prstGeom prst="rect">
            <a:avLst/>
          </a:prstGeom>
        </p:spPr>
      </p:pic>
      <p:sp>
        <p:nvSpPr>
          <p:cNvPr id="17" name="Text 12"/>
          <p:cNvSpPr/>
          <p:nvPr/>
        </p:nvSpPr>
        <p:spPr>
          <a:xfrm>
            <a:off x="8930640" y="1783080"/>
            <a:ext cx="2499360" cy="365760"/>
          </a:xfrm>
          <a:prstGeom prst="rect">
            <a:avLst/>
          </a:prstGeom>
          <a:noFill/>
          <a:ln/>
        </p:spPr>
        <p:txBody>
          <a:bodyPr wrap="square" lIns="0" tIns="0" rIns="0" bIns="0" rtlCol="0" anchor="ctr"/>
          <a:lstStyle/>
          <a:p>
            <a:pPr indent="0" marL="0">
              <a:buNone/>
            </a:pPr>
            <a:r>
              <a:rPr lang="en-US" sz="1300" b="1" dirty="0">
                <a:solidFill>
                  <a:srgbClr val="F2F5F8"/>
                </a:solidFill>
                <a:latin typeface="Arial" pitchFamily="34" charset="0"/>
                <a:ea typeface="Arial" pitchFamily="34" charset="-122"/>
                <a:cs typeface="Arial" pitchFamily="34" charset="-120"/>
              </a:rPr>
              <a:t>State Diagram</a:t>
            </a:r>
            <a:endParaRPr lang="en-US" sz="1300" dirty="0"/>
          </a:p>
        </p:txBody>
      </p:sp>
      <p:sp>
        <p:nvSpPr>
          <p:cNvPr id="18" name="Text 13"/>
          <p:cNvSpPr/>
          <p:nvPr/>
        </p:nvSpPr>
        <p:spPr>
          <a:xfrm>
            <a:off x="8336280" y="2313432"/>
            <a:ext cx="3048000" cy="594360"/>
          </a:xfrm>
          <a:prstGeom prst="rect">
            <a:avLst/>
          </a:prstGeom>
          <a:noFill/>
          <a:ln/>
        </p:spPr>
        <p:txBody>
          <a:bodyPr wrap="square" lIns="0" tIns="0" rIns="0" bIns="0" rtlCol="0" anchor="ctr"/>
          <a:lstStyle/>
          <a:p>
            <a:pPr indent="0" marL="0">
              <a:lnSpc>
                <a:spcPct val="120000"/>
              </a:lnSpc>
              <a:buNone/>
            </a:pPr>
            <a:r>
              <a:rPr lang="en-US" sz="1000" dirty="0">
                <a:solidFill>
                  <a:srgbClr val="8B98A8"/>
                </a:solidFill>
                <a:latin typeface="Calibri" pitchFamily="34" charset="0"/>
                <a:ea typeface="Calibri" pitchFamily="34" charset="-122"/>
                <a:cs typeface="Calibri" pitchFamily="34" charset="-120"/>
              </a:rPr>
              <a:t>Agent's 6-state machine, MONITORING to OPTIMIZING</a:t>
            </a:r>
            <a:endParaRPr lang="en-US" sz="1000" dirty="0"/>
          </a:p>
        </p:txBody>
      </p:sp>
      <p:sp>
        <p:nvSpPr>
          <p:cNvPr id="19" name="Shape 14"/>
          <p:cNvSpPr/>
          <p:nvPr/>
        </p:nvSpPr>
        <p:spPr>
          <a:xfrm>
            <a:off x="548640" y="3246120"/>
            <a:ext cx="3505200" cy="1417320"/>
          </a:xfrm>
          <a:prstGeom prst="roundRect">
            <a:avLst>
              <a:gd name="adj" fmla="val 5161"/>
            </a:avLst>
          </a:prstGeom>
          <a:solidFill>
            <a:srgbClr val="1A2330"/>
          </a:solidFill>
          <a:ln w="12700">
            <a:solidFill>
              <a:srgbClr val="232E3B"/>
            </a:solidFill>
            <a:prstDash val="solid"/>
          </a:ln>
          <a:effectLst>
            <a:outerShdw sx="100000" sy="100000" kx="0" ky="0" algn="bl" rotWithShape="0" blurRad="101600" dist="38100" dir="2700000">
              <a:srgbClr val="000000">
                <a:alpha val="35000"/>
              </a:srgbClr>
            </a:outerShdw>
          </a:effectLst>
        </p:spPr>
      </p:sp>
      <p:sp>
        <p:nvSpPr>
          <p:cNvPr id="20" name="Shape 15"/>
          <p:cNvSpPr/>
          <p:nvPr/>
        </p:nvSpPr>
        <p:spPr>
          <a:xfrm>
            <a:off x="777240" y="3447288"/>
            <a:ext cx="438912" cy="438912"/>
          </a:xfrm>
          <a:prstGeom prst="ellipse">
            <a:avLst/>
          </a:prstGeom>
          <a:solidFill>
            <a:srgbClr val="1A2330"/>
          </a:solidFill>
          <a:ln w="19050">
            <a:solidFill>
              <a:srgbClr val="3ED598"/>
            </a:solidFill>
            <a:prstDash val="solid"/>
          </a:ln>
        </p:spPr>
      </p:sp>
      <p:pic>
        <p:nvPicPr>
          <p:cNvPr id="21" name="Image 3" descr="preencoded.png">    </p:cNvPr>
          <p:cNvPicPr>
            <a:picLocks noChangeAspect="1"/>
          </p:cNvPicPr>
          <p:nvPr/>
        </p:nvPicPr>
        <p:blipFill>
          <a:blip r:embed="rId4"/>
          <a:stretch>
            <a:fillRect/>
          </a:stretch>
        </p:blipFill>
        <p:spPr>
          <a:xfrm>
            <a:off x="891357" y="3561405"/>
            <a:ext cx="210678" cy="210678"/>
          </a:xfrm>
          <a:prstGeom prst="rect">
            <a:avLst/>
          </a:prstGeom>
        </p:spPr>
      </p:pic>
      <p:sp>
        <p:nvSpPr>
          <p:cNvPr id="22" name="Text 16"/>
          <p:cNvSpPr/>
          <p:nvPr/>
        </p:nvSpPr>
        <p:spPr>
          <a:xfrm>
            <a:off x="1371600" y="3429000"/>
            <a:ext cx="2499360" cy="365760"/>
          </a:xfrm>
          <a:prstGeom prst="rect">
            <a:avLst/>
          </a:prstGeom>
          <a:noFill/>
          <a:ln/>
        </p:spPr>
        <p:txBody>
          <a:bodyPr wrap="square" lIns="0" tIns="0" rIns="0" bIns="0" rtlCol="0" anchor="ctr"/>
          <a:lstStyle/>
          <a:p>
            <a:pPr indent="0" marL="0">
              <a:buNone/>
            </a:pPr>
            <a:r>
              <a:rPr lang="en-US" sz="1300" b="1" dirty="0">
                <a:solidFill>
                  <a:srgbClr val="F2F5F8"/>
                </a:solidFill>
                <a:latin typeface="Arial" pitchFamily="34" charset="0"/>
                <a:ea typeface="Arial" pitchFamily="34" charset="-122"/>
                <a:cs typeface="Arial" pitchFamily="34" charset="-120"/>
              </a:rPr>
              <a:t>Component Diagram</a:t>
            </a:r>
            <a:endParaRPr lang="en-US" sz="1300" dirty="0"/>
          </a:p>
        </p:txBody>
      </p:sp>
      <p:sp>
        <p:nvSpPr>
          <p:cNvPr id="23" name="Text 17"/>
          <p:cNvSpPr/>
          <p:nvPr/>
        </p:nvSpPr>
        <p:spPr>
          <a:xfrm>
            <a:off x="777240" y="3959352"/>
            <a:ext cx="3048000" cy="594360"/>
          </a:xfrm>
          <a:prstGeom prst="rect">
            <a:avLst/>
          </a:prstGeom>
          <a:noFill/>
          <a:ln/>
        </p:spPr>
        <p:txBody>
          <a:bodyPr wrap="square" lIns="0" tIns="0" rIns="0" bIns="0" rtlCol="0" anchor="ctr"/>
          <a:lstStyle/>
          <a:p>
            <a:pPr indent="0" marL="0">
              <a:lnSpc>
                <a:spcPct val="120000"/>
              </a:lnSpc>
              <a:buNone/>
            </a:pPr>
            <a:r>
              <a:rPr lang="en-US" sz="1000" dirty="0">
                <a:solidFill>
                  <a:srgbClr val="8B98A8"/>
                </a:solidFill>
                <a:latin typeface="Calibri" pitchFamily="34" charset="0"/>
                <a:ea typeface="Calibri" pitchFamily="34" charset="-122"/>
                <a:cs typeface="Calibri" pitchFamily="34" charset="-120"/>
              </a:rPr>
              <a:t>Full system by tier — client, API, domain, data</a:t>
            </a:r>
            <a:endParaRPr lang="en-US" sz="1000" dirty="0"/>
          </a:p>
        </p:txBody>
      </p:sp>
      <p:sp>
        <p:nvSpPr>
          <p:cNvPr id="24" name="Shape 18"/>
          <p:cNvSpPr/>
          <p:nvPr/>
        </p:nvSpPr>
        <p:spPr>
          <a:xfrm>
            <a:off x="4328160" y="3246120"/>
            <a:ext cx="3505200" cy="1417320"/>
          </a:xfrm>
          <a:prstGeom prst="roundRect">
            <a:avLst>
              <a:gd name="adj" fmla="val 5161"/>
            </a:avLst>
          </a:prstGeom>
          <a:solidFill>
            <a:srgbClr val="1A2330"/>
          </a:solidFill>
          <a:ln w="12700">
            <a:solidFill>
              <a:srgbClr val="232E3B"/>
            </a:solidFill>
            <a:prstDash val="solid"/>
          </a:ln>
          <a:effectLst>
            <a:outerShdw sx="100000" sy="100000" kx="0" ky="0" algn="bl" rotWithShape="0" blurRad="101600" dist="38100" dir="2700000">
              <a:srgbClr val="000000">
                <a:alpha val="35000"/>
              </a:srgbClr>
            </a:outerShdw>
          </a:effectLst>
        </p:spPr>
      </p:sp>
      <p:sp>
        <p:nvSpPr>
          <p:cNvPr id="25" name="Shape 19"/>
          <p:cNvSpPr/>
          <p:nvPr/>
        </p:nvSpPr>
        <p:spPr>
          <a:xfrm>
            <a:off x="4556760" y="3447288"/>
            <a:ext cx="438912" cy="438912"/>
          </a:xfrm>
          <a:prstGeom prst="ellipse">
            <a:avLst/>
          </a:prstGeom>
          <a:solidFill>
            <a:srgbClr val="1A2330"/>
          </a:solidFill>
          <a:ln w="19050">
            <a:solidFill>
              <a:srgbClr val="FF5C5C"/>
            </a:solidFill>
            <a:prstDash val="solid"/>
          </a:ln>
        </p:spPr>
      </p:sp>
      <p:pic>
        <p:nvPicPr>
          <p:cNvPr id="26" name="Image 4" descr="preencoded.png">    </p:cNvPr>
          <p:cNvPicPr>
            <a:picLocks noChangeAspect="1"/>
          </p:cNvPicPr>
          <p:nvPr/>
        </p:nvPicPr>
        <p:blipFill>
          <a:blip r:embed="rId5"/>
          <a:stretch>
            <a:fillRect/>
          </a:stretch>
        </p:blipFill>
        <p:spPr>
          <a:xfrm>
            <a:off x="4670877" y="3561405"/>
            <a:ext cx="210678" cy="210678"/>
          </a:xfrm>
          <a:prstGeom prst="rect">
            <a:avLst/>
          </a:prstGeom>
        </p:spPr>
      </p:pic>
      <p:sp>
        <p:nvSpPr>
          <p:cNvPr id="27" name="Text 20"/>
          <p:cNvSpPr/>
          <p:nvPr/>
        </p:nvSpPr>
        <p:spPr>
          <a:xfrm>
            <a:off x="5151120" y="3429000"/>
            <a:ext cx="2499360" cy="365760"/>
          </a:xfrm>
          <a:prstGeom prst="rect">
            <a:avLst/>
          </a:prstGeom>
          <a:noFill/>
          <a:ln/>
        </p:spPr>
        <p:txBody>
          <a:bodyPr wrap="square" lIns="0" tIns="0" rIns="0" bIns="0" rtlCol="0" anchor="ctr"/>
          <a:lstStyle/>
          <a:p>
            <a:pPr indent="0" marL="0">
              <a:buNone/>
            </a:pPr>
            <a:r>
              <a:rPr lang="en-US" sz="1300" b="1" dirty="0">
                <a:solidFill>
                  <a:srgbClr val="F2F5F8"/>
                </a:solidFill>
                <a:latin typeface="Arial" pitchFamily="34" charset="0"/>
                <a:ea typeface="Arial" pitchFamily="34" charset="-122"/>
                <a:cs typeface="Arial" pitchFamily="34" charset="-120"/>
              </a:rPr>
              <a:t>Deployment Diagram</a:t>
            </a:r>
            <a:endParaRPr lang="en-US" sz="1300" dirty="0"/>
          </a:p>
        </p:txBody>
      </p:sp>
      <p:sp>
        <p:nvSpPr>
          <p:cNvPr id="28" name="Text 21"/>
          <p:cNvSpPr/>
          <p:nvPr/>
        </p:nvSpPr>
        <p:spPr>
          <a:xfrm>
            <a:off x="4556760" y="3959352"/>
            <a:ext cx="3048000" cy="594360"/>
          </a:xfrm>
          <a:prstGeom prst="rect">
            <a:avLst/>
          </a:prstGeom>
          <a:noFill/>
          <a:ln/>
        </p:spPr>
        <p:txBody>
          <a:bodyPr wrap="square" lIns="0" tIns="0" rIns="0" bIns="0" rtlCol="0" anchor="ctr"/>
          <a:lstStyle/>
          <a:p>
            <a:pPr indent="0" marL="0">
              <a:lnSpc>
                <a:spcPct val="120000"/>
              </a:lnSpc>
              <a:buNone/>
            </a:pPr>
            <a:r>
              <a:rPr lang="en-US" sz="1000" dirty="0">
                <a:solidFill>
                  <a:srgbClr val="8B98A8"/>
                </a:solidFill>
                <a:latin typeface="Calibri" pitchFamily="34" charset="0"/>
                <a:ea typeface="Calibri" pitchFamily="34" charset="-122"/>
                <a:cs typeface="Calibri" pitchFamily="34" charset="-120"/>
              </a:rPr>
              <a:t>Physical runtime nodes, local and cloud</a:t>
            </a:r>
            <a:endParaRPr lang="en-US" sz="1000" dirty="0"/>
          </a:p>
        </p:txBody>
      </p:sp>
      <p:sp>
        <p:nvSpPr>
          <p:cNvPr id="29" name="Shape 22"/>
          <p:cNvSpPr/>
          <p:nvPr/>
        </p:nvSpPr>
        <p:spPr>
          <a:xfrm>
            <a:off x="8107680" y="3246120"/>
            <a:ext cx="3505200" cy="1417320"/>
          </a:xfrm>
          <a:prstGeom prst="roundRect">
            <a:avLst>
              <a:gd name="adj" fmla="val 5161"/>
            </a:avLst>
          </a:prstGeom>
          <a:solidFill>
            <a:srgbClr val="1A2330"/>
          </a:solidFill>
          <a:ln w="12700">
            <a:solidFill>
              <a:srgbClr val="232E3B"/>
            </a:solidFill>
            <a:prstDash val="solid"/>
          </a:ln>
          <a:effectLst>
            <a:outerShdw sx="100000" sy="100000" kx="0" ky="0" algn="bl" rotWithShape="0" blurRad="101600" dist="38100" dir="2700000">
              <a:srgbClr val="000000">
                <a:alpha val="35000"/>
              </a:srgbClr>
            </a:outerShdw>
          </a:effectLst>
        </p:spPr>
      </p:sp>
      <p:sp>
        <p:nvSpPr>
          <p:cNvPr id="30" name="Shape 23"/>
          <p:cNvSpPr/>
          <p:nvPr/>
        </p:nvSpPr>
        <p:spPr>
          <a:xfrm>
            <a:off x="8336280" y="3447288"/>
            <a:ext cx="438912" cy="438912"/>
          </a:xfrm>
          <a:prstGeom prst="ellipse">
            <a:avLst/>
          </a:prstGeom>
          <a:solidFill>
            <a:srgbClr val="1A2330"/>
          </a:solidFill>
          <a:ln w="19050">
            <a:solidFill>
              <a:srgbClr val="4FD1E8"/>
            </a:solidFill>
            <a:prstDash val="solid"/>
          </a:ln>
        </p:spPr>
      </p:sp>
      <p:pic>
        <p:nvPicPr>
          <p:cNvPr id="31" name="Image 5" descr="preencoded.png">    </p:cNvPr>
          <p:cNvPicPr>
            <a:picLocks noChangeAspect="1"/>
          </p:cNvPicPr>
          <p:nvPr/>
        </p:nvPicPr>
        <p:blipFill>
          <a:blip r:embed="rId6"/>
          <a:stretch>
            <a:fillRect/>
          </a:stretch>
        </p:blipFill>
        <p:spPr>
          <a:xfrm>
            <a:off x="8450397" y="3561405"/>
            <a:ext cx="210678" cy="210678"/>
          </a:xfrm>
          <a:prstGeom prst="rect">
            <a:avLst/>
          </a:prstGeom>
        </p:spPr>
      </p:pic>
      <p:sp>
        <p:nvSpPr>
          <p:cNvPr id="32" name="Text 24"/>
          <p:cNvSpPr/>
          <p:nvPr/>
        </p:nvSpPr>
        <p:spPr>
          <a:xfrm>
            <a:off x="8930640" y="3429000"/>
            <a:ext cx="2499360" cy="365760"/>
          </a:xfrm>
          <a:prstGeom prst="rect">
            <a:avLst/>
          </a:prstGeom>
          <a:noFill/>
          <a:ln/>
        </p:spPr>
        <p:txBody>
          <a:bodyPr wrap="square" lIns="0" tIns="0" rIns="0" bIns="0" rtlCol="0" anchor="ctr"/>
          <a:lstStyle/>
          <a:p>
            <a:pPr indent="0" marL="0">
              <a:buNone/>
            </a:pPr>
            <a:r>
              <a:rPr lang="en-US" sz="1300" b="1" dirty="0">
                <a:solidFill>
                  <a:srgbClr val="F2F5F8"/>
                </a:solidFill>
                <a:latin typeface="Arial" pitchFamily="34" charset="0"/>
                <a:ea typeface="Arial" pitchFamily="34" charset="-122"/>
                <a:cs typeface="Arial" pitchFamily="34" charset="-120"/>
              </a:rPr>
              <a:t>ER Diagram</a:t>
            </a:r>
            <a:endParaRPr lang="en-US" sz="1300" dirty="0"/>
          </a:p>
        </p:txBody>
      </p:sp>
      <p:sp>
        <p:nvSpPr>
          <p:cNvPr id="33" name="Text 25"/>
          <p:cNvSpPr/>
          <p:nvPr/>
        </p:nvSpPr>
        <p:spPr>
          <a:xfrm>
            <a:off x="8336280" y="3959352"/>
            <a:ext cx="3048000" cy="594360"/>
          </a:xfrm>
          <a:prstGeom prst="rect">
            <a:avLst/>
          </a:prstGeom>
          <a:noFill/>
          <a:ln/>
        </p:spPr>
        <p:txBody>
          <a:bodyPr wrap="square" lIns="0" tIns="0" rIns="0" bIns="0" rtlCol="0" anchor="ctr"/>
          <a:lstStyle/>
          <a:p>
            <a:pPr indent="0" marL="0">
              <a:lnSpc>
                <a:spcPct val="120000"/>
              </a:lnSpc>
              <a:buNone/>
            </a:pPr>
            <a:r>
              <a:rPr lang="en-US" sz="1000" dirty="0">
                <a:solidFill>
                  <a:srgbClr val="8B98A8"/>
                </a:solidFill>
                <a:latin typeface="Calibri" pitchFamily="34" charset="0"/>
                <a:ea typeface="Calibri" pitchFamily="34" charset="-122"/>
                <a:cs typeface="Calibri" pitchFamily="34" charset="-120"/>
              </a:rPr>
              <a:t>SQLite schema — 6 tables, indexed relationships</a:t>
            </a:r>
            <a:endParaRPr lang="en-US" sz="1000" dirty="0"/>
          </a:p>
        </p:txBody>
      </p:sp>
      <p:sp>
        <p:nvSpPr>
          <p:cNvPr id="34" name="Shape 26"/>
          <p:cNvSpPr/>
          <p:nvPr/>
        </p:nvSpPr>
        <p:spPr>
          <a:xfrm>
            <a:off x="548640" y="4709160"/>
            <a:ext cx="11064240" cy="1280160"/>
          </a:xfrm>
          <a:prstGeom prst="roundRect">
            <a:avLst>
              <a:gd name="adj" fmla="val 5714"/>
            </a:avLst>
          </a:prstGeom>
          <a:solidFill>
            <a:srgbClr val="141B24"/>
          </a:solidFill>
          <a:ln w="12700">
            <a:solidFill>
              <a:srgbClr val="FF8A3D"/>
            </a:solidFill>
            <a:prstDash val="solid"/>
          </a:ln>
          <a:effectLst>
            <a:outerShdw sx="100000" sy="100000" kx="0" ky="0" algn="bl" rotWithShape="0" blurRad="101600" dist="38100" dir="2700000">
              <a:srgbClr val="000000">
                <a:alpha val="35000"/>
              </a:srgbClr>
            </a:outerShdw>
          </a:effectLst>
        </p:spPr>
      </p:sp>
      <p:sp>
        <p:nvSpPr>
          <p:cNvPr id="35" name="Text 27"/>
          <p:cNvSpPr/>
          <p:nvPr/>
        </p:nvSpPr>
        <p:spPr>
          <a:xfrm>
            <a:off x="914400" y="4892040"/>
            <a:ext cx="10332720" cy="320040"/>
          </a:xfrm>
          <a:prstGeom prst="rect">
            <a:avLst/>
          </a:prstGeom>
          <a:noFill/>
          <a:ln/>
        </p:spPr>
        <p:txBody>
          <a:bodyPr wrap="square" lIns="0" tIns="0" rIns="0" bIns="0" rtlCol="0" anchor="ctr"/>
          <a:lstStyle/>
          <a:p>
            <a:pPr indent="0" marL="0">
              <a:buNone/>
            </a:pPr>
            <a:r>
              <a:rPr lang="en-US" sz="1300" b="1" dirty="0">
                <a:solidFill>
                  <a:srgbClr val="FF8A3D"/>
                </a:solidFill>
                <a:latin typeface="Arial" pitchFamily="34" charset="0"/>
                <a:ea typeface="Arial" pitchFamily="34" charset="-122"/>
                <a:cs typeface="Arial" pitchFamily="34" charset="-120"/>
              </a:rPr>
              <a:t>Plus: 6 documented Architecture Decision Records (ADRs) explaining WHY each key choice was made —</a:t>
            </a:r>
            <a:endParaRPr lang="en-US" sz="1300" dirty="0"/>
          </a:p>
        </p:txBody>
      </p:sp>
      <p:sp>
        <p:nvSpPr>
          <p:cNvPr id="36" name="Text 28"/>
          <p:cNvSpPr/>
          <p:nvPr/>
        </p:nvSpPr>
        <p:spPr>
          <a:xfrm>
            <a:off x="914400" y="5230368"/>
            <a:ext cx="10332720" cy="640080"/>
          </a:xfrm>
          <a:prstGeom prst="rect">
            <a:avLst/>
          </a:prstGeom>
          <a:noFill/>
          <a:ln/>
        </p:spPr>
        <p:txBody>
          <a:bodyPr wrap="square" lIns="0" tIns="0" rIns="0" bIns="0" rtlCol="0" anchor="ctr"/>
          <a:lstStyle/>
          <a:p>
            <a:pPr indent="0" marL="0">
              <a:lnSpc>
                <a:spcPct val="125000"/>
              </a:lnSpc>
              <a:buNone/>
            </a:pPr>
            <a:r>
              <a:rPr lang="en-US" sz="1100" dirty="0">
                <a:solidFill>
                  <a:srgbClr val="8B98A8"/>
                </a:solidFill>
                <a:latin typeface="Calibri" pitchFamily="34" charset="0"/>
                <a:ea typeface="Calibri" pitchFamily="34" charset="-122"/>
                <a:cs typeface="Calibri" pitchFamily="34" charset="-120"/>
              </a:rPr>
              <a:t>TF-IDF over embeddings, rule+statistics over ML, SQLite over managed DB, in-process MCP over full SDK, the concurrency bug fix, and ARIA's read-only design. Full technical design document: 14 sections, API contract (OpenAPI), requirements traceability matrix.</a:t>
            </a:r>
            <a:endParaRPr lang="en-US" sz="1100" dirty="0"/>
          </a:p>
        </p:txBody>
      </p:sp>
      <p:sp>
        <p:nvSpPr>
          <p:cNvPr id="37" name="Text 29"/>
          <p:cNvSpPr/>
          <p:nvPr/>
        </p:nvSpPr>
        <p:spPr>
          <a:xfrm>
            <a:off x="11338560" y="6355080"/>
            <a:ext cx="457200" cy="320040"/>
          </a:xfrm>
          <a:prstGeom prst="rect">
            <a:avLst/>
          </a:prstGeom>
          <a:noFill/>
          <a:ln/>
        </p:spPr>
        <p:txBody>
          <a:bodyPr wrap="square" lIns="0" tIns="0" rIns="0" bIns="0" rtlCol="0" anchor="ctr"/>
          <a:lstStyle/>
          <a:p>
            <a:pPr algn="r" indent="0" marL="0">
              <a:buNone/>
            </a:pPr>
            <a:r>
              <a:rPr lang="en-US" sz="1000" dirty="0">
                <a:solidFill>
                  <a:srgbClr val="8B98A8"/>
                </a:solidFill>
                <a:latin typeface="Calibri" pitchFamily="34" charset="0"/>
                <a:ea typeface="Calibri" pitchFamily="34" charset="-122"/>
                <a:cs typeface="Calibri" pitchFamily="34" charset="-120"/>
              </a:rPr>
              <a:t>4</a:t>
            </a:r>
            <a:endParaRPr lang="en-US" sz="1000" dirty="0"/>
          </a:p>
        </p:txBody>
      </p:sp>
      <p:sp>
        <p:nvSpPr>
          <p:cNvPr id="38" name="Text 30"/>
          <p:cNvSpPr/>
          <p:nvPr/>
        </p:nvSpPr>
        <p:spPr>
          <a:xfrm>
            <a:off x="548640" y="6355080"/>
            <a:ext cx="4572000" cy="320040"/>
          </a:xfrm>
          <a:prstGeom prst="rect">
            <a:avLst/>
          </a:prstGeom>
          <a:noFill/>
          <a:ln/>
        </p:spPr>
        <p:txBody>
          <a:bodyPr wrap="square" lIns="0" tIns="0" rIns="0" bIns="0" rtlCol="0" anchor="ctr"/>
          <a:lstStyle/>
          <a:p>
            <a:pPr indent="0" marL="0">
              <a:buNone/>
            </a:pPr>
            <a:r>
              <a:rPr lang="en-US" sz="900" spc="100" kern="0" dirty="0">
                <a:solidFill>
                  <a:srgbClr val="8B98A8"/>
                </a:solidFill>
                <a:latin typeface="Calibri" pitchFamily="34" charset="0"/>
                <a:ea typeface="Calibri" pitchFamily="34" charset="-122"/>
                <a:cs typeface="Calibri" pitchFamily="34" charset="-120"/>
              </a:rPr>
              <a:t>EI-NEXUS · MCP MAVERICKS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E13"/>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lIns="0" tIns="0" rIns="0" bIns="0" rtlCol="0" anchor="ctr"/>
          <a:lstStyle/>
          <a:p>
            <a:pPr indent="0" marL="0">
              <a:buNone/>
            </a:pPr>
            <a:r>
              <a:rPr lang="en-US" sz="1200" b="1" spc="200" kern="0" dirty="0">
                <a:solidFill>
                  <a:srgbClr val="FF8A3D"/>
                </a:solidFill>
                <a:latin typeface="Calibri" pitchFamily="34" charset="0"/>
                <a:ea typeface="Calibri" pitchFamily="34" charset="-122"/>
                <a:cs typeface="Calibri" pitchFamily="34" charset="-120"/>
              </a:rPr>
              <a:t>CRITERION 3 · ENGINEERING / BUILD QUALITY</a:t>
            </a:r>
            <a:endParaRPr lang="en-US" sz="1200" dirty="0"/>
          </a:p>
        </p:txBody>
      </p:sp>
      <p:sp>
        <p:nvSpPr>
          <p:cNvPr id="3" name="Text 1"/>
          <p:cNvSpPr/>
          <p:nvPr/>
        </p:nvSpPr>
        <p:spPr>
          <a:xfrm>
            <a:off x="548640" y="685800"/>
            <a:ext cx="10515600" cy="822960"/>
          </a:xfrm>
          <a:prstGeom prst="rect">
            <a:avLst/>
          </a:prstGeom>
          <a:noFill/>
          <a:ln/>
        </p:spPr>
        <p:txBody>
          <a:bodyPr wrap="square" lIns="0" tIns="0" rIns="0" bIns="0" rtlCol="0" anchor="ctr"/>
          <a:lstStyle/>
          <a:p>
            <a:pPr indent="0" marL="0">
              <a:buNone/>
            </a:pPr>
            <a:r>
              <a:rPr lang="en-US" sz="3000" b="1" dirty="0">
                <a:solidFill>
                  <a:srgbClr val="F2F5F8"/>
                </a:solidFill>
                <a:latin typeface="Arial" pitchFamily="34" charset="0"/>
                <a:ea typeface="Arial" pitchFamily="34" charset="-122"/>
                <a:cs typeface="Arial" pitchFamily="34" charset="-120"/>
              </a:rPr>
              <a:t>Real SDLC discipline, not vibes-based coding</a:t>
            </a:r>
            <a:endParaRPr lang="en-US" sz="3000" dirty="0"/>
          </a:p>
        </p:txBody>
      </p:sp>
      <p:sp>
        <p:nvSpPr>
          <p:cNvPr id="4" name="Shape 2"/>
          <p:cNvSpPr/>
          <p:nvPr/>
        </p:nvSpPr>
        <p:spPr>
          <a:xfrm>
            <a:off x="548640" y="1600200"/>
            <a:ext cx="2560320" cy="1417320"/>
          </a:xfrm>
          <a:prstGeom prst="roundRect">
            <a:avLst>
              <a:gd name="adj" fmla="val 5161"/>
            </a:avLst>
          </a:prstGeom>
          <a:solidFill>
            <a:srgbClr val="1A2330"/>
          </a:solidFill>
          <a:ln w="12700">
            <a:solidFill>
              <a:srgbClr val="232E3B"/>
            </a:solidFill>
            <a:prstDash val="solid"/>
          </a:ln>
          <a:effectLst>
            <a:outerShdw sx="100000" sy="100000" kx="0" ky="0" algn="bl" rotWithShape="0" blurRad="101600" dist="38100" dir="2700000">
              <a:srgbClr val="000000">
                <a:alpha val="35000"/>
              </a:srgbClr>
            </a:outerShdw>
          </a:effectLst>
        </p:spPr>
      </p:sp>
      <p:sp>
        <p:nvSpPr>
          <p:cNvPr id="5" name="Text 3"/>
          <p:cNvSpPr/>
          <p:nvPr/>
        </p:nvSpPr>
        <p:spPr>
          <a:xfrm>
            <a:off x="731520" y="1737360"/>
            <a:ext cx="2194560" cy="594360"/>
          </a:xfrm>
          <a:prstGeom prst="rect">
            <a:avLst/>
          </a:prstGeom>
          <a:noFill/>
          <a:ln/>
        </p:spPr>
        <p:txBody>
          <a:bodyPr wrap="square" lIns="0" tIns="0" rIns="0" bIns="0" rtlCol="0" anchor="ctr"/>
          <a:lstStyle/>
          <a:p>
            <a:pPr indent="0" marL="0">
              <a:buNone/>
            </a:pPr>
            <a:r>
              <a:rPr lang="en-US" sz="3200" b="1" dirty="0">
                <a:solidFill>
                  <a:srgbClr val="3ED598"/>
                </a:solidFill>
                <a:latin typeface="Arial" pitchFamily="34" charset="0"/>
                <a:ea typeface="Arial" pitchFamily="34" charset="-122"/>
                <a:cs typeface="Arial" pitchFamily="34" charset="-120"/>
              </a:rPr>
              <a:t>16</a:t>
            </a:r>
            <a:endParaRPr lang="en-US" sz="3200" dirty="0"/>
          </a:p>
        </p:txBody>
      </p:sp>
      <p:sp>
        <p:nvSpPr>
          <p:cNvPr id="6" name="Text 4"/>
          <p:cNvSpPr/>
          <p:nvPr/>
        </p:nvSpPr>
        <p:spPr>
          <a:xfrm>
            <a:off x="731520" y="2331720"/>
            <a:ext cx="2194560" cy="274320"/>
          </a:xfrm>
          <a:prstGeom prst="rect">
            <a:avLst/>
          </a:prstGeom>
          <a:noFill/>
          <a:ln/>
        </p:spPr>
        <p:txBody>
          <a:bodyPr wrap="square" lIns="0" tIns="0" rIns="0" bIns="0" rtlCol="0" anchor="ctr"/>
          <a:lstStyle/>
          <a:p>
            <a:pPr indent="0" marL="0">
              <a:buNone/>
            </a:pPr>
            <a:r>
              <a:rPr lang="en-US" sz="1050" b="1" dirty="0">
                <a:solidFill>
                  <a:srgbClr val="F2F5F8"/>
                </a:solidFill>
                <a:latin typeface="Calibri" pitchFamily="34" charset="0"/>
                <a:ea typeface="Calibri" pitchFamily="34" charset="-122"/>
                <a:cs typeface="Calibri" pitchFamily="34" charset="-120"/>
              </a:rPr>
              <a:t>Automated Tests</a:t>
            </a:r>
            <a:endParaRPr lang="en-US" sz="1050" dirty="0"/>
          </a:p>
        </p:txBody>
      </p:sp>
      <p:sp>
        <p:nvSpPr>
          <p:cNvPr id="7" name="Text 5"/>
          <p:cNvSpPr/>
          <p:nvPr/>
        </p:nvSpPr>
        <p:spPr>
          <a:xfrm>
            <a:off x="731520" y="2606040"/>
            <a:ext cx="2194560" cy="365760"/>
          </a:xfrm>
          <a:prstGeom prst="rect">
            <a:avLst/>
          </a:prstGeom>
          <a:noFill/>
          <a:ln/>
        </p:spPr>
        <p:txBody>
          <a:bodyPr wrap="square" lIns="0" tIns="0" rIns="0" bIns="0" rtlCol="0" anchor="ctr"/>
          <a:lstStyle/>
          <a:p>
            <a:pPr indent="0" marL="0">
              <a:buNone/>
            </a:pPr>
            <a:r>
              <a:rPr lang="en-US" sz="850" i="1" dirty="0">
                <a:solidFill>
                  <a:srgbClr val="8B98A8"/>
                </a:solidFill>
                <a:latin typeface="Calibri" pitchFamily="34" charset="0"/>
                <a:ea typeface="Calibri" pitchFamily="34" charset="-122"/>
                <a:cs typeface="Calibri" pitchFamily="34" charset="-120"/>
              </a:rPr>
              <a:t>python -m unittest — all passing</a:t>
            </a:r>
            <a:endParaRPr lang="en-US" sz="850" dirty="0"/>
          </a:p>
        </p:txBody>
      </p:sp>
      <p:sp>
        <p:nvSpPr>
          <p:cNvPr id="8" name="Shape 6"/>
          <p:cNvSpPr/>
          <p:nvPr/>
        </p:nvSpPr>
        <p:spPr>
          <a:xfrm>
            <a:off x="3383280" y="1600200"/>
            <a:ext cx="2560320" cy="1417320"/>
          </a:xfrm>
          <a:prstGeom prst="roundRect">
            <a:avLst>
              <a:gd name="adj" fmla="val 5161"/>
            </a:avLst>
          </a:prstGeom>
          <a:solidFill>
            <a:srgbClr val="1A2330"/>
          </a:solidFill>
          <a:ln w="12700">
            <a:solidFill>
              <a:srgbClr val="232E3B"/>
            </a:solidFill>
            <a:prstDash val="solid"/>
          </a:ln>
          <a:effectLst>
            <a:outerShdw sx="100000" sy="100000" kx="0" ky="0" algn="bl" rotWithShape="0" blurRad="101600" dist="38100" dir="2700000">
              <a:srgbClr val="000000">
                <a:alpha val="35000"/>
              </a:srgbClr>
            </a:outerShdw>
          </a:effectLst>
        </p:spPr>
      </p:sp>
      <p:sp>
        <p:nvSpPr>
          <p:cNvPr id="9" name="Text 7"/>
          <p:cNvSpPr/>
          <p:nvPr/>
        </p:nvSpPr>
        <p:spPr>
          <a:xfrm>
            <a:off x="3566160" y="1737360"/>
            <a:ext cx="2194560" cy="594360"/>
          </a:xfrm>
          <a:prstGeom prst="rect">
            <a:avLst/>
          </a:prstGeom>
          <a:noFill/>
          <a:ln/>
        </p:spPr>
        <p:txBody>
          <a:bodyPr wrap="square" lIns="0" tIns="0" rIns="0" bIns="0" rtlCol="0" anchor="ctr"/>
          <a:lstStyle/>
          <a:p>
            <a:pPr indent="0" marL="0">
              <a:buNone/>
            </a:pPr>
            <a:r>
              <a:rPr lang="en-US" sz="3200" b="1" dirty="0">
                <a:solidFill>
                  <a:srgbClr val="4FD1E8"/>
                </a:solidFill>
                <a:latin typeface="Arial" pitchFamily="34" charset="0"/>
                <a:ea typeface="Arial" pitchFamily="34" charset="-122"/>
                <a:cs typeface="Arial" pitchFamily="34" charset="-120"/>
              </a:rPr>
              <a:t>21</a:t>
            </a:r>
            <a:endParaRPr lang="en-US" sz="3200" dirty="0"/>
          </a:p>
        </p:txBody>
      </p:sp>
      <p:sp>
        <p:nvSpPr>
          <p:cNvPr id="10" name="Text 8"/>
          <p:cNvSpPr/>
          <p:nvPr/>
        </p:nvSpPr>
        <p:spPr>
          <a:xfrm>
            <a:off x="3566160" y="2331720"/>
            <a:ext cx="2194560" cy="274320"/>
          </a:xfrm>
          <a:prstGeom prst="rect">
            <a:avLst/>
          </a:prstGeom>
          <a:noFill/>
          <a:ln/>
        </p:spPr>
        <p:txBody>
          <a:bodyPr wrap="square" lIns="0" tIns="0" rIns="0" bIns="0" rtlCol="0" anchor="ctr"/>
          <a:lstStyle/>
          <a:p>
            <a:pPr indent="0" marL="0">
              <a:buNone/>
            </a:pPr>
            <a:r>
              <a:rPr lang="en-US" sz="1050" b="1" dirty="0">
                <a:solidFill>
                  <a:srgbClr val="F2F5F8"/>
                </a:solidFill>
                <a:latin typeface="Calibri" pitchFamily="34" charset="0"/>
                <a:ea typeface="Calibri" pitchFamily="34" charset="-122"/>
                <a:cs typeface="Calibri" pitchFamily="34" charset="-120"/>
              </a:rPr>
              <a:t>API Endpoints</a:t>
            </a:r>
            <a:endParaRPr lang="en-US" sz="1050" dirty="0"/>
          </a:p>
        </p:txBody>
      </p:sp>
      <p:sp>
        <p:nvSpPr>
          <p:cNvPr id="11" name="Text 9"/>
          <p:cNvSpPr/>
          <p:nvPr/>
        </p:nvSpPr>
        <p:spPr>
          <a:xfrm>
            <a:off x="3566160" y="2606040"/>
            <a:ext cx="2194560" cy="365760"/>
          </a:xfrm>
          <a:prstGeom prst="rect">
            <a:avLst/>
          </a:prstGeom>
          <a:noFill/>
          <a:ln/>
        </p:spPr>
        <p:txBody>
          <a:bodyPr wrap="square" lIns="0" tIns="0" rIns="0" bIns="0" rtlCol="0" anchor="ctr"/>
          <a:lstStyle/>
          <a:p>
            <a:pPr indent="0" marL="0">
              <a:buNone/>
            </a:pPr>
            <a:r>
              <a:rPr lang="en-US" sz="850" i="1" dirty="0">
                <a:solidFill>
                  <a:srgbClr val="8B98A8"/>
                </a:solidFill>
                <a:latin typeface="Calibri" pitchFamily="34" charset="0"/>
                <a:ea typeface="Calibri" pitchFamily="34" charset="-122"/>
                <a:cs typeface="Calibri" pitchFamily="34" charset="-120"/>
              </a:rPr>
              <a:t>every one documented in OpenAPI</a:t>
            </a:r>
            <a:endParaRPr lang="en-US" sz="850" dirty="0"/>
          </a:p>
        </p:txBody>
      </p:sp>
      <p:sp>
        <p:nvSpPr>
          <p:cNvPr id="12" name="Shape 10"/>
          <p:cNvSpPr/>
          <p:nvPr/>
        </p:nvSpPr>
        <p:spPr>
          <a:xfrm>
            <a:off x="6217920" y="1600200"/>
            <a:ext cx="2560320" cy="1417320"/>
          </a:xfrm>
          <a:prstGeom prst="roundRect">
            <a:avLst>
              <a:gd name="adj" fmla="val 5161"/>
            </a:avLst>
          </a:prstGeom>
          <a:solidFill>
            <a:srgbClr val="1A2330"/>
          </a:solidFill>
          <a:ln w="12700">
            <a:solidFill>
              <a:srgbClr val="232E3B"/>
            </a:solidFill>
            <a:prstDash val="solid"/>
          </a:ln>
          <a:effectLst>
            <a:outerShdw sx="100000" sy="100000" kx="0" ky="0" algn="bl" rotWithShape="0" blurRad="101600" dist="38100" dir="2700000">
              <a:srgbClr val="000000">
                <a:alpha val="35000"/>
              </a:srgbClr>
            </a:outerShdw>
          </a:effectLst>
        </p:spPr>
      </p:sp>
      <p:sp>
        <p:nvSpPr>
          <p:cNvPr id="13" name="Text 11"/>
          <p:cNvSpPr/>
          <p:nvPr/>
        </p:nvSpPr>
        <p:spPr>
          <a:xfrm>
            <a:off x="6400800" y="1737360"/>
            <a:ext cx="2194560" cy="594360"/>
          </a:xfrm>
          <a:prstGeom prst="rect">
            <a:avLst/>
          </a:prstGeom>
          <a:noFill/>
          <a:ln/>
        </p:spPr>
        <p:txBody>
          <a:bodyPr wrap="square" lIns="0" tIns="0" rIns="0" bIns="0" rtlCol="0" anchor="ctr"/>
          <a:lstStyle/>
          <a:p>
            <a:pPr indent="0" marL="0">
              <a:buNone/>
            </a:pPr>
            <a:r>
              <a:rPr lang="en-US" sz="3200" b="1" dirty="0">
                <a:solidFill>
                  <a:srgbClr val="FF8A3D"/>
                </a:solidFill>
                <a:latin typeface="Arial" pitchFamily="34" charset="0"/>
                <a:ea typeface="Arial" pitchFamily="34" charset="-122"/>
                <a:cs typeface="Arial" pitchFamily="34" charset="-120"/>
              </a:rPr>
              <a:t>6</a:t>
            </a:r>
            <a:endParaRPr lang="en-US" sz="3200" dirty="0"/>
          </a:p>
        </p:txBody>
      </p:sp>
      <p:sp>
        <p:nvSpPr>
          <p:cNvPr id="14" name="Text 12"/>
          <p:cNvSpPr/>
          <p:nvPr/>
        </p:nvSpPr>
        <p:spPr>
          <a:xfrm>
            <a:off x="6400800" y="2331720"/>
            <a:ext cx="2194560" cy="274320"/>
          </a:xfrm>
          <a:prstGeom prst="rect">
            <a:avLst/>
          </a:prstGeom>
          <a:noFill/>
          <a:ln/>
        </p:spPr>
        <p:txBody>
          <a:bodyPr wrap="square" lIns="0" tIns="0" rIns="0" bIns="0" rtlCol="0" anchor="ctr"/>
          <a:lstStyle/>
          <a:p>
            <a:pPr indent="0" marL="0">
              <a:buNone/>
            </a:pPr>
            <a:r>
              <a:rPr lang="en-US" sz="1050" b="1" dirty="0">
                <a:solidFill>
                  <a:srgbClr val="F2F5F8"/>
                </a:solidFill>
                <a:latin typeface="Calibri" pitchFamily="34" charset="0"/>
                <a:ea typeface="Calibri" pitchFamily="34" charset="-122"/>
                <a:cs typeface="Calibri" pitchFamily="34" charset="-120"/>
              </a:rPr>
              <a:t>ADRs Written</a:t>
            </a:r>
            <a:endParaRPr lang="en-US" sz="1050" dirty="0"/>
          </a:p>
        </p:txBody>
      </p:sp>
      <p:sp>
        <p:nvSpPr>
          <p:cNvPr id="15" name="Text 13"/>
          <p:cNvSpPr/>
          <p:nvPr/>
        </p:nvSpPr>
        <p:spPr>
          <a:xfrm>
            <a:off x="6400800" y="2606040"/>
            <a:ext cx="2194560" cy="365760"/>
          </a:xfrm>
          <a:prstGeom prst="rect">
            <a:avLst/>
          </a:prstGeom>
          <a:noFill/>
          <a:ln/>
        </p:spPr>
        <p:txBody>
          <a:bodyPr wrap="square" lIns="0" tIns="0" rIns="0" bIns="0" rtlCol="0" anchor="ctr"/>
          <a:lstStyle/>
          <a:p>
            <a:pPr indent="0" marL="0">
              <a:buNone/>
            </a:pPr>
            <a:r>
              <a:rPr lang="en-US" sz="850" i="1" dirty="0">
                <a:solidFill>
                  <a:srgbClr val="8B98A8"/>
                </a:solidFill>
                <a:latin typeface="Calibri" pitchFamily="34" charset="0"/>
                <a:ea typeface="Calibri" pitchFamily="34" charset="-122"/>
                <a:cs typeface="Calibri" pitchFamily="34" charset="-120"/>
              </a:rPr>
              <a:t>key decisions, reasoned and dated</a:t>
            </a:r>
            <a:endParaRPr lang="en-US" sz="850" dirty="0"/>
          </a:p>
        </p:txBody>
      </p:sp>
      <p:sp>
        <p:nvSpPr>
          <p:cNvPr id="16" name="Shape 14"/>
          <p:cNvSpPr/>
          <p:nvPr/>
        </p:nvSpPr>
        <p:spPr>
          <a:xfrm>
            <a:off x="9052560" y="1600200"/>
            <a:ext cx="2560320" cy="1417320"/>
          </a:xfrm>
          <a:prstGeom prst="roundRect">
            <a:avLst>
              <a:gd name="adj" fmla="val 5161"/>
            </a:avLst>
          </a:prstGeom>
          <a:solidFill>
            <a:srgbClr val="1A2330"/>
          </a:solidFill>
          <a:ln w="12700">
            <a:solidFill>
              <a:srgbClr val="232E3B"/>
            </a:solidFill>
            <a:prstDash val="solid"/>
          </a:ln>
          <a:effectLst>
            <a:outerShdw sx="100000" sy="100000" kx="0" ky="0" algn="bl" rotWithShape="0" blurRad="101600" dist="38100" dir="2700000">
              <a:srgbClr val="000000">
                <a:alpha val="35000"/>
              </a:srgbClr>
            </a:outerShdw>
          </a:effectLst>
        </p:spPr>
      </p:sp>
      <p:sp>
        <p:nvSpPr>
          <p:cNvPr id="17" name="Text 15"/>
          <p:cNvSpPr/>
          <p:nvPr/>
        </p:nvSpPr>
        <p:spPr>
          <a:xfrm>
            <a:off x="9235440" y="1737360"/>
            <a:ext cx="2194560" cy="594360"/>
          </a:xfrm>
          <a:prstGeom prst="rect">
            <a:avLst/>
          </a:prstGeom>
          <a:noFill/>
          <a:ln/>
        </p:spPr>
        <p:txBody>
          <a:bodyPr wrap="square" lIns="0" tIns="0" rIns="0" bIns="0" rtlCol="0" anchor="ctr"/>
          <a:lstStyle/>
          <a:p>
            <a:pPr indent="0" marL="0">
              <a:buNone/>
            </a:pPr>
            <a:r>
              <a:rPr lang="en-US" sz="3200" b="1" dirty="0">
                <a:solidFill>
                  <a:srgbClr val="FF5C5C"/>
                </a:solidFill>
                <a:latin typeface="Arial" pitchFamily="34" charset="0"/>
                <a:ea typeface="Arial" pitchFamily="34" charset="-122"/>
                <a:cs typeface="Arial" pitchFamily="34" charset="-120"/>
              </a:rPr>
              <a:t>2</a:t>
            </a:r>
            <a:endParaRPr lang="en-US" sz="3200" dirty="0"/>
          </a:p>
        </p:txBody>
      </p:sp>
      <p:sp>
        <p:nvSpPr>
          <p:cNvPr id="18" name="Text 16"/>
          <p:cNvSpPr/>
          <p:nvPr/>
        </p:nvSpPr>
        <p:spPr>
          <a:xfrm>
            <a:off x="9235440" y="2331720"/>
            <a:ext cx="2194560" cy="274320"/>
          </a:xfrm>
          <a:prstGeom prst="rect">
            <a:avLst/>
          </a:prstGeom>
          <a:noFill/>
          <a:ln/>
        </p:spPr>
        <p:txBody>
          <a:bodyPr wrap="square" lIns="0" tIns="0" rIns="0" bIns="0" rtlCol="0" anchor="ctr"/>
          <a:lstStyle/>
          <a:p>
            <a:pPr indent="0" marL="0">
              <a:buNone/>
            </a:pPr>
            <a:r>
              <a:rPr lang="en-US" sz="1050" b="1" dirty="0">
                <a:solidFill>
                  <a:srgbClr val="F2F5F8"/>
                </a:solidFill>
                <a:latin typeface="Calibri" pitchFamily="34" charset="0"/>
                <a:ea typeface="Calibri" pitchFamily="34" charset="-122"/>
                <a:cs typeface="Calibri" pitchFamily="34" charset="-120"/>
              </a:rPr>
              <a:t>Real Bugs Found</a:t>
            </a:r>
            <a:endParaRPr lang="en-US" sz="1050" dirty="0"/>
          </a:p>
        </p:txBody>
      </p:sp>
      <p:sp>
        <p:nvSpPr>
          <p:cNvPr id="19" name="Text 17"/>
          <p:cNvSpPr/>
          <p:nvPr/>
        </p:nvSpPr>
        <p:spPr>
          <a:xfrm>
            <a:off x="9235440" y="2606040"/>
            <a:ext cx="2194560" cy="365760"/>
          </a:xfrm>
          <a:prstGeom prst="rect">
            <a:avLst/>
          </a:prstGeom>
          <a:noFill/>
          <a:ln/>
        </p:spPr>
        <p:txBody>
          <a:bodyPr wrap="square" lIns="0" tIns="0" rIns="0" bIns="0" rtlCol="0" anchor="ctr"/>
          <a:lstStyle/>
          <a:p>
            <a:pPr indent="0" marL="0">
              <a:buNone/>
            </a:pPr>
            <a:r>
              <a:rPr lang="en-US" sz="850" i="1" dirty="0">
                <a:solidFill>
                  <a:srgbClr val="8B98A8"/>
                </a:solidFill>
                <a:latin typeface="Calibri" pitchFamily="34" charset="0"/>
                <a:ea typeface="Calibri" pitchFamily="34" charset="-122"/>
                <a:cs typeface="Calibri" pitchFamily="34" charset="-120"/>
              </a:rPr>
              <a:t>via deliberate stress testing</a:t>
            </a:r>
            <a:endParaRPr lang="en-US" sz="850" dirty="0"/>
          </a:p>
        </p:txBody>
      </p:sp>
      <p:sp>
        <p:nvSpPr>
          <p:cNvPr id="20" name="Shape 18"/>
          <p:cNvSpPr/>
          <p:nvPr/>
        </p:nvSpPr>
        <p:spPr>
          <a:xfrm>
            <a:off x="548640" y="3246120"/>
            <a:ext cx="5349240" cy="2834640"/>
          </a:xfrm>
          <a:prstGeom prst="roundRect">
            <a:avLst>
              <a:gd name="adj" fmla="val 2581"/>
            </a:avLst>
          </a:prstGeom>
          <a:solidFill>
            <a:srgbClr val="141B24"/>
          </a:solidFill>
          <a:ln w="12700">
            <a:solidFill>
              <a:srgbClr val="232E3B"/>
            </a:solidFill>
            <a:prstDash val="solid"/>
          </a:ln>
          <a:effectLst>
            <a:outerShdw sx="100000" sy="100000" kx="0" ky="0" algn="bl" rotWithShape="0" blurRad="101600" dist="38100" dir="2700000">
              <a:srgbClr val="000000">
                <a:alpha val="35000"/>
              </a:srgbClr>
            </a:outerShdw>
          </a:effectLst>
        </p:spPr>
      </p:sp>
      <p:sp>
        <p:nvSpPr>
          <p:cNvPr id="21" name="Text 19"/>
          <p:cNvSpPr/>
          <p:nvPr/>
        </p:nvSpPr>
        <p:spPr>
          <a:xfrm>
            <a:off x="914400" y="3429000"/>
            <a:ext cx="4572000" cy="274320"/>
          </a:xfrm>
          <a:prstGeom prst="rect">
            <a:avLst/>
          </a:prstGeom>
          <a:noFill/>
          <a:ln/>
        </p:spPr>
        <p:txBody>
          <a:bodyPr wrap="square" lIns="0" tIns="0" rIns="0" bIns="0" rtlCol="0" anchor="ctr"/>
          <a:lstStyle/>
          <a:p>
            <a:pPr indent="0" marL="0">
              <a:buNone/>
            </a:pPr>
            <a:r>
              <a:rPr lang="en-US" sz="1100" b="1" spc="100" kern="0" dirty="0">
                <a:solidFill>
                  <a:srgbClr val="4FD1E8"/>
                </a:solidFill>
                <a:latin typeface="Calibri" pitchFamily="34" charset="0"/>
                <a:ea typeface="Calibri" pitchFamily="34" charset="-122"/>
                <a:cs typeface="Calibri" pitchFamily="34" charset="-120"/>
              </a:rPr>
              <a:t>SDLC ARTIFACT TRAIL</a:t>
            </a:r>
            <a:endParaRPr lang="en-US" sz="1100" dirty="0"/>
          </a:p>
        </p:txBody>
      </p:sp>
      <p:sp>
        <p:nvSpPr>
          <p:cNvPr id="22" name="Shape 20"/>
          <p:cNvSpPr/>
          <p:nvPr/>
        </p:nvSpPr>
        <p:spPr>
          <a:xfrm>
            <a:off x="914400" y="3858768"/>
            <a:ext cx="73152" cy="73152"/>
          </a:xfrm>
          <a:prstGeom prst="ellipse">
            <a:avLst/>
          </a:prstGeom>
          <a:solidFill>
            <a:srgbClr val="4FD1E8"/>
          </a:solidFill>
          <a:ln/>
        </p:spPr>
      </p:sp>
      <p:sp>
        <p:nvSpPr>
          <p:cNvPr id="23" name="Text 21"/>
          <p:cNvSpPr/>
          <p:nvPr/>
        </p:nvSpPr>
        <p:spPr>
          <a:xfrm>
            <a:off x="1115568" y="3749040"/>
            <a:ext cx="4572000" cy="411480"/>
          </a:xfrm>
          <a:prstGeom prst="rect">
            <a:avLst/>
          </a:prstGeom>
          <a:noFill/>
          <a:ln/>
        </p:spPr>
        <p:txBody>
          <a:bodyPr wrap="square" lIns="0" tIns="0" rIns="0" bIns="0" rtlCol="0" anchor="ctr"/>
          <a:lstStyle/>
          <a:p>
            <a:pPr indent="0" marL="0">
              <a:lnSpc>
                <a:spcPct val="120000"/>
              </a:lnSpc>
              <a:buNone/>
            </a:pPr>
            <a:r>
              <a:rPr lang="en-US" sz="1050" dirty="0">
                <a:solidFill>
                  <a:srgbClr val="F2F5F8"/>
                </a:solidFill>
                <a:latin typeface="Calibri" pitchFamily="34" charset="0"/>
                <a:ea typeface="Calibri" pitchFamily="34" charset="-122"/>
                <a:cs typeface="Calibri" pitchFamily="34" charset="-120"/>
              </a:rPr>
              <a:t>Sprint 0-4 tracked on a live Kanban board (27 tasks, 17 done)</a:t>
            </a:r>
            <a:endParaRPr lang="en-US" sz="1050" dirty="0"/>
          </a:p>
        </p:txBody>
      </p:sp>
      <p:sp>
        <p:nvSpPr>
          <p:cNvPr id="24" name="Shape 22"/>
          <p:cNvSpPr/>
          <p:nvPr/>
        </p:nvSpPr>
        <p:spPr>
          <a:xfrm>
            <a:off x="914400" y="4315968"/>
            <a:ext cx="73152" cy="73152"/>
          </a:xfrm>
          <a:prstGeom prst="ellipse">
            <a:avLst/>
          </a:prstGeom>
          <a:solidFill>
            <a:srgbClr val="4FD1E8"/>
          </a:solidFill>
          <a:ln/>
        </p:spPr>
      </p:sp>
      <p:sp>
        <p:nvSpPr>
          <p:cNvPr id="25" name="Text 23"/>
          <p:cNvSpPr/>
          <p:nvPr/>
        </p:nvSpPr>
        <p:spPr>
          <a:xfrm>
            <a:off x="1115568" y="4206240"/>
            <a:ext cx="4572000" cy="411480"/>
          </a:xfrm>
          <a:prstGeom prst="rect">
            <a:avLst/>
          </a:prstGeom>
          <a:noFill/>
          <a:ln/>
        </p:spPr>
        <p:txBody>
          <a:bodyPr wrap="square" lIns="0" tIns="0" rIns="0" bIns="0" rtlCol="0" anchor="ctr"/>
          <a:lstStyle/>
          <a:p>
            <a:pPr indent="0" marL="0">
              <a:lnSpc>
                <a:spcPct val="120000"/>
              </a:lnSpc>
              <a:buNone/>
            </a:pPr>
            <a:r>
              <a:rPr lang="en-US" sz="1050" dirty="0">
                <a:solidFill>
                  <a:srgbClr val="F2F5F8"/>
                </a:solidFill>
                <a:latin typeface="Calibri" pitchFamily="34" charset="0"/>
                <a:ea typeface="Calibri" pitchFamily="34" charset="-122"/>
                <a:cs typeface="Calibri" pitchFamily="34" charset="-120"/>
              </a:rPr>
              <a:t>Requirements Traceability Matrix — every use case to code to test</a:t>
            </a:r>
            <a:endParaRPr lang="en-US" sz="1050" dirty="0"/>
          </a:p>
        </p:txBody>
      </p:sp>
      <p:sp>
        <p:nvSpPr>
          <p:cNvPr id="26" name="Shape 24"/>
          <p:cNvSpPr/>
          <p:nvPr/>
        </p:nvSpPr>
        <p:spPr>
          <a:xfrm>
            <a:off x="914400" y="4773168"/>
            <a:ext cx="73152" cy="73152"/>
          </a:xfrm>
          <a:prstGeom prst="ellipse">
            <a:avLst/>
          </a:prstGeom>
          <a:solidFill>
            <a:srgbClr val="4FD1E8"/>
          </a:solidFill>
          <a:ln/>
        </p:spPr>
      </p:sp>
      <p:sp>
        <p:nvSpPr>
          <p:cNvPr id="27" name="Text 25"/>
          <p:cNvSpPr/>
          <p:nvPr/>
        </p:nvSpPr>
        <p:spPr>
          <a:xfrm>
            <a:off x="1115568" y="4663440"/>
            <a:ext cx="4572000" cy="411480"/>
          </a:xfrm>
          <a:prstGeom prst="rect">
            <a:avLst/>
          </a:prstGeom>
          <a:noFill/>
          <a:ln/>
        </p:spPr>
        <p:txBody>
          <a:bodyPr wrap="square" lIns="0" tIns="0" rIns="0" bIns="0" rtlCol="0" anchor="ctr"/>
          <a:lstStyle/>
          <a:p>
            <a:pPr indent="0" marL="0">
              <a:lnSpc>
                <a:spcPct val="120000"/>
              </a:lnSpc>
              <a:buNone/>
            </a:pPr>
            <a:r>
              <a:rPr lang="en-US" sz="1050" dirty="0">
                <a:solidFill>
                  <a:srgbClr val="F2F5F8"/>
                </a:solidFill>
                <a:latin typeface="Calibri" pitchFamily="34" charset="0"/>
                <a:ea typeface="Calibri" pitchFamily="34" charset="-122"/>
                <a:cs typeface="Calibri" pitchFamily="34" charset="-120"/>
              </a:rPr>
              <a:t>Formal Test Plan with a 22-item test case matrix</a:t>
            </a:r>
            <a:endParaRPr lang="en-US" sz="1050" dirty="0"/>
          </a:p>
        </p:txBody>
      </p:sp>
      <p:sp>
        <p:nvSpPr>
          <p:cNvPr id="28" name="Shape 26"/>
          <p:cNvSpPr/>
          <p:nvPr/>
        </p:nvSpPr>
        <p:spPr>
          <a:xfrm>
            <a:off x="914400" y="5230368"/>
            <a:ext cx="73152" cy="73152"/>
          </a:xfrm>
          <a:prstGeom prst="ellipse">
            <a:avLst/>
          </a:prstGeom>
          <a:solidFill>
            <a:srgbClr val="4FD1E8"/>
          </a:solidFill>
          <a:ln/>
        </p:spPr>
      </p:sp>
      <p:sp>
        <p:nvSpPr>
          <p:cNvPr id="29" name="Text 27"/>
          <p:cNvSpPr/>
          <p:nvPr/>
        </p:nvSpPr>
        <p:spPr>
          <a:xfrm>
            <a:off x="1115568" y="5120640"/>
            <a:ext cx="4572000" cy="411480"/>
          </a:xfrm>
          <a:prstGeom prst="rect">
            <a:avLst/>
          </a:prstGeom>
          <a:noFill/>
          <a:ln/>
        </p:spPr>
        <p:txBody>
          <a:bodyPr wrap="square" lIns="0" tIns="0" rIns="0" bIns="0" rtlCol="0" anchor="ctr"/>
          <a:lstStyle/>
          <a:p>
            <a:pPr indent="0" marL="0">
              <a:lnSpc>
                <a:spcPct val="120000"/>
              </a:lnSpc>
              <a:buNone/>
            </a:pPr>
            <a:r>
              <a:rPr lang="en-US" sz="1050" dirty="0">
                <a:solidFill>
                  <a:srgbClr val="F2F5F8"/>
                </a:solidFill>
                <a:latin typeface="Calibri" pitchFamily="34" charset="0"/>
                <a:ea typeface="Calibri" pitchFamily="34" charset="-122"/>
                <a:cs typeface="Calibri" pitchFamily="34" charset="-120"/>
              </a:rPr>
              <a:t>CI pipeline (GitHub Actions) — tests + Docker build on every push</a:t>
            </a:r>
            <a:endParaRPr lang="en-US" sz="1050" dirty="0"/>
          </a:p>
        </p:txBody>
      </p:sp>
      <p:sp>
        <p:nvSpPr>
          <p:cNvPr id="30" name="Shape 28"/>
          <p:cNvSpPr/>
          <p:nvPr/>
        </p:nvSpPr>
        <p:spPr>
          <a:xfrm>
            <a:off x="914400" y="5687568"/>
            <a:ext cx="73152" cy="73152"/>
          </a:xfrm>
          <a:prstGeom prst="ellipse">
            <a:avLst/>
          </a:prstGeom>
          <a:solidFill>
            <a:srgbClr val="4FD1E8"/>
          </a:solidFill>
          <a:ln/>
        </p:spPr>
      </p:sp>
      <p:sp>
        <p:nvSpPr>
          <p:cNvPr id="31" name="Text 29"/>
          <p:cNvSpPr/>
          <p:nvPr/>
        </p:nvSpPr>
        <p:spPr>
          <a:xfrm>
            <a:off x="1115568" y="5577840"/>
            <a:ext cx="4572000" cy="411480"/>
          </a:xfrm>
          <a:prstGeom prst="rect">
            <a:avLst/>
          </a:prstGeom>
          <a:noFill/>
          <a:ln/>
        </p:spPr>
        <p:txBody>
          <a:bodyPr wrap="square" lIns="0" tIns="0" rIns="0" bIns="0" rtlCol="0" anchor="ctr"/>
          <a:lstStyle/>
          <a:p>
            <a:pPr indent="0" marL="0">
              <a:lnSpc>
                <a:spcPct val="120000"/>
              </a:lnSpc>
              <a:buNone/>
            </a:pPr>
            <a:r>
              <a:rPr lang="en-US" sz="1050" dirty="0">
                <a:solidFill>
                  <a:srgbClr val="F2F5F8"/>
                </a:solidFill>
                <a:latin typeface="Calibri" pitchFamily="34" charset="0"/>
                <a:ea typeface="Calibri" pitchFamily="34" charset="-122"/>
                <a:cs typeface="Calibri" pitchFamily="34" charset="-120"/>
              </a:rPr>
              <a:t>CHANGELOG documenting every version, what changed and why</a:t>
            </a:r>
            <a:endParaRPr lang="en-US" sz="1050" dirty="0"/>
          </a:p>
        </p:txBody>
      </p:sp>
      <p:sp>
        <p:nvSpPr>
          <p:cNvPr id="32" name="Shape 30"/>
          <p:cNvSpPr/>
          <p:nvPr/>
        </p:nvSpPr>
        <p:spPr>
          <a:xfrm>
            <a:off x="6080760" y="3246120"/>
            <a:ext cx="5532120" cy="2834640"/>
          </a:xfrm>
          <a:prstGeom prst="roundRect">
            <a:avLst>
              <a:gd name="adj" fmla="val 2581"/>
            </a:avLst>
          </a:prstGeom>
          <a:solidFill>
            <a:srgbClr val="141B24"/>
          </a:solidFill>
          <a:ln w="12700">
            <a:solidFill>
              <a:srgbClr val="FF5C5C"/>
            </a:solidFill>
            <a:prstDash val="solid"/>
          </a:ln>
          <a:effectLst>
            <a:outerShdw sx="100000" sy="100000" kx="0" ky="0" algn="bl" rotWithShape="0" blurRad="101600" dist="38100" dir="2700000">
              <a:srgbClr val="000000">
                <a:alpha val="35000"/>
              </a:srgbClr>
            </a:outerShdw>
          </a:effectLst>
        </p:spPr>
      </p:sp>
      <p:sp>
        <p:nvSpPr>
          <p:cNvPr id="33" name="Text 31"/>
          <p:cNvSpPr/>
          <p:nvPr/>
        </p:nvSpPr>
        <p:spPr>
          <a:xfrm>
            <a:off x="6446520" y="3429000"/>
            <a:ext cx="4846320" cy="274320"/>
          </a:xfrm>
          <a:prstGeom prst="rect">
            <a:avLst/>
          </a:prstGeom>
          <a:noFill/>
          <a:ln/>
        </p:spPr>
        <p:txBody>
          <a:bodyPr wrap="square" lIns="0" tIns="0" rIns="0" bIns="0" rtlCol="0" anchor="ctr"/>
          <a:lstStyle/>
          <a:p>
            <a:pPr indent="0" marL="0">
              <a:buNone/>
            </a:pPr>
            <a:r>
              <a:rPr lang="en-US" sz="1100" b="1" spc="100" kern="0" dirty="0">
                <a:solidFill>
                  <a:srgbClr val="FF5C5C"/>
                </a:solidFill>
                <a:latin typeface="Calibri" pitchFamily="34" charset="0"/>
                <a:ea typeface="Calibri" pitchFamily="34" charset="-122"/>
                <a:cs typeface="Calibri" pitchFamily="34" charset="-120"/>
              </a:rPr>
              <a:t>A REAL BUG WE FOUND — AND DOCUMENTED</a:t>
            </a:r>
            <a:endParaRPr lang="en-US" sz="1100" dirty="0"/>
          </a:p>
        </p:txBody>
      </p:sp>
      <p:sp>
        <p:nvSpPr>
          <p:cNvPr id="34" name="Text 32"/>
          <p:cNvSpPr/>
          <p:nvPr/>
        </p:nvSpPr>
        <p:spPr>
          <a:xfrm>
            <a:off x="6446520" y="3749040"/>
            <a:ext cx="4846320" cy="1005840"/>
          </a:xfrm>
          <a:prstGeom prst="rect">
            <a:avLst/>
          </a:prstGeom>
          <a:noFill/>
          <a:ln/>
        </p:spPr>
        <p:txBody>
          <a:bodyPr wrap="square" lIns="0" tIns="0" rIns="0" bIns="0" rtlCol="0" anchor="ctr"/>
          <a:lstStyle/>
          <a:p>
            <a:pPr indent="0" marL="0">
              <a:lnSpc>
                <a:spcPct val="130000"/>
              </a:lnSpc>
              <a:buNone/>
            </a:pPr>
            <a:r>
              <a:rPr lang="en-US" sz="1050" dirty="0">
                <a:solidFill>
                  <a:srgbClr val="F2F5F8"/>
                </a:solidFill>
                <a:latin typeface="Calibri" pitchFamily="34" charset="0"/>
                <a:ea typeface="Calibri" pitchFamily="34" charset="-122"/>
                <a:cs typeface="Calibri" pitchFamily="34" charset="-120"/>
              </a:rPr>
              <a:t>During concurrency stress testing, the statistical anomaly detector occasionally false-triggered on pure noise for an untouched asset — and because no real fault was active, the agent would “resolve” it in ~1 second, silently padding our own ROI ledger.</a:t>
            </a:r>
            <a:endParaRPr lang="en-US" sz="1050" dirty="0"/>
          </a:p>
        </p:txBody>
      </p:sp>
      <p:sp>
        <p:nvSpPr>
          <p:cNvPr id="35" name="Text 33"/>
          <p:cNvSpPr/>
          <p:nvPr/>
        </p:nvSpPr>
        <p:spPr>
          <a:xfrm>
            <a:off x="6446520" y="4709160"/>
            <a:ext cx="4846320" cy="1188720"/>
          </a:xfrm>
          <a:prstGeom prst="rect">
            <a:avLst/>
          </a:prstGeom>
          <a:noFill/>
          <a:ln/>
        </p:spPr>
        <p:txBody>
          <a:bodyPr wrap="square" lIns="0" tIns="0" rIns="0" bIns="0" rtlCol="0" anchor="ctr"/>
          <a:lstStyle/>
          <a:p>
            <a:pPr indent="0" marL="0">
              <a:lnSpc>
                <a:spcPct val="130000"/>
              </a:lnSpc>
              <a:buNone/>
            </a:pPr>
            <a:r>
              <a:rPr lang="en-US" sz="1050" i="1" dirty="0">
                <a:solidFill>
                  <a:srgbClr val="8B98A8"/>
                </a:solidFill>
                <a:latin typeface="Calibri" pitchFamily="34" charset="0"/>
                <a:ea typeface="Calibri" pitchFamily="34" charset="-122"/>
                <a:cs typeface="Calibri" pitchFamily="34" charset="-120"/>
              </a:rPr>
              <a:t>Root-caused to a z-score divide-by-near-zero-variance edge case. Fixed two ways (variance floor + a structural guard: autonomous fixes only ever trigger on a genuine rule threshold breach, never statistics alone). Re-ran a 75-second stress test clean.</a:t>
            </a:r>
            <a:endParaRPr lang="en-US" sz="1050" dirty="0"/>
          </a:p>
        </p:txBody>
      </p:sp>
      <p:sp>
        <p:nvSpPr>
          <p:cNvPr id="36" name="Text 34"/>
          <p:cNvSpPr/>
          <p:nvPr/>
        </p:nvSpPr>
        <p:spPr>
          <a:xfrm>
            <a:off x="11338560" y="6355080"/>
            <a:ext cx="457200" cy="320040"/>
          </a:xfrm>
          <a:prstGeom prst="rect">
            <a:avLst/>
          </a:prstGeom>
          <a:noFill/>
          <a:ln/>
        </p:spPr>
        <p:txBody>
          <a:bodyPr wrap="square" lIns="0" tIns="0" rIns="0" bIns="0" rtlCol="0" anchor="ctr"/>
          <a:lstStyle/>
          <a:p>
            <a:pPr algn="r" indent="0" marL="0">
              <a:buNone/>
            </a:pPr>
            <a:r>
              <a:rPr lang="en-US" sz="1000" dirty="0">
                <a:solidFill>
                  <a:srgbClr val="8B98A8"/>
                </a:solidFill>
                <a:latin typeface="Calibri" pitchFamily="34" charset="0"/>
                <a:ea typeface="Calibri" pitchFamily="34" charset="-122"/>
                <a:cs typeface="Calibri" pitchFamily="34" charset="-120"/>
              </a:rPr>
              <a:t>5</a:t>
            </a:r>
            <a:endParaRPr lang="en-US" sz="1000" dirty="0"/>
          </a:p>
        </p:txBody>
      </p:sp>
      <p:sp>
        <p:nvSpPr>
          <p:cNvPr id="37" name="Text 35"/>
          <p:cNvSpPr/>
          <p:nvPr/>
        </p:nvSpPr>
        <p:spPr>
          <a:xfrm>
            <a:off x="548640" y="6355080"/>
            <a:ext cx="4572000" cy="320040"/>
          </a:xfrm>
          <a:prstGeom prst="rect">
            <a:avLst/>
          </a:prstGeom>
          <a:noFill/>
          <a:ln/>
        </p:spPr>
        <p:txBody>
          <a:bodyPr wrap="square" lIns="0" tIns="0" rIns="0" bIns="0" rtlCol="0" anchor="ctr"/>
          <a:lstStyle/>
          <a:p>
            <a:pPr indent="0" marL="0">
              <a:buNone/>
            </a:pPr>
            <a:r>
              <a:rPr lang="en-US" sz="900" spc="100" kern="0" dirty="0">
                <a:solidFill>
                  <a:srgbClr val="8B98A8"/>
                </a:solidFill>
                <a:latin typeface="Calibri" pitchFamily="34" charset="0"/>
                <a:ea typeface="Calibri" pitchFamily="34" charset="-122"/>
                <a:cs typeface="Calibri" pitchFamily="34" charset="-120"/>
              </a:rPr>
              <a:t>EI-NEXUS · MCP MAVERICKS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E13"/>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lIns="0" tIns="0" rIns="0" bIns="0" rtlCol="0" anchor="ctr"/>
          <a:lstStyle/>
          <a:p>
            <a:pPr indent="0" marL="0">
              <a:buNone/>
            </a:pPr>
            <a:r>
              <a:rPr lang="en-US" sz="1200" b="1" spc="200" kern="0" dirty="0">
                <a:solidFill>
                  <a:srgbClr val="FF8A3D"/>
                </a:solidFill>
                <a:latin typeface="Calibri" pitchFamily="34" charset="0"/>
                <a:ea typeface="Calibri" pitchFamily="34" charset="-122"/>
                <a:cs typeface="Calibri" pitchFamily="34" charset="-120"/>
              </a:rPr>
              <a:t>CRITERION 4 · AI APPROPRIATENESS</a:t>
            </a:r>
            <a:endParaRPr lang="en-US" sz="1200" dirty="0"/>
          </a:p>
        </p:txBody>
      </p:sp>
      <p:sp>
        <p:nvSpPr>
          <p:cNvPr id="3" name="Text 1"/>
          <p:cNvSpPr/>
          <p:nvPr/>
        </p:nvSpPr>
        <p:spPr>
          <a:xfrm>
            <a:off x="548640" y="685800"/>
            <a:ext cx="10515600" cy="822960"/>
          </a:xfrm>
          <a:prstGeom prst="rect">
            <a:avLst/>
          </a:prstGeom>
          <a:noFill/>
          <a:ln/>
        </p:spPr>
        <p:txBody>
          <a:bodyPr wrap="square" lIns="0" tIns="0" rIns="0" bIns="0" rtlCol="0" anchor="ctr"/>
          <a:lstStyle/>
          <a:p>
            <a:pPr indent="0" marL="0">
              <a:buNone/>
            </a:pPr>
            <a:r>
              <a:rPr lang="en-US" sz="2400" b="1" dirty="0">
                <a:solidFill>
                  <a:srgbClr val="F2F5F8"/>
                </a:solidFill>
                <a:latin typeface="Arial" pitchFamily="34" charset="0"/>
                <a:ea typeface="Arial" pitchFamily="34" charset="-122"/>
                <a:cs typeface="Arial" pitchFamily="34" charset="-120"/>
              </a:rPr>
              <a:t>AI exactly where reasoning is needed — nowhere else</a:t>
            </a:r>
            <a:endParaRPr lang="en-US" sz="2400" dirty="0"/>
          </a:p>
        </p:txBody>
      </p:sp>
      <p:sp>
        <p:nvSpPr>
          <p:cNvPr id="4" name="Text 2"/>
          <p:cNvSpPr/>
          <p:nvPr/>
        </p:nvSpPr>
        <p:spPr>
          <a:xfrm>
            <a:off x="548640" y="1508760"/>
            <a:ext cx="10972800" cy="548640"/>
          </a:xfrm>
          <a:prstGeom prst="rect">
            <a:avLst/>
          </a:prstGeom>
          <a:noFill/>
          <a:ln/>
        </p:spPr>
        <p:txBody>
          <a:bodyPr wrap="square" lIns="0" tIns="0" rIns="0" bIns="0" rtlCol="0" anchor="ctr"/>
          <a:lstStyle/>
          <a:p>
            <a:pPr indent="0" marL="0">
              <a:lnSpc>
                <a:spcPct val="130000"/>
              </a:lnSpc>
              <a:buNone/>
            </a:pPr>
            <a:r>
              <a:rPr lang="en-US" sz="1300" dirty="0">
                <a:solidFill>
                  <a:srgbClr val="8B98A8"/>
                </a:solidFill>
                <a:latin typeface="Calibri" pitchFamily="34" charset="0"/>
                <a:ea typeface="Calibri" pitchFamily="34" charset="-122"/>
                <a:cs typeface="Calibri" pitchFamily="34" charset="-120"/>
              </a:rPr>
              <a:t>Every component was deliberately assigned to AI or to deterministic rules based on whether the task genuinely requires language understanding and evidence synthesis, or just needs to be fast, explainable, and predictable.</a:t>
            </a:r>
            <a:endParaRPr lang="en-US" sz="1300" dirty="0"/>
          </a:p>
        </p:txBody>
      </p:sp>
      <p:sp>
        <p:nvSpPr>
          <p:cNvPr id="5" name="Shape 3"/>
          <p:cNvSpPr/>
          <p:nvPr/>
        </p:nvSpPr>
        <p:spPr>
          <a:xfrm>
            <a:off x="548640" y="2240280"/>
            <a:ext cx="5394960" cy="3840480"/>
          </a:xfrm>
          <a:prstGeom prst="roundRect">
            <a:avLst>
              <a:gd name="adj" fmla="val 1905"/>
            </a:avLst>
          </a:prstGeom>
          <a:solidFill>
            <a:srgbClr val="1A2330"/>
          </a:solidFill>
          <a:ln w="12700">
            <a:solidFill>
              <a:srgbClr val="FF8A3D"/>
            </a:solidFill>
            <a:prstDash val="solid"/>
          </a:ln>
          <a:effectLst>
            <a:outerShdw sx="100000" sy="100000" kx="0" ky="0" algn="bl" rotWithShape="0" blurRad="101600" dist="38100" dir="2700000">
              <a:srgbClr val="000000">
                <a:alpha val="35000"/>
              </a:srgbClr>
            </a:outerShdw>
          </a:effectLst>
        </p:spPr>
      </p:sp>
      <p:sp>
        <p:nvSpPr>
          <p:cNvPr id="6" name="Text 4"/>
          <p:cNvSpPr/>
          <p:nvPr/>
        </p:nvSpPr>
        <p:spPr>
          <a:xfrm>
            <a:off x="914400" y="2423160"/>
            <a:ext cx="4754880" cy="320040"/>
          </a:xfrm>
          <a:prstGeom prst="rect">
            <a:avLst/>
          </a:prstGeom>
          <a:noFill/>
          <a:ln/>
        </p:spPr>
        <p:txBody>
          <a:bodyPr wrap="square" lIns="0" tIns="0" rIns="0" bIns="0" rtlCol="0" anchor="ctr"/>
          <a:lstStyle/>
          <a:p>
            <a:pPr indent="0" marL="0">
              <a:buNone/>
            </a:pPr>
            <a:r>
              <a:rPr lang="en-US" sz="1400" b="1" dirty="0">
                <a:solidFill>
                  <a:srgbClr val="FF8A3D"/>
                </a:solidFill>
                <a:latin typeface="Arial" pitchFamily="34" charset="0"/>
                <a:ea typeface="Arial" pitchFamily="34" charset="-122"/>
                <a:cs typeface="Arial" pitchFamily="34" charset="-120"/>
              </a:rPr>
              <a:t>USES AI  —  genuine reasoning tasks</a:t>
            </a:r>
            <a:endParaRPr lang="en-US" sz="1400" dirty="0"/>
          </a:p>
        </p:txBody>
      </p:sp>
      <p:sp>
        <p:nvSpPr>
          <p:cNvPr id="7" name="Text 5"/>
          <p:cNvSpPr/>
          <p:nvPr/>
        </p:nvSpPr>
        <p:spPr>
          <a:xfrm>
            <a:off x="914400" y="2880360"/>
            <a:ext cx="4754880" cy="274320"/>
          </a:xfrm>
          <a:prstGeom prst="rect">
            <a:avLst/>
          </a:prstGeom>
          <a:noFill/>
          <a:ln/>
        </p:spPr>
        <p:txBody>
          <a:bodyPr wrap="square" lIns="0" tIns="0" rIns="0" bIns="0" rtlCol="0" anchor="ctr"/>
          <a:lstStyle/>
          <a:p>
            <a:pPr indent="0" marL="0">
              <a:buNone/>
            </a:pPr>
            <a:r>
              <a:rPr lang="en-US" sz="1200" b="1" dirty="0">
                <a:solidFill>
                  <a:srgbClr val="F2F5F8"/>
                </a:solidFill>
                <a:latin typeface="Arial" pitchFamily="34" charset="0"/>
                <a:ea typeface="Arial" pitchFamily="34" charset="-122"/>
                <a:cs typeface="Arial" pitchFamily="34" charset="-120"/>
              </a:rPr>
              <a:t>Interpreting free-text symptoms</a:t>
            </a:r>
            <a:endParaRPr lang="en-US" sz="1200" dirty="0"/>
          </a:p>
        </p:txBody>
      </p:sp>
      <p:sp>
        <p:nvSpPr>
          <p:cNvPr id="8" name="Text 6"/>
          <p:cNvSpPr/>
          <p:nvPr/>
        </p:nvSpPr>
        <p:spPr>
          <a:xfrm>
            <a:off x="914400" y="3172968"/>
            <a:ext cx="4754880" cy="548640"/>
          </a:xfrm>
          <a:prstGeom prst="rect">
            <a:avLst/>
          </a:prstGeom>
          <a:noFill/>
          <a:ln/>
        </p:spPr>
        <p:txBody>
          <a:bodyPr wrap="square" lIns="0" tIns="0" rIns="0" bIns="0" rtlCol="0" anchor="ctr"/>
          <a:lstStyle/>
          <a:p>
            <a:pPr indent="0" marL="0">
              <a:lnSpc>
                <a:spcPct val="125000"/>
              </a:lnSpc>
              <a:buNone/>
            </a:pPr>
            <a:r>
              <a:rPr lang="en-US" sz="1000" dirty="0">
                <a:solidFill>
                  <a:srgbClr val="8B98A8"/>
                </a:solidFill>
                <a:latin typeface="Calibri" pitchFamily="34" charset="0"/>
                <a:ea typeface="Calibri" pitchFamily="34" charset="-122"/>
                <a:cs typeface="Calibri" pitchFamily="34" charset="-120"/>
              </a:rPr>
              <a:t>"motor running hot and shut down" leads to inferred failure mode — needs language understanding, not keyword matching</a:t>
            </a:r>
            <a:endParaRPr lang="en-US" sz="1000" dirty="0"/>
          </a:p>
        </p:txBody>
      </p:sp>
      <p:sp>
        <p:nvSpPr>
          <p:cNvPr id="9" name="Text 7"/>
          <p:cNvSpPr/>
          <p:nvPr/>
        </p:nvSpPr>
        <p:spPr>
          <a:xfrm>
            <a:off x="914400" y="3840480"/>
            <a:ext cx="4754880" cy="274320"/>
          </a:xfrm>
          <a:prstGeom prst="rect">
            <a:avLst/>
          </a:prstGeom>
          <a:noFill/>
          <a:ln/>
        </p:spPr>
        <p:txBody>
          <a:bodyPr wrap="square" lIns="0" tIns="0" rIns="0" bIns="0" rtlCol="0" anchor="ctr"/>
          <a:lstStyle/>
          <a:p>
            <a:pPr indent="0" marL="0">
              <a:buNone/>
            </a:pPr>
            <a:r>
              <a:rPr lang="en-US" sz="1200" b="1" dirty="0">
                <a:solidFill>
                  <a:srgbClr val="F2F5F8"/>
                </a:solidFill>
                <a:latin typeface="Arial" pitchFamily="34" charset="0"/>
                <a:ea typeface="Arial" pitchFamily="34" charset="-122"/>
                <a:cs typeface="Arial" pitchFamily="34" charset="-120"/>
              </a:rPr>
              <a:t>Synthesizing a root-cause narrative</a:t>
            </a:r>
            <a:endParaRPr lang="en-US" sz="1200" dirty="0"/>
          </a:p>
        </p:txBody>
      </p:sp>
      <p:sp>
        <p:nvSpPr>
          <p:cNvPr id="10" name="Text 8"/>
          <p:cNvSpPr/>
          <p:nvPr/>
        </p:nvSpPr>
        <p:spPr>
          <a:xfrm>
            <a:off x="914400" y="4133088"/>
            <a:ext cx="4754880" cy="548640"/>
          </a:xfrm>
          <a:prstGeom prst="rect">
            <a:avLst/>
          </a:prstGeom>
          <a:noFill/>
          <a:ln/>
        </p:spPr>
        <p:txBody>
          <a:bodyPr wrap="square" lIns="0" tIns="0" rIns="0" bIns="0" rtlCol="0" anchor="ctr"/>
          <a:lstStyle/>
          <a:p>
            <a:pPr indent="0" marL="0">
              <a:lnSpc>
                <a:spcPct val="125000"/>
              </a:lnSpc>
              <a:buNone/>
            </a:pPr>
            <a:r>
              <a:rPr lang="en-US" sz="1000" dirty="0">
                <a:solidFill>
                  <a:srgbClr val="8B98A8"/>
                </a:solidFill>
                <a:latin typeface="Calibri" pitchFamily="34" charset="0"/>
                <a:ea typeface="Calibri" pitchFamily="34" charset="-122"/>
                <a:cs typeface="Calibri" pitchFamily="34" charset="-120"/>
              </a:rPr>
              <a:t>combining 4 sources of retrieved evidence into a coherent, cited explanation</a:t>
            </a:r>
            <a:endParaRPr lang="en-US" sz="1000" dirty="0"/>
          </a:p>
        </p:txBody>
      </p:sp>
      <p:sp>
        <p:nvSpPr>
          <p:cNvPr id="11" name="Text 9"/>
          <p:cNvSpPr/>
          <p:nvPr/>
        </p:nvSpPr>
        <p:spPr>
          <a:xfrm>
            <a:off x="914400" y="4800600"/>
            <a:ext cx="4754880" cy="274320"/>
          </a:xfrm>
          <a:prstGeom prst="rect">
            <a:avLst/>
          </a:prstGeom>
          <a:noFill/>
          <a:ln/>
        </p:spPr>
        <p:txBody>
          <a:bodyPr wrap="square" lIns="0" tIns="0" rIns="0" bIns="0" rtlCol="0" anchor="ctr"/>
          <a:lstStyle/>
          <a:p>
            <a:pPr indent="0" marL="0">
              <a:buNone/>
            </a:pPr>
            <a:r>
              <a:rPr lang="en-US" sz="1200" b="1" dirty="0">
                <a:solidFill>
                  <a:srgbClr val="F2F5F8"/>
                </a:solidFill>
                <a:latin typeface="Arial" pitchFamily="34" charset="0"/>
                <a:ea typeface="Arial" pitchFamily="34" charset="-122"/>
                <a:cs typeface="Arial" pitchFamily="34" charset="-120"/>
              </a:rPr>
              <a:t>Conversational Q&amp;A (ARIA)</a:t>
            </a:r>
            <a:endParaRPr lang="en-US" sz="1200" dirty="0"/>
          </a:p>
        </p:txBody>
      </p:sp>
      <p:sp>
        <p:nvSpPr>
          <p:cNvPr id="12" name="Text 10"/>
          <p:cNvSpPr/>
          <p:nvPr/>
        </p:nvSpPr>
        <p:spPr>
          <a:xfrm>
            <a:off x="914400" y="5093208"/>
            <a:ext cx="4754880" cy="548640"/>
          </a:xfrm>
          <a:prstGeom prst="rect">
            <a:avLst/>
          </a:prstGeom>
          <a:noFill/>
          <a:ln/>
        </p:spPr>
        <p:txBody>
          <a:bodyPr wrap="square" lIns="0" tIns="0" rIns="0" bIns="0" rtlCol="0" anchor="ctr"/>
          <a:lstStyle/>
          <a:p>
            <a:pPr indent="0" marL="0">
              <a:lnSpc>
                <a:spcPct val="125000"/>
              </a:lnSpc>
              <a:buNone/>
            </a:pPr>
            <a:r>
              <a:rPr lang="en-US" sz="1000" dirty="0">
                <a:solidFill>
                  <a:srgbClr val="8B98A8"/>
                </a:solidFill>
                <a:latin typeface="Calibri" pitchFamily="34" charset="0"/>
                <a:ea typeface="Calibri" pitchFamily="34" charset="-122"/>
                <a:cs typeface="Calibri" pitchFamily="34" charset="-120"/>
              </a:rPr>
              <a:t>answering open-ended natural-language questions about live system state</a:t>
            </a:r>
            <a:endParaRPr lang="en-US" sz="1000" dirty="0"/>
          </a:p>
        </p:txBody>
      </p:sp>
      <p:sp>
        <p:nvSpPr>
          <p:cNvPr id="13" name="Shape 11"/>
          <p:cNvSpPr/>
          <p:nvPr/>
        </p:nvSpPr>
        <p:spPr>
          <a:xfrm>
            <a:off x="6217920" y="2240280"/>
            <a:ext cx="5394960" cy="3840480"/>
          </a:xfrm>
          <a:prstGeom prst="roundRect">
            <a:avLst>
              <a:gd name="adj" fmla="val 1905"/>
            </a:avLst>
          </a:prstGeom>
          <a:solidFill>
            <a:srgbClr val="1A2330"/>
          </a:solidFill>
          <a:ln w="12700">
            <a:solidFill>
              <a:srgbClr val="4FD1E8"/>
            </a:solidFill>
            <a:prstDash val="solid"/>
          </a:ln>
          <a:effectLst>
            <a:outerShdw sx="100000" sy="100000" kx="0" ky="0" algn="bl" rotWithShape="0" blurRad="101600" dist="38100" dir="2700000">
              <a:srgbClr val="000000">
                <a:alpha val="35000"/>
              </a:srgbClr>
            </a:outerShdw>
          </a:effectLst>
        </p:spPr>
      </p:sp>
      <p:sp>
        <p:nvSpPr>
          <p:cNvPr id="14" name="Text 12"/>
          <p:cNvSpPr/>
          <p:nvPr/>
        </p:nvSpPr>
        <p:spPr>
          <a:xfrm>
            <a:off x="6583680" y="2423160"/>
            <a:ext cx="4754880" cy="320040"/>
          </a:xfrm>
          <a:prstGeom prst="rect">
            <a:avLst/>
          </a:prstGeom>
          <a:noFill/>
          <a:ln/>
        </p:spPr>
        <p:txBody>
          <a:bodyPr wrap="square" lIns="0" tIns="0" rIns="0" bIns="0" rtlCol="0" anchor="ctr"/>
          <a:lstStyle/>
          <a:p>
            <a:pPr indent="0" marL="0">
              <a:buNone/>
            </a:pPr>
            <a:r>
              <a:rPr lang="en-US" sz="1400" b="1" dirty="0">
                <a:solidFill>
                  <a:srgbClr val="4FD1E8"/>
                </a:solidFill>
                <a:latin typeface="Arial" pitchFamily="34" charset="0"/>
                <a:ea typeface="Arial" pitchFamily="34" charset="-122"/>
                <a:cs typeface="Arial" pitchFamily="34" charset="-120"/>
              </a:rPr>
              <a:t>STAYS DETERMINISTIC  —  precision-critical tasks</a:t>
            </a:r>
            <a:endParaRPr lang="en-US" sz="1400" dirty="0"/>
          </a:p>
        </p:txBody>
      </p:sp>
      <p:sp>
        <p:nvSpPr>
          <p:cNvPr id="15" name="Text 13"/>
          <p:cNvSpPr/>
          <p:nvPr/>
        </p:nvSpPr>
        <p:spPr>
          <a:xfrm>
            <a:off x="6583680" y="2880360"/>
            <a:ext cx="4754880" cy="274320"/>
          </a:xfrm>
          <a:prstGeom prst="rect">
            <a:avLst/>
          </a:prstGeom>
          <a:noFill/>
          <a:ln/>
        </p:spPr>
        <p:txBody>
          <a:bodyPr wrap="square" lIns="0" tIns="0" rIns="0" bIns="0" rtlCol="0" anchor="ctr"/>
          <a:lstStyle/>
          <a:p>
            <a:pPr indent="0" marL="0">
              <a:buNone/>
            </a:pPr>
            <a:r>
              <a:rPr lang="en-US" sz="1200" b="1" dirty="0">
                <a:solidFill>
                  <a:srgbClr val="F2F5F8"/>
                </a:solidFill>
                <a:latin typeface="Arial" pitchFamily="34" charset="0"/>
                <a:ea typeface="Arial" pitchFamily="34" charset="-122"/>
                <a:cs typeface="Arial" pitchFamily="34" charset="-120"/>
              </a:rPr>
              <a:t>Anomaly detection thresholds</a:t>
            </a:r>
            <a:endParaRPr lang="en-US" sz="1200" dirty="0"/>
          </a:p>
        </p:txBody>
      </p:sp>
      <p:sp>
        <p:nvSpPr>
          <p:cNvPr id="16" name="Text 14"/>
          <p:cNvSpPr/>
          <p:nvPr/>
        </p:nvSpPr>
        <p:spPr>
          <a:xfrm>
            <a:off x="6583680" y="3172968"/>
            <a:ext cx="4754880" cy="548640"/>
          </a:xfrm>
          <a:prstGeom prst="rect">
            <a:avLst/>
          </a:prstGeom>
          <a:noFill/>
          <a:ln/>
        </p:spPr>
        <p:txBody>
          <a:bodyPr wrap="square" lIns="0" tIns="0" rIns="0" bIns="0" rtlCol="0" anchor="ctr"/>
          <a:lstStyle/>
          <a:p>
            <a:pPr indent="0" marL="0">
              <a:lnSpc>
                <a:spcPct val="125000"/>
              </a:lnSpc>
              <a:buNone/>
            </a:pPr>
            <a:r>
              <a:rPr lang="en-US" sz="1000" dirty="0">
                <a:solidFill>
                  <a:srgbClr val="8B98A8"/>
                </a:solidFill>
                <a:latin typeface="Calibri" pitchFamily="34" charset="0"/>
                <a:ea typeface="Calibri" pitchFamily="34" charset="-122"/>
                <a:cs typeface="Calibri" pitchFamily="34" charset="-120"/>
              </a:rPr>
              <a:t>hard rule + rolling z-score — explainable in one sentence, no training data needed, no model drift risk</a:t>
            </a:r>
            <a:endParaRPr lang="en-US" sz="1000" dirty="0"/>
          </a:p>
        </p:txBody>
      </p:sp>
      <p:sp>
        <p:nvSpPr>
          <p:cNvPr id="17" name="Text 15"/>
          <p:cNvSpPr/>
          <p:nvPr/>
        </p:nvSpPr>
        <p:spPr>
          <a:xfrm>
            <a:off x="6583680" y="3840480"/>
            <a:ext cx="4754880" cy="274320"/>
          </a:xfrm>
          <a:prstGeom prst="rect">
            <a:avLst/>
          </a:prstGeom>
          <a:noFill/>
          <a:ln/>
        </p:spPr>
        <p:txBody>
          <a:bodyPr wrap="square" lIns="0" tIns="0" rIns="0" bIns="0" rtlCol="0" anchor="ctr"/>
          <a:lstStyle/>
          <a:p>
            <a:pPr indent="0" marL="0">
              <a:buNone/>
            </a:pPr>
            <a:r>
              <a:rPr lang="en-US" sz="1200" b="1" dirty="0">
                <a:solidFill>
                  <a:srgbClr val="F2F5F8"/>
                </a:solidFill>
                <a:latin typeface="Arial" pitchFamily="34" charset="0"/>
                <a:ea typeface="Arial" pitchFamily="34" charset="-122"/>
                <a:cs typeface="Arial" pitchFamily="34" charset="-120"/>
              </a:rPr>
              <a:t>Fix application &amp; recovery validation</a:t>
            </a:r>
            <a:endParaRPr lang="en-US" sz="1200" dirty="0"/>
          </a:p>
        </p:txBody>
      </p:sp>
      <p:sp>
        <p:nvSpPr>
          <p:cNvPr id="18" name="Text 16"/>
          <p:cNvSpPr/>
          <p:nvPr/>
        </p:nvSpPr>
        <p:spPr>
          <a:xfrm>
            <a:off x="6583680" y="4133088"/>
            <a:ext cx="4754880" cy="548640"/>
          </a:xfrm>
          <a:prstGeom prst="rect">
            <a:avLst/>
          </a:prstGeom>
          <a:noFill/>
          <a:ln/>
        </p:spPr>
        <p:txBody>
          <a:bodyPr wrap="square" lIns="0" tIns="0" rIns="0" bIns="0" rtlCol="0" anchor="ctr"/>
          <a:lstStyle/>
          <a:p>
            <a:pPr indent="0" marL="0">
              <a:lnSpc>
                <a:spcPct val="125000"/>
              </a:lnSpc>
              <a:buNone/>
            </a:pPr>
            <a:r>
              <a:rPr lang="en-US" sz="1000" dirty="0">
                <a:solidFill>
                  <a:srgbClr val="8B98A8"/>
                </a:solidFill>
                <a:latin typeface="Calibri" pitchFamily="34" charset="0"/>
                <a:ea typeface="Calibri" pitchFamily="34" charset="-122"/>
                <a:cs typeface="Calibri" pitchFamily="34" charset="-120"/>
              </a:rPr>
              <a:t>deterministic state machine — an autonomous fix must never depend on a probabilistic guess</a:t>
            </a:r>
            <a:endParaRPr lang="en-US" sz="1000" dirty="0"/>
          </a:p>
        </p:txBody>
      </p:sp>
      <p:sp>
        <p:nvSpPr>
          <p:cNvPr id="19" name="Text 17"/>
          <p:cNvSpPr/>
          <p:nvPr/>
        </p:nvSpPr>
        <p:spPr>
          <a:xfrm>
            <a:off x="6583680" y="4800600"/>
            <a:ext cx="4754880" cy="274320"/>
          </a:xfrm>
          <a:prstGeom prst="rect">
            <a:avLst/>
          </a:prstGeom>
          <a:noFill/>
          <a:ln/>
        </p:spPr>
        <p:txBody>
          <a:bodyPr wrap="square" lIns="0" tIns="0" rIns="0" bIns="0" rtlCol="0" anchor="ctr"/>
          <a:lstStyle/>
          <a:p>
            <a:pPr indent="0" marL="0">
              <a:buNone/>
            </a:pPr>
            <a:r>
              <a:rPr lang="en-US" sz="1200" b="1" dirty="0">
                <a:solidFill>
                  <a:srgbClr val="F2F5F8"/>
                </a:solidFill>
                <a:latin typeface="Arial" pitchFamily="34" charset="0"/>
                <a:ea typeface="Arial" pitchFamily="34" charset="-122"/>
                <a:cs typeface="Arial" pitchFamily="34" charset="-120"/>
              </a:rPr>
              <a:t>Citation grounding</a:t>
            </a:r>
            <a:endParaRPr lang="en-US" sz="1200" dirty="0"/>
          </a:p>
        </p:txBody>
      </p:sp>
      <p:sp>
        <p:nvSpPr>
          <p:cNvPr id="20" name="Text 18"/>
          <p:cNvSpPr/>
          <p:nvPr/>
        </p:nvSpPr>
        <p:spPr>
          <a:xfrm>
            <a:off x="6583680" y="5093208"/>
            <a:ext cx="4754880" cy="548640"/>
          </a:xfrm>
          <a:prstGeom prst="rect">
            <a:avLst/>
          </a:prstGeom>
          <a:noFill/>
          <a:ln/>
        </p:spPr>
        <p:txBody>
          <a:bodyPr wrap="square" lIns="0" tIns="0" rIns="0" bIns="0" rtlCol="0" anchor="ctr"/>
          <a:lstStyle/>
          <a:p>
            <a:pPr indent="0" marL="0">
              <a:lnSpc>
                <a:spcPct val="125000"/>
              </a:lnSpc>
              <a:buNone/>
            </a:pPr>
            <a:r>
              <a:rPr lang="en-US" sz="1000" dirty="0">
                <a:solidFill>
                  <a:srgbClr val="8B98A8"/>
                </a:solidFill>
                <a:latin typeface="Calibri" pitchFamily="34" charset="0"/>
                <a:ea typeface="Calibri" pitchFamily="34" charset="-122"/>
                <a:cs typeface="Calibri" pitchFamily="34" charset="-120"/>
              </a:rPr>
              <a:t>every claim traced to a real ticket/spec/fix ID by structured lookup, not left to the LLM's discretion</a:t>
            </a:r>
            <a:endParaRPr lang="en-US" sz="1000" dirty="0"/>
          </a:p>
        </p:txBody>
      </p:sp>
      <p:sp>
        <p:nvSpPr>
          <p:cNvPr id="21" name="Text 19"/>
          <p:cNvSpPr/>
          <p:nvPr/>
        </p:nvSpPr>
        <p:spPr>
          <a:xfrm>
            <a:off x="548640" y="6172200"/>
            <a:ext cx="11064240" cy="365760"/>
          </a:xfrm>
          <a:prstGeom prst="rect">
            <a:avLst/>
          </a:prstGeom>
          <a:noFill/>
          <a:ln/>
        </p:spPr>
        <p:txBody>
          <a:bodyPr wrap="square" lIns="0" tIns="0" rIns="0" bIns="0" rtlCol="0" anchor="ctr"/>
          <a:lstStyle/>
          <a:p>
            <a:pPr indent="0" marL="0">
              <a:buNone/>
            </a:pPr>
            <a:r>
              <a:rPr lang="en-US" sz="1150" i="1" dirty="0">
                <a:solidFill>
                  <a:srgbClr val="8B98A8"/>
                </a:solidFill>
                <a:latin typeface="Calibri" pitchFamily="34" charset="0"/>
                <a:ea typeface="Calibri" pitchFamily="34" charset="-122"/>
                <a:cs typeface="Calibri" pitchFamily="34" charset="-120"/>
              </a:rPr>
              <a:t>This is why the system works fully offline: AI enriches the output, it is never a single point of failure for correctness.</a:t>
            </a:r>
            <a:endParaRPr lang="en-US" sz="1150" dirty="0"/>
          </a:p>
        </p:txBody>
      </p:sp>
      <p:sp>
        <p:nvSpPr>
          <p:cNvPr id="22" name="Text 20"/>
          <p:cNvSpPr/>
          <p:nvPr/>
        </p:nvSpPr>
        <p:spPr>
          <a:xfrm>
            <a:off x="11338560" y="6355080"/>
            <a:ext cx="457200" cy="320040"/>
          </a:xfrm>
          <a:prstGeom prst="rect">
            <a:avLst/>
          </a:prstGeom>
          <a:noFill/>
          <a:ln/>
        </p:spPr>
        <p:txBody>
          <a:bodyPr wrap="square" lIns="0" tIns="0" rIns="0" bIns="0" rtlCol="0" anchor="ctr"/>
          <a:lstStyle/>
          <a:p>
            <a:pPr algn="r" indent="0" marL="0">
              <a:buNone/>
            </a:pPr>
            <a:r>
              <a:rPr lang="en-US" sz="1000" dirty="0">
                <a:solidFill>
                  <a:srgbClr val="8B98A8"/>
                </a:solidFill>
                <a:latin typeface="Calibri" pitchFamily="34" charset="0"/>
                <a:ea typeface="Calibri" pitchFamily="34" charset="-122"/>
                <a:cs typeface="Calibri" pitchFamily="34" charset="-120"/>
              </a:rPr>
              <a:t>6</a:t>
            </a:r>
            <a:endParaRPr lang="en-US" sz="1000" dirty="0"/>
          </a:p>
        </p:txBody>
      </p:sp>
      <p:sp>
        <p:nvSpPr>
          <p:cNvPr id="23" name="Text 21"/>
          <p:cNvSpPr/>
          <p:nvPr/>
        </p:nvSpPr>
        <p:spPr>
          <a:xfrm>
            <a:off x="548640" y="6355080"/>
            <a:ext cx="4572000" cy="320040"/>
          </a:xfrm>
          <a:prstGeom prst="rect">
            <a:avLst/>
          </a:prstGeom>
          <a:noFill/>
          <a:ln/>
        </p:spPr>
        <p:txBody>
          <a:bodyPr wrap="square" lIns="0" tIns="0" rIns="0" bIns="0" rtlCol="0" anchor="ctr"/>
          <a:lstStyle/>
          <a:p>
            <a:pPr indent="0" marL="0">
              <a:buNone/>
            </a:pPr>
            <a:r>
              <a:rPr lang="en-US" sz="900" spc="100" kern="0" dirty="0">
                <a:solidFill>
                  <a:srgbClr val="8B98A8"/>
                </a:solidFill>
                <a:latin typeface="Calibri" pitchFamily="34" charset="0"/>
                <a:ea typeface="Calibri" pitchFamily="34" charset="-122"/>
                <a:cs typeface="Calibri" pitchFamily="34" charset="-120"/>
              </a:rPr>
              <a:t>EI-NEXUS · MCP MAVERICKS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E13"/>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lIns="0" tIns="0" rIns="0" bIns="0" rtlCol="0" anchor="ctr"/>
          <a:lstStyle/>
          <a:p>
            <a:pPr indent="0" marL="0">
              <a:buNone/>
            </a:pPr>
            <a:r>
              <a:rPr lang="en-US" sz="1200" b="1" spc="200" kern="0" dirty="0">
                <a:solidFill>
                  <a:srgbClr val="FF8A3D"/>
                </a:solidFill>
                <a:latin typeface="Calibri" pitchFamily="34" charset="0"/>
                <a:ea typeface="Calibri" pitchFamily="34" charset="-122"/>
                <a:cs typeface="Calibri" pitchFamily="34" charset="-120"/>
              </a:rPr>
              <a:t>CRITERION 5 · AI IMPLEMENTATION</a:t>
            </a:r>
            <a:endParaRPr lang="en-US" sz="1200" dirty="0"/>
          </a:p>
        </p:txBody>
      </p:sp>
      <p:sp>
        <p:nvSpPr>
          <p:cNvPr id="3" name="Text 1"/>
          <p:cNvSpPr/>
          <p:nvPr/>
        </p:nvSpPr>
        <p:spPr>
          <a:xfrm>
            <a:off x="548640" y="685800"/>
            <a:ext cx="10515600" cy="822960"/>
          </a:xfrm>
          <a:prstGeom prst="rect">
            <a:avLst/>
          </a:prstGeom>
          <a:noFill/>
          <a:ln/>
        </p:spPr>
        <p:txBody>
          <a:bodyPr wrap="square" lIns="0" tIns="0" rIns="0" bIns="0" rtlCol="0" anchor="ctr"/>
          <a:lstStyle/>
          <a:p>
            <a:pPr indent="0" marL="0">
              <a:buNone/>
            </a:pPr>
            <a:r>
              <a:rPr lang="en-US" sz="3000" b="1" dirty="0">
                <a:solidFill>
                  <a:srgbClr val="F2F5F8"/>
                </a:solidFill>
                <a:latin typeface="Arial" pitchFamily="34" charset="0"/>
                <a:ea typeface="Arial" pitchFamily="34" charset="-122"/>
                <a:cs typeface="Arial" pitchFamily="34" charset="-120"/>
              </a:rPr>
              <a:t>Depth, not a single API call</a:t>
            </a:r>
            <a:endParaRPr lang="en-US" sz="3000" dirty="0"/>
          </a:p>
        </p:txBody>
      </p:sp>
      <p:sp>
        <p:nvSpPr>
          <p:cNvPr id="4" name="Shape 2"/>
          <p:cNvSpPr/>
          <p:nvPr/>
        </p:nvSpPr>
        <p:spPr>
          <a:xfrm>
            <a:off x="548640" y="1691640"/>
            <a:ext cx="3505200" cy="1874520"/>
          </a:xfrm>
          <a:prstGeom prst="roundRect">
            <a:avLst>
              <a:gd name="adj" fmla="val 3902"/>
            </a:avLst>
          </a:prstGeom>
          <a:solidFill>
            <a:srgbClr val="1A2330"/>
          </a:solidFill>
          <a:ln w="12700">
            <a:solidFill>
              <a:srgbClr val="232E3B"/>
            </a:solidFill>
            <a:prstDash val="solid"/>
          </a:ln>
          <a:effectLst>
            <a:outerShdw sx="100000" sy="100000" kx="0" ky="0" algn="bl" rotWithShape="0" blurRad="101600" dist="38100" dir="2700000">
              <a:srgbClr val="000000">
                <a:alpha val="35000"/>
              </a:srgbClr>
            </a:outerShdw>
          </a:effectLst>
        </p:spPr>
      </p:sp>
      <p:sp>
        <p:nvSpPr>
          <p:cNvPr id="5" name="Shape 3"/>
          <p:cNvSpPr/>
          <p:nvPr/>
        </p:nvSpPr>
        <p:spPr>
          <a:xfrm>
            <a:off x="777240" y="1892808"/>
            <a:ext cx="438912" cy="438912"/>
          </a:xfrm>
          <a:prstGeom prst="ellipse">
            <a:avLst/>
          </a:prstGeom>
          <a:solidFill>
            <a:srgbClr val="1A2330"/>
          </a:solidFill>
          <a:ln w="19050">
            <a:solidFill>
              <a:srgbClr val="FF8A3D"/>
            </a:solidFill>
            <a:prstDash val="solid"/>
          </a:ln>
        </p:spPr>
      </p:sp>
      <p:pic>
        <p:nvPicPr>
          <p:cNvPr id="6" name="Image 0" descr="preencoded.png">    </p:cNvPr>
          <p:cNvPicPr>
            <a:picLocks noChangeAspect="1"/>
          </p:cNvPicPr>
          <p:nvPr/>
        </p:nvPicPr>
        <p:blipFill>
          <a:blip r:embed="rId1"/>
          <a:stretch>
            <a:fillRect/>
          </a:stretch>
        </p:blipFill>
        <p:spPr>
          <a:xfrm>
            <a:off x="891357" y="2006925"/>
            <a:ext cx="210678" cy="210678"/>
          </a:xfrm>
          <a:prstGeom prst="rect">
            <a:avLst/>
          </a:prstGeom>
        </p:spPr>
      </p:pic>
      <p:sp>
        <p:nvSpPr>
          <p:cNvPr id="7" name="Text 4"/>
          <p:cNvSpPr/>
          <p:nvPr/>
        </p:nvSpPr>
        <p:spPr>
          <a:xfrm>
            <a:off x="777240" y="2441448"/>
            <a:ext cx="3048000" cy="365760"/>
          </a:xfrm>
          <a:prstGeom prst="rect">
            <a:avLst/>
          </a:prstGeom>
          <a:noFill/>
          <a:ln/>
        </p:spPr>
        <p:txBody>
          <a:bodyPr wrap="square" lIns="0" tIns="0" rIns="0" bIns="0" rtlCol="0" anchor="ctr"/>
          <a:lstStyle/>
          <a:p>
            <a:pPr indent="0" marL="0">
              <a:buNone/>
            </a:pPr>
            <a:r>
              <a:rPr lang="en-US" sz="1300" b="1" dirty="0">
                <a:solidFill>
                  <a:srgbClr val="F2F5F8"/>
                </a:solidFill>
                <a:latin typeface="Arial" pitchFamily="34" charset="0"/>
                <a:ea typeface="Arial" pitchFamily="34" charset="-122"/>
                <a:cs typeface="Arial" pitchFamily="34" charset="-120"/>
              </a:rPr>
              <a:t>4-Tool MCP Agent</a:t>
            </a:r>
            <a:endParaRPr lang="en-US" sz="1300" dirty="0"/>
          </a:p>
        </p:txBody>
      </p:sp>
      <p:sp>
        <p:nvSpPr>
          <p:cNvPr id="8" name="Text 5"/>
          <p:cNvSpPr/>
          <p:nvPr/>
        </p:nvSpPr>
        <p:spPr>
          <a:xfrm>
            <a:off x="777240" y="2788920"/>
            <a:ext cx="3048000" cy="685800"/>
          </a:xfrm>
          <a:prstGeom prst="rect">
            <a:avLst/>
          </a:prstGeom>
          <a:noFill/>
          <a:ln/>
        </p:spPr>
        <p:txBody>
          <a:bodyPr wrap="square" lIns="0" tIns="0" rIns="0" bIns="0" rtlCol="0" anchor="ctr"/>
          <a:lstStyle/>
          <a:p>
            <a:pPr indent="0" marL="0">
              <a:lnSpc>
                <a:spcPct val="115000"/>
              </a:lnSpc>
              <a:buNone/>
            </a:pPr>
            <a:r>
              <a:rPr lang="en-US" sz="950" dirty="0">
                <a:solidFill>
                  <a:srgbClr val="8B98A8"/>
                </a:solidFill>
                <a:latin typeface="Calibri" pitchFamily="34" charset="0"/>
                <a:ea typeface="Calibri" pitchFamily="34" charset="-122"/>
                <a:cs typeface="Calibri" pitchFamily="34" charset="-120"/>
              </a:rPr>
              <a:t>Ticket search, BOM lookup, design-doc RAG, past-fix retrieval — live reasoning trace, cited evidence</a:t>
            </a:r>
            <a:endParaRPr lang="en-US" sz="950" dirty="0"/>
          </a:p>
        </p:txBody>
      </p:sp>
      <p:sp>
        <p:nvSpPr>
          <p:cNvPr id="9" name="Shape 6"/>
          <p:cNvSpPr/>
          <p:nvPr/>
        </p:nvSpPr>
        <p:spPr>
          <a:xfrm>
            <a:off x="4328160" y="1691640"/>
            <a:ext cx="3505200" cy="1874520"/>
          </a:xfrm>
          <a:prstGeom prst="roundRect">
            <a:avLst>
              <a:gd name="adj" fmla="val 3902"/>
            </a:avLst>
          </a:prstGeom>
          <a:solidFill>
            <a:srgbClr val="1A2330"/>
          </a:solidFill>
          <a:ln w="12700">
            <a:solidFill>
              <a:srgbClr val="232E3B"/>
            </a:solidFill>
            <a:prstDash val="solid"/>
          </a:ln>
          <a:effectLst>
            <a:outerShdw sx="100000" sy="100000" kx="0" ky="0" algn="bl" rotWithShape="0" blurRad="101600" dist="38100" dir="2700000">
              <a:srgbClr val="000000">
                <a:alpha val="35000"/>
              </a:srgbClr>
            </a:outerShdw>
          </a:effectLst>
        </p:spPr>
      </p:sp>
      <p:sp>
        <p:nvSpPr>
          <p:cNvPr id="10" name="Shape 7"/>
          <p:cNvSpPr/>
          <p:nvPr/>
        </p:nvSpPr>
        <p:spPr>
          <a:xfrm>
            <a:off x="4556760" y="1892808"/>
            <a:ext cx="438912" cy="438912"/>
          </a:xfrm>
          <a:prstGeom prst="ellipse">
            <a:avLst/>
          </a:prstGeom>
          <a:solidFill>
            <a:srgbClr val="1A2330"/>
          </a:solidFill>
          <a:ln w="19050">
            <a:solidFill>
              <a:srgbClr val="4FD1E8"/>
            </a:solidFill>
            <a:prstDash val="solid"/>
          </a:ln>
        </p:spPr>
      </p:sp>
      <p:pic>
        <p:nvPicPr>
          <p:cNvPr id="11" name="Image 1" descr="preencoded.png">    </p:cNvPr>
          <p:cNvPicPr>
            <a:picLocks noChangeAspect="1"/>
          </p:cNvPicPr>
          <p:nvPr/>
        </p:nvPicPr>
        <p:blipFill>
          <a:blip r:embed="rId2"/>
          <a:stretch>
            <a:fillRect/>
          </a:stretch>
        </p:blipFill>
        <p:spPr>
          <a:xfrm>
            <a:off x="4670877" y="2006925"/>
            <a:ext cx="210678" cy="210678"/>
          </a:xfrm>
          <a:prstGeom prst="rect">
            <a:avLst/>
          </a:prstGeom>
        </p:spPr>
      </p:pic>
      <p:sp>
        <p:nvSpPr>
          <p:cNvPr id="12" name="Text 8"/>
          <p:cNvSpPr/>
          <p:nvPr/>
        </p:nvSpPr>
        <p:spPr>
          <a:xfrm>
            <a:off x="4556760" y="2441448"/>
            <a:ext cx="3048000" cy="365760"/>
          </a:xfrm>
          <a:prstGeom prst="rect">
            <a:avLst/>
          </a:prstGeom>
          <a:noFill/>
          <a:ln/>
        </p:spPr>
        <p:txBody>
          <a:bodyPr wrap="square" lIns="0" tIns="0" rIns="0" bIns="0" rtlCol="0" anchor="ctr"/>
          <a:lstStyle/>
          <a:p>
            <a:pPr indent="0" marL="0">
              <a:buNone/>
            </a:pPr>
            <a:r>
              <a:rPr lang="en-US" sz="1300" b="1" dirty="0">
                <a:solidFill>
                  <a:srgbClr val="F2F5F8"/>
                </a:solidFill>
                <a:latin typeface="Arial" pitchFamily="34" charset="0"/>
                <a:ea typeface="Arial" pitchFamily="34" charset="-122"/>
                <a:cs typeface="Arial" pitchFamily="34" charset="-120"/>
              </a:rPr>
              <a:t>RAG Retrieval</a:t>
            </a:r>
            <a:endParaRPr lang="en-US" sz="1300" dirty="0"/>
          </a:p>
        </p:txBody>
      </p:sp>
      <p:sp>
        <p:nvSpPr>
          <p:cNvPr id="13" name="Text 9"/>
          <p:cNvSpPr/>
          <p:nvPr/>
        </p:nvSpPr>
        <p:spPr>
          <a:xfrm>
            <a:off x="4556760" y="2788920"/>
            <a:ext cx="3048000" cy="685800"/>
          </a:xfrm>
          <a:prstGeom prst="rect">
            <a:avLst/>
          </a:prstGeom>
          <a:noFill/>
          <a:ln/>
        </p:spPr>
        <p:txBody>
          <a:bodyPr wrap="square" lIns="0" tIns="0" rIns="0" bIns="0" rtlCol="0" anchor="ctr"/>
          <a:lstStyle/>
          <a:p>
            <a:pPr indent="0" marL="0">
              <a:lnSpc>
                <a:spcPct val="115000"/>
              </a:lnSpc>
              <a:buNone/>
            </a:pPr>
            <a:r>
              <a:rPr lang="en-US" sz="950" dirty="0">
                <a:solidFill>
                  <a:srgbClr val="8B98A8"/>
                </a:solidFill>
                <a:latin typeface="Calibri" pitchFamily="34" charset="0"/>
                <a:ea typeface="Calibri" pitchFamily="34" charset="-122"/>
                <a:cs typeface="Calibri" pitchFamily="34" charset="-120"/>
              </a:rPr>
              <a:t>Hand-rolled TF-IDF + cosine similarity — transparent, zero vector-DB dependency</a:t>
            </a:r>
            <a:endParaRPr lang="en-US" sz="950" dirty="0"/>
          </a:p>
        </p:txBody>
      </p:sp>
      <p:sp>
        <p:nvSpPr>
          <p:cNvPr id="14" name="Shape 10"/>
          <p:cNvSpPr/>
          <p:nvPr/>
        </p:nvSpPr>
        <p:spPr>
          <a:xfrm>
            <a:off x="8107680" y="1691640"/>
            <a:ext cx="3505200" cy="1874520"/>
          </a:xfrm>
          <a:prstGeom prst="roundRect">
            <a:avLst>
              <a:gd name="adj" fmla="val 3902"/>
            </a:avLst>
          </a:prstGeom>
          <a:solidFill>
            <a:srgbClr val="1A2330"/>
          </a:solidFill>
          <a:ln w="12700">
            <a:solidFill>
              <a:srgbClr val="232E3B"/>
            </a:solidFill>
            <a:prstDash val="solid"/>
          </a:ln>
          <a:effectLst>
            <a:outerShdw sx="100000" sy="100000" kx="0" ky="0" algn="bl" rotWithShape="0" blurRad="101600" dist="38100" dir="2700000">
              <a:srgbClr val="000000">
                <a:alpha val="35000"/>
              </a:srgbClr>
            </a:outerShdw>
          </a:effectLst>
        </p:spPr>
      </p:sp>
      <p:sp>
        <p:nvSpPr>
          <p:cNvPr id="15" name="Shape 11"/>
          <p:cNvSpPr/>
          <p:nvPr/>
        </p:nvSpPr>
        <p:spPr>
          <a:xfrm>
            <a:off x="8336280" y="1892808"/>
            <a:ext cx="438912" cy="438912"/>
          </a:xfrm>
          <a:prstGeom prst="ellipse">
            <a:avLst/>
          </a:prstGeom>
          <a:solidFill>
            <a:srgbClr val="1A2330"/>
          </a:solidFill>
          <a:ln w="19050">
            <a:solidFill>
              <a:srgbClr val="5B8DEF"/>
            </a:solidFill>
            <a:prstDash val="solid"/>
          </a:ln>
        </p:spPr>
      </p:sp>
      <p:pic>
        <p:nvPicPr>
          <p:cNvPr id="16" name="Image 2" descr="preencoded.png">    </p:cNvPr>
          <p:cNvPicPr>
            <a:picLocks noChangeAspect="1"/>
          </p:cNvPicPr>
          <p:nvPr/>
        </p:nvPicPr>
        <p:blipFill>
          <a:blip r:embed="rId3"/>
          <a:stretch>
            <a:fillRect/>
          </a:stretch>
        </p:blipFill>
        <p:spPr>
          <a:xfrm>
            <a:off x="8450397" y="2006925"/>
            <a:ext cx="210678" cy="210678"/>
          </a:xfrm>
          <a:prstGeom prst="rect">
            <a:avLst/>
          </a:prstGeom>
        </p:spPr>
      </p:pic>
      <p:sp>
        <p:nvSpPr>
          <p:cNvPr id="17" name="Text 12"/>
          <p:cNvSpPr/>
          <p:nvPr/>
        </p:nvSpPr>
        <p:spPr>
          <a:xfrm>
            <a:off x="8336280" y="2441448"/>
            <a:ext cx="3048000" cy="365760"/>
          </a:xfrm>
          <a:prstGeom prst="rect">
            <a:avLst/>
          </a:prstGeom>
          <a:noFill/>
          <a:ln/>
        </p:spPr>
        <p:txBody>
          <a:bodyPr wrap="square" lIns="0" tIns="0" rIns="0" bIns="0" rtlCol="0" anchor="ctr"/>
          <a:lstStyle/>
          <a:p>
            <a:pPr indent="0" marL="0">
              <a:buNone/>
            </a:pPr>
            <a:r>
              <a:rPr lang="en-US" sz="1300" b="1" dirty="0">
                <a:solidFill>
                  <a:srgbClr val="F2F5F8"/>
                </a:solidFill>
                <a:latin typeface="Arial" pitchFamily="34" charset="0"/>
                <a:ea typeface="Arial" pitchFamily="34" charset="-122"/>
                <a:cs typeface="Arial" pitchFamily="34" charset="-120"/>
              </a:rPr>
              <a:t>Hybrid Detection</a:t>
            </a:r>
            <a:endParaRPr lang="en-US" sz="1300" dirty="0"/>
          </a:p>
        </p:txBody>
      </p:sp>
      <p:sp>
        <p:nvSpPr>
          <p:cNvPr id="18" name="Text 13"/>
          <p:cNvSpPr/>
          <p:nvPr/>
        </p:nvSpPr>
        <p:spPr>
          <a:xfrm>
            <a:off x="8336280" y="2788920"/>
            <a:ext cx="3048000" cy="685800"/>
          </a:xfrm>
          <a:prstGeom prst="rect">
            <a:avLst/>
          </a:prstGeom>
          <a:noFill/>
          <a:ln/>
        </p:spPr>
        <p:txBody>
          <a:bodyPr wrap="square" lIns="0" tIns="0" rIns="0" bIns="0" rtlCol="0" anchor="ctr"/>
          <a:lstStyle/>
          <a:p>
            <a:pPr indent="0" marL="0">
              <a:lnSpc>
                <a:spcPct val="115000"/>
              </a:lnSpc>
              <a:buNone/>
            </a:pPr>
            <a:r>
              <a:rPr lang="en-US" sz="950" dirty="0">
                <a:solidFill>
                  <a:srgbClr val="8B98A8"/>
                </a:solidFill>
                <a:latin typeface="Calibri" pitchFamily="34" charset="0"/>
                <a:ea typeface="Calibri" pitchFamily="34" charset="-122"/>
                <a:cs typeface="Calibri" pitchFamily="34" charset="-120"/>
              </a:rPr>
              <a:t>Rule thresholds + rolling z-score statistics, with a variance floor for stability</a:t>
            </a:r>
            <a:endParaRPr lang="en-US" sz="950" dirty="0"/>
          </a:p>
        </p:txBody>
      </p:sp>
      <p:sp>
        <p:nvSpPr>
          <p:cNvPr id="19" name="Shape 14"/>
          <p:cNvSpPr/>
          <p:nvPr/>
        </p:nvSpPr>
        <p:spPr>
          <a:xfrm>
            <a:off x="548640" y="3840480"/>
            <a:ext cx="3505200" cy="1874520"/>
          </a:xfrm>
          <a:prstGeom prst="roundRect">
            <a:avLst>
              <a:gd name="adj" fmla="val 3902"/>
            </a:avLst>
          </a:prstGeom>
          <a:solidFill>
            <a:srgbClr val="1A2330"/>
          </a:solidFill>
          <a:ln w="12700">
            <a:solidFill>
              <a:srgbClr val="232E3B"/>
            </a:solidFill>
            <a:prstDash val="solid"/>
          </a:ln>
          <a:effectLst>
            <a:outerShdw sx="100000" sy="100000" kx="0" ky="0" algn="bl" rotWithShape="0" blurRad="101600" dist="38100" dir="2700000">
              <a:srgbClr val="000000">
                <a:alpha val="35000"/>
              </a:srgbClr>
            </a:outerShdw>
          </a:effectLst>
        </p:spPr>
      </p:sp>
      <p:sp>
        <p:nvSpPr>
          <p:cNvPr id="20" name="Shape 15"/>
          <p:cNvSpPr/>
          <p:nvPr/>
        </p:nvSpPr>
        <p:spPr>
          <a:xfrm>
            <a:off x="777240" y="4041648"/>
            <a:ext cx="438912" cy="438912"/>
          </a:xfrm>
          <a:prstGeom prst="ellipse">
            <a:avLst/>
          </a:prstGeom>
          <a:solidFill>
            <a:srgbClr val="1A2330"/>
          </a:solidFill>
          <a:ln w="19050">
            <a:solidFill>
              <a:srgbClr val="3ED598"/>
            </a:solidFill>
            <a:prstDash val="solid"/>
          </a:ln>
        </p:spPr>
      </p:sp>
      <p:pic>
        <p:nvPicPr>
          <p:cNvPr id="21" name="Image 3" descr="preencoded.png">    </p:cNvPr>
          <p:cNvPicPr>
            <a:picLocks noChangeAspect="1"/>
          </p:cNvPicPr>
          <p:nvPr/>
        </p:nvPicPr>
        <p:blipFill>
          <a:blip r:embed="rId4"/>
          <a:stretch>
            <a:fillRect/>
          </a:stretch>
        </p:blipFill>
        <p:spPr>
          <a:xfrm>
            <a:off x="891357" y="4155765"/>
            <a:ext cx="210678" cy="210678"/>
          </a:xfrm>
          <a:prstGeom prst="rect">
            <a:avLst/>
          </a:prstGeom>
        </p:spPr>
      </p:pic>
      <p:sp>
        <p:nvSpPr>
          <p:cNvPr id="22" name="Text 16"/>
          <p:cNvSpPr/>
          <p:nvPr/>
        </p:nvSpPr>
        <p:spPr>
          <a:xfrm>
            <a:off x="777240" y="4590288"/>
            <a:ext cx="3048000" cy="365760"/>
          </a:xfrm>
          <a:prstGeom prst="rect">
            <a:avLst/>
          </a:prstGeom>
          <a:noFill/>
          <a:ln/>
        </p:spPr>
        <p:txBody>
          <a:bodyPr wrap="square" lIns="0" tIns="0" rIns="0" bIns="0" rtlCol="0" anchor="ctr"/>
          <a:lstStyle/>
          <a:p>
            <a:pPr indent="0" marL="0">
              <a:buNone/>
            </a:pPr>
            <a:r>
              <a:rPr lang="en-US" sz="1300" b="1" dirty="0">
                <a:solidFill>
                  <a:srgbClr val="F2F5F8"/>
                </a:solidFill>
                <a:latin typeface="Arial" pitchFamily="34" charset="0"/>
                <a:ea typeface="Arial" pitchFamily="34" charset="-122"/>
                <a:cs typeface="Arial" pitchFamily="34" charset="-120"/>
              </a:rPr>
              <a:t>3-Tier LLM Fallback</a:t>
            </a:r>
            <a:endParaRPr lang="en-US" sz="1300" dirty="0"/>
          </a:p>
        </p:txBody>
      </p:sp>
      <p:sp>
        <p:nvSpPr>
          <p:cNvPr id="23" name="Text 17"/>
          <p:cNvSpPr/>
          <p:nvPr/>
        </p:nvSpPr>
        <p:spPr>
          <a:xfrm>
            <a:off x="777240" y="4937760"/>
            <a:ext cx="3048000" cy="685800"/>
          </a:xfrm>
          <a:prstGeom prst="rect">
            <a:avLst/>
          </a:prstGeom>
          <a:noFill/>
          <a:ln/>
        </p:spPr>
        <p:txBody>
          <a:bodyPr wrap="square" lIns="0" tIns="0" rIns="0" bIns="0" rtlCol="0" anchor="ctr"/>
          <a:lstStyle/>
          <a:p>
            <a:pPr indent="0" marL="0">
              <a:lnSpc>
                <a:spcPct val="115000"/>
              </a:lnSpc>
              <a:buNone/>
            </a:pPr>
            <a:r>
              <a:rPr lang="en-US" sz="950" dirty="0">
                <a:solidFill>
                  <a:srgbClr val="8B98A8"/>
                </a:solidFill>
                <a:latin typeface="Calibri" pitchFamily="34" charset="0"/>
                <a:ea typeface="Calibri" pitchFamily="34" charset="-122"/>
                <a:cs typeface="Calibri" pitchFamily="34" charset="-120"/>
              </a:rPr>
              <a:t>Gemini to GPT (Azure AI Foundry or public OpenAI) to offline rule-based — never breaks</a:t>
            </a:r>
            <a:endParaRPr lang="en-US" sz="950" dirty="0"/>
          </a:p>
        </p:txBody>
      </p:sp>
      <p:sp>
        <p:nvSpPr>
          <p:cNvPr id="24" name="Shape 18"/>
          <p:cNvSpPr/>
          <p:nvPr/>
        </p:nvSpPr>
        <p:spPr>
          <a:xfrm>
            <a:off x="4328160" y="3840480"/>
            <a:ext cx="3505200" cy="1874520"/>
          </a:xfrm>
          <a:prstGeom prst="roundRect">
            <a:avLst>
              <a:gd name="adj" fmla="val 3902"/>
            </a:avLst>
          </a:prstGeom>
          <a:solidFill>
            <a:srgbClr val="1A2330"/>
          </a:solidFill>
          <a:ln w="12700">
            <a:solidFill>
              <a:srgbClr val="232E3B"/>
            </a:solidFill>
            <a:prstDash val="solid"/>
          </a:ln>
          <a:effectLst>
            <a:outerShdw sx="100000" sy="100000" kx="0" ky="0" algn="bl" rotWithShape="0" blurRad="101600" dist="38100" dir="2700000">
              <a:srgbClr val="000000">
                <a:alpha val="35000"/>
              </a:srgbClr>
            </a:outerShdw>
          </a:effectLst>
        </p:spPr>
      </p:sp>
      <p:sp>
        <p:nvSpPr>
          <p:cNvPr id="25" name="Shape 19"/>
          <p:cNvSpPr/>
          <p:nvPr/>
        </p:nvSpPr>
        <p:spPr>
          <a:xfrm>
            <a:off x="4556760" y="4041648"/>
            <a:ext cx="438912" cy="438912"/>
          </a:xfrm>
          <a:prstGeom prst="ellipse">
            <a:avLst/>
          </a:prstGeom>
          <a:solidFill>
            <a:srgbClr val="1A2330"/>
          </a:solidFill>
          <a:ln w="19050">
            <a:solidFill>
              <a:srgbClr val="FF8A3D"/>
            </a:solidFill>
            <a:prstDash val="solid"/>
          </a:ln>
        </p:spPr>
      </p:sp>
      <p:pic>
        <p:nvPicPr>
          <p:cNvPr id="26" name="Image 4" descr="preencoded.png">    </p:cNvPr>
          <p:cNvPicPr>
            <a:picLocks noChangeAspect="1"/>
          </p:cNvPicPr>
          <p:nvPr/>
        </p:nvPicPr>
        <p:blipFill>
          <a:blip r:embed="rId5"/>
          <a:stretch>
            <a:fillRect/>
          </a:stretch>
        </p:blipFill>
        <p:spPr>
          <a:xfrm>
            <a:off x="4670877" y="4155765"/>
            <a:ext cx="210678" cy="210678"/>
          </a:xfrm>
          <a:prstGeom prst="rect">
            <a:avLst/>
          </a:prstGeom>
        </p:spPr>
      </p:pic>
      <p:sp>
        <p:nvSpPr>
          <p:cNvPr id="27" name="Text 20"/>
          <p:cNvSpPr/>
          <p:nvPr/>
        </p:nvSpPr>
        <p:spPr>
          <a:xfrm>
            <a:off x="4556760" y="4590288"/>
            <a:ext cx="3048000" cy="365760"/>
          </a:xfrm>
          <a:prstGeom prst="rect">
            <a:avLst/>
          </a:prstGeom>
          <a:noFill/>
          <a:ln/>
        </p:spPr>
        <p:txBody>
          <a:bodyPr wrap="square" lIns="0" tIns="0" rIns="0" bIns="0" rtlCol="0" anchor="ctr"/>
          <a:lstStyle/>
          <a:p>
            <a:pPr indent="0" marL="0">
              <a:buNone/>
            </a:pPr>
            <a:r>
              <a:rPr lang="en-US" sz="1300" b="1" dirty="0">
                <a:solidFill>
                  <a:srgbClr val="F2F5F8"/>
                </a:solidFill>
                <a:latin typeface="Arial" pitchFamily="34" charset="0"/>
                <a:ea typeface="Arial" pitchFamily="34" charset="-122"/>
                <a:cs typeface="Arial" pitchFamily="34" charset="-120"/>
              </a:rPr>
              <a:t>ARIA Chatbot</a:t>
            </a:r>
            <a:endParaRPr lang="en-US" sz="1300" dirty="0"/>
          </a:p>
        </p:txBody>
      </p:sp>
      <p:sp>
        <p:nvSpPr>
          <p:cNvPr id="28" name="Text 21"/>
          <p:cNvSpPr/>
          <p:nvPr/>
        </p:nvSpPr>
        <p:spPr>
          <a:xfrm>
            <a:off x="4556760" y="4937760"/>
            <a:ext cx="3048000" cy="685800"/>
          </a:xfrm>
          <a:prstGeom prst="rect">
            <a:avLst/>
          </a:prstGeom>
          <a:noFill/>
          <a:ln/>
        </p:spPr>
        <p:txBody>
          <a:bodyPr wrap="square" lIns="0" tIns="0" rIns="0" bIns="0" rtlCol="0" anchor="ctr"/>
          <a:lstStyle/>
          <a:p>
            <a:pPr indent="0" marL="0">
              <a:lnSpc>
                <a:spcPct val="115000"/>
              </a:lnSpc>
              <a:buNone/>
            </a:pPr>
            <a:r>
              <a:rPr lang="en-US" sz="950" dirty="0">
                <a:solidFill>
                  <a:srgbClr val="8B98A8"/>
                </a:solidFill>
                <a:latin typeface="Calibri" pitchFamily="34" charset="0"/>
                <a:ea typeface="Calibri" pitchFamily="34" charset="-122"/>
                <a:cs typeface="Calibri" pitchFamily="34" charset="-120"/>
              </a:rPr>
              <a:t>Conversational Q&amp;A grounded in live fleet + incident history, same fallback reliability</a:t>
            </a:r>
            <a:endParaRPr lang="en-US" sz="950" dirty="0"/>
          </a:p>
        </p:txBody>
      </p:sp>
      <p:sp>
        <p:nvSpPr>
          <p:cNvPr id="29" name="Shape 22"/>
          <p:cNvSpPr/>
          <p:nvPr/>
        </p:nvSpPr>
        <p:spPr>
          <a:xfrm>
            <a:off x="8107680" y="3840480"/>
            <a:ext cx="3505200" cy="1874520"/>
          </a:xfrm>
          <a:prstGeom prst="roundRect">
            <a:avLst>
              <a:gd name="adj" fmla="val 3902"/>
            </a:avLst>
          </a:prstGeom>
          <a:solidFill>
            <a:srgbClr val="1A2330"/>
          </a:solidFill>
          <a:ln w="12700">
            <a:solidFill>
              <a:srgbClr val="232E3B"/>
            </a:solidFill>
            <a:prstDash val="solid"/>
          </a:ln>
          <a:effectLst>
            <a:outerShdw sx="100000" sy="100000" kx="0" ky="0" algn="bl" rotWithShape="0" blurRad="101600" dist="38100" dir="2700000">
              <a:srgbClr val="000000">
                <a:alpha val="35000"/>
              </a:srgbClr>
            </a:outerShdw>
          </a:effectLst>
        </p:spPr>
      </p:sp>
      <p:sp>
        <p:nvSpPr>
          <p:cNvPr id="30" name="Shape 23"/>
          <p:cNvSpPr/>
          <p:nvPr/>
        </p:nvSpPr>
        <p:spPr>
          <a:xfrm>
            <a:off x="8336280" y="4041648"/>
            <a:ext cx="438912" cy="438912"/>
          </a:xfrm>
          <a:prstGeom prst="ellipse">
            <a:avLst/>
          </a:prstGeom>
          <a:solidFill>
            <a:srgbClr val="1A2330"/>
          </a:solidFill>
          <a:ln w="19050">
            <a:solidFill>
              <a:srgbClr val="4FD1E8"/>
            </a:solidFill>
            <a:prstDash val="solid"/>
          </a:ln>
        </p:spPr>
      </p:sp>
      <p:pic>
        <p:nvPicPr>
          <p:cNvPr id="31" name="Image 5" descr="preencoded.png">    </p:cNvPr>
          <p:cNvPicPr>
            <a:picLocks noChangeAspect="1"/>
          </p:cNvPicPr>
          <p:nvPr/>
        </p:nvPicPr>
        <p:blipFill>
          <a:blip r:embed="rId6"/>
          <a:stretch>
            <a:fillRect/>
          </a:stretch>
        </p:blipFill>
        <p:spPr>
          <a:xfrm>
            <a:off x="8450397" y="4155765"/>
            <a:ext cx="210678" cy="210678"/>
          </a:xfrm>
          <a:prstGeom prst="rect">
            <a:avLst/>
          </a:prstGeom>
        </p:spPr>
      </p:pic>
      <p:sp>
        <p:nvSpPr>
          <p:cNvPr id="32" name="Text 24"/>
          <p:cNvSpPr/>
          <p:nvPr/>
        </p:nvSpPr>
        <p:spPr>
          <a:xfrm>
            <a:off x="8336280" y="4590288"/>
            <a:ext cx="3048000" cy="365760"/>
          </a:xfrm>
          <a:prstGeom prst="rect">
            <a:avLst/>
          </a:prstGeom>
          <a:noFill/>
          <a:ln/>
        </p:spPr>
        <p:txBody>
          <a:bodyPr wrap="square" lIns="0" tIns="0" rIns="0" bIns="0" rtlCol="0" anchor="ctr"/>
          <a:lstStyle/>
          <a:p>
            <a:pPr indent="0" marL="0">
              <a:buNone/>
            </a:pPr>
            <a:r>
              <a:rPr lang="en-US" sz="1300" b="1" dirty="0">
                <a:solidFill>
                  <a:srgbClr val="F2F5F8"/>
                </a:solidFill>
                <a:latin typeface="Arial" pitchFamily="34" charset="0"/>
                <a:ea typeface="Arial" pitchFamily="34" charset="-122"/>
                <a:cs typeface="Arial" pitchFamily="34" charset="-120"/>
              </a:rPr>
              <a:t>Real MCP Protocol Path</a:t>
            </a:r>
            <a:endParaRPr lang="en-US" sz="1300" dirty="0"/>
          </a:p>
        </p:txBody>
      </p:sp>
      <p:sp>
        <p:nvSpPr>
          <p:cNvPr id="33" name="Text 25"/>
          <p:cNvSpPr/>
          <p:nvPr/>
        </p:nvSpPr>
        <p:spPr>
          <a:xfrm>
            <a:off x="8336280" y="4937760"/>
            <a:ext cx="3048000" cy="685800"/>
          </a:xfrm>
          <a:prstGeom prst="rect">
            <a:avLst/>
          </a:prstGeom>
          <a:noFill/>
          <a:ln/>
        </p:spPr>
        <p:txBody>
          <a:bodyPr wrap="square" lIns="0" tIns="0" rIns="0" bIns="0" rtlCol="0" anchor="ctr"/>
          <a:lstStyle/>
          <a:p>
            <a:pPr indent="0" marL="0">
              <a:lnSpc>
                <a:spcPct val="115000"/>
              </a:lnSpc>
              <a:buNone/>
            </a:pPr>
            <a:r>
              <a:rPr lang="en-US" sz="950" dirty="0">
                <a:solidFill>
                  <a:srgbClr val="8B98A8"/>
                </a:solidFill>
                <a:latin typeface="Calibri" pitchFamily="34" charset="0"/>
                <a:ea typeface="Calibri" pitchFamily="34" charset="-122"/>
                <a:cs typeface="Calibri" pitchFamily="34" charset="-120"/>
              </a:rPr>
              <a:t>mcp_stdio_server.py — same 4 tools over the actual MCP SDK for Claude Desktop</a:t>
            </a:r>
            <a:endParaRPr lang="en-US" sz="950" dirty="0"/>
          </a:p>
        </p:txBody>
      </p:sp>
      <p:sp>
        <p:nvSpPr>
          <p:cNvPr id="34" name="Text 26"/>
          <p:cNvSpPr/>
          <p:nvPr/>
        </p:nvSpPr>
        <p:spPr>
          <a:xfrm>
            <a:off x="11338560" y="6355080"/>
            <a:ext cx="457200" cy="320040"/>
          </a:xfrm>
          <a:prstGeom prst="rect">
            <a:avLst/>
          </a:prstGeom>
          <a:noFill/>
          <a:ln/>
        </p:spPr>
        <p:txBody>
          <a:bodyPr wrap="square" lIns="0" tIns="0" rIns="0" bIns="0" rtlCol="0" anchor="ctr"/>
          <a:lstStyle/>
          <a:p>
            <a:pPr algn="r" indent="0" marL="0">
              <a:buNone/>
            </a:pPr>
            <a:r>
              <a:rPr lang="en-US" sz="1000" dirty="0">
                <a:solidFill>
                  <a:srgbClr val="8B98A8"/>
                </a:solidFill>
                <a:latin typeface="Calibri" pitchFamily="34" charset="0"/>
                <a:ea typeface="Calibri" pitchFamily="34" charset="-122"/>
                <a:cs typeface="Calibri" pitchFamily="34" charset="-120"/>
              </a:rPr>
              <a:t>7</a:t>
            </a:r>
            <a:endParaRPr lang="en-US" sz="1000" dirty="0"/>
          </a:p>
        </p:txBody>
      </p:sp>
      <p:sp>
        <p:nvSpPr>
          <p:cNvPr id="35" name="Text 27"/>
          <p:cNvSpPr/>
          <p:nvPr/>
        </p:nvSpPr>
        <p:spPr>
          <a:xfrm>
            <a:off x="548640" y="6355080"/>
            <a:ext cx="4572000" cy="320040"/>
          </a:xfrm>
          <a:prstGeom prst="rect">
            <a:avLst/>
          </a:prstGeom>
          <a:noFill/>
          <a:ln/>
        </p:spPr>
        <p:txBody>
          <a:bodyPr wrap="square" lIns="0" tIns="0" rIns="0" bIns="0" rtlCol="0" anchor="ctr"/>
          <a:lstStyle/>
          <a:p>
            <a:pPr indent="0" marL="0">
              <a:buNone/>
            </a:pPr>
            <a:r>
              <a:rPr lang="en-US" sz="900" spc="100" kern="0" dirty="0">
                <a:solidFill>
                  <a:srgbClr val="8B98A8"/>
                </a:solidFill>
                <a:latin typeface="Calibri" pitchFamily="34" charset="0"/>
                <a:ea typeface="Calibri" pitchFamily="34" charset="-122"/>
                <a:cs typeface="Calibri" pitchFamily="34" charset="-120"/>
              </a:rPr>
              <a:t>EI-NEXUS · MCP MAVERICKS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E13"/>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lIns="0" tIns="0" rIns="0" bIns="0" rtlCol="0" anchor="ctr"/>
          <a:lstStyle/>
          <a:p>
            <a:pPr indent="0" marL="0">
              <a:buNone/>
            </a:pPr>
            <a:r>
              <a:rPr lang="en-US" sz="1200" b="1" spc="200" kern="0" dirty="0">
                <a:solidFill>
                  <a:srgbClr val="FF8A3D"/>
                </a:solidFill>
                <a:latin typeface="Calibri" pitchFamily="34" charset="0"/>
                <a:ea typeface="Calibri" pitchFamily="34" charset="-122"/>
                <a:cs typeface="Calibri" pitchFamily="34" charset="-120"/>
              </a:rPr>
              <a:t>CRITERION 6 · AI IMPACT</a:t>
            </a:r>
            <a:endParaRPr lang="en-US" sz="1200" dirty="0"/>
          </a:p>
        </p:txBody>
      </p:sp>
      <p:sp>
        <p:nvSpPr>
          <p:cNvPr id="3" name="Text 1"/>
          <p:cNvSpPr/>
          <p:nvPr/>
        </p:nvSpPr>
        <p:spPr>
          <a:xfrm>
            <a:off x="548640" y="685800"/>
            <a:ext cx="10515600" cy="822960"/>
          </a:xfrm>
          <a:prstGeom prst="rect">
            <a:avLst/>
          </a:prstGeom>
          <a:noFill/>
          <a:ln/>
        </p:spPr>
        <p:txBody>
          <a:bodyPr wrap="square" lIns="0" tIns="0" rIns="0" bIns="0" rtlCol="0" anchor="ctr"/>
          <a:lstStyle/>
          <a:p>
            <a:pPr indent="0" marL="0">
              <a:buNone/>
            </a:pPr>
            <a:r>
              <a:rPr lang="en-US" sz="3000" b="1" dirty="0">
                <a:solidFill>
                  <a:srgbClr val="F2F5F8"/>
                </a:solidFill>
                <a:latin typeface="Arial" pitchFamily="34" charset="0"/>
                <a:ea typeface="Arial" pitchFamily="34" charset="-122"/>
                <a:cs typeface="Arial" pitchFamily="34" charset="-120"/>
              </a:rPr>
              <a:t>Measured, not asserted</a:t>
            </a:r>
            <a:endParaRPr lang="en-US" sz="3000" dirty="0"/>
          </a:p>
        </p:txBody>
      </p:sp>
      <p:sp>
        <p:nvSpPr>
          <p:cNvPr id="4" name="Shape 2"/>
          <p:cNvSpPr/>
          <p:nvPr/>
        </p:nvSpPr>
        <p:spPr>
          <a:xfrm>
            <a:off x="548640" y="1600200"/>
            <a:ext cx="2560320" cy="1737360"/>
          </a:xfrm>
          <a:prstGeom prst="roundRect">
            <a:avLst>
              <a:gd name="adj" fmla="val 4211"/>
            </a:avLst>
          </a:prstGeom>
          <a:solidFill>
            <a:srgbClr val="1A2330"/>
          </a:solidFill>
          <a:ln w="12700">
            <a:solidFill>
              <a:srgbClr val="232E3B"/>
            </a:solidFill>
            <a:prstDash val="solid"/>
          </a:ln>
          <a:effectLst>
            <a:outerShdw sx="100000" sy="100000" kx="0" ky="0" algn="bl" rotWithShape="0" blurRad="101600" dist="38100" dir="2700000">
              <a:srgbClr val="000000">
                <a:alpha val="35000"/>
              </a:srgbClr>
            </a:outerShdw>
          </a:effectLst>
        </p:spPr>
      </p:sp>
      <p:sp>
        <p:nvSpPr>
          <p:cNvPr id="5" name="Text 3"/>
          <p:cNvSpPr/>
          <p:nvPr/>
        </p:nvSpPr>
        <p:spPr>
          <a:xfrm>
            <a:off x="731520" y="1783080"/>
            <a:ext cx="2194560" cy="594360"/>
          </a:xfrm>
          <a:prstGeom prst="rect">
            <a:avLst/>
          </a:prstGeom>
          <a:noFill/>
          <a:ln/>
        </p:spPr>
        <p:txBody>
          <a:bodyPr wrap="square" lIns="0" tIns="0" rIns="0" bIns="0" rtlCol="0" anchor="ctr"/>
          <a:lstStyle/>
          <a:p>
            <a:pPr indent="0" marL="0">
              <a:buNone/>
            </a:pPr>
            <a:r>
              <a:rPr lang="en-US" sz="2800" b="1" dirty="0">
                <a:solidFill>
                  <a:srgbClr val="3ED598"/>
                </a:solidFill>
                <a:latin typeface="Arial" pitchFamily="34" charset="0"/>
                <a:ea typeface="Arial" pitchFamily="34" charset="-122"/>
                <a:cs typeface="Arial" pitchFamily="34" charset="-120"/>
              </a:rPr>
              <a:t>100%</a:t>
            </a:r>
            <a:endParaRPr lang="en-US" sz="2800" dirty="0"/>
          </a:p>
        </p:txBody>
      </p:sp>
      <p:sp>
        <p:nvSpPr>
          <p:cNvPr id="6" name="Text 4"/>
          <p:cNvSpPr/>
          <p:nvPr/>
        </p:nvSpPr>
        <p:spPr>
          <a:xfrm>
            <a:off x="731520" y="2377440"/>
            <a:ext cx="2194560" cy="457200"/>
          </a:xfrm>
          <a:prstGeom prst="rect">
            <a:avLst/>
          </a:prstGeom>
          <a:noFill/>
          <a:ln/>
        </p:spPr>
        <p:txBody>
          <a:bodyPr wrap="square" lIns="0" tIns="0" rIns="0" bIns="0" rtlCol="0" anchor="ctr"/>
          <a:lstStyle/>
          <a:p>
            <a:pPr indent="0" marL="0">
              <a:lnSpc>
                <a:spcPct val="115000"/>
              </a:lnSpc>
              <a:buNone/>
            </a:pPr>
            <a:r>
              <a:rPr lang="en-US" sz="1050" b="1" dirty="0">
                <a:solidFill>
                  <a:srgbClr val="F2F5F8"/>
                </a:solidFill>
                <a:latin typeface="Calibri" pitchFamily="34" charset="0"/>
                <a:ea typeface="Calibri" pitchFamily="34" charset="-122"/>
                <a:cs typeface="Calibri" pitchFamily="34" charset="-120"/>
              </a:rPr>
              <a:t>RAG Precision@1</a:t>
            </a:r>
            <a:endParaRPr lang="en-US" sz="1050" dirty="0"/>
          </a:p>
        </p:txBody>
      </p:sp>
      <p:sp>
        <p:nvSpPr>
          <p:cNvPr id="7" name="Text 5"/>
          <p:cNvSpPr/>
          <p:nvPr/>
        </p:nvSpPr>
        <p:spPr>
          <a:xfrm>
            <a:off x="731520" y="2880360"/>
            <a:ext cx="2194560" cy="365760"/>
          </a:xfrm>
          <a:prstGeom prst="rect">
            <a:avLst/>
          </a:prstGeom>
          <a:noFill/>
          <a:ln/>
        </p:spPr>
        <p:txBody>
          <a:bodyPr wrap="square" lIns="0" tIns="0" rIns="0" bIns="0" rtlCol="0" anchor="ctr"/>
          <a:lstStyle/>
          <a:p>
            <a:pPr indent="0" marL="0">
              <a:buNone/>
            </a:pPr>
            <a:r>
              <a:rPr lang="en-US" sz="850" i="1" dirty="0">
                <a:solidFill>
                  <a:srgbClr val="8B98A8"/>
                </a:solidFill>
                <a:latin typeface="Calibri" pitchFamily="34" charset="0"/>
                <a:ea typeface="Calibri" pitchFamily="34" charset="-122"/>
                <a:cs typeface="Calibri" pitchFamily="34" charset="-120"/>
              </a:rPr>
              <a:t>vs. 83% naive keyword baseline</a:t>
            </a:r>
            <a:endParaRPr lang="en-US" sz="850" dirty="0"/>
          </a:p>
        </p:txBody>
      </p:sp>
      <p:sp>
        <p:nvSpPr>
          <p:cNvPr id="8" name="Shape 6"/>
          <p:cNvSpPr/>
          <p:nvPr/>
        </p:nvSpPr>
        <p:spPr>
          <a:xfrm>
            <a:off x="3383280" y="1600200"/>
            <a:ext cx="2560320" cy="1737360"/>
          </a:xfrm>
          <a:prstGeom prst="roundRect">
            <a:avLst>
              <a:gd name="adj" fmla="val 4211"/>
            </a:avLst>
          </a:prstGeom>
          <a:solidFill>
            <a:srgbClr val="1A2330"/>
          </a:solidFill>
          <a:ln w="12700">
            <a:solidFill>
              <a:srgbClr val="232E3B"/>
            </a:solidFill>
            <a:prstDash val="solid"/>
          </a:ln>
          <a:effectLst>
            <a:outerShdw sx="100000" sy="100000" kx="0" ky="0" algn="bl" rotWithShape="0" blurRad="101600" dist="38100" dir="2700000">
              <a:srgbClr val="000000">
                <a:alpha val="35000"/>
              </a:srgbClr>
            </a:outerShdw>
          </a:effectLst>
        </p:spPr>
      </p:sp>
      <p:sp>
        <p:nvSpPr>
          <p:cNvPr id="9" name="Text 7"/>
          <p:cNvSpPr/>
          <p:nvPr/>
        </p:nvSpPr>
        <p:spPr>
          <a:xfrm>
            <a:off x="3566160" y="1783080"/>
            <a:ext cx="2194560" cy="594360"/>
          </a:xfrm>
          <a:prstGeom prst="rect">
            <a:avLst/>
          </a:prstGeom>
          <a:noFill/>
          <a:ln/>
        </p:spPr>
        <p:txBody>
          <a:bodyPr wrap="square" lIns="0" tIns="0" rIns="0" bIns="0" rtlCol="0" anchor="ctr"/>
          <a:lstStyle/>
          <a:p>
            <a:pPr indent="0" marL="0">
              <a:buNone/>
            </a:pPr>
            <a:r>
              <a:rPr lang="en-US" sz="2800" b="1" dirty="0">
                <a:solidFill>
                  <a:srgbClr val="FF8A3D"/>
                </a:solidFill>
                <a:latin typeface="Arial" pitchFamily="34" charset="0"/>
                <a:ea typeface="Arial" pitchFamily="34" charset="-122"/>
                <a:cs typeface="Arial" pitchFamily="34" charset="-120"/>
              </a:rPr>
              <a:t>&lt;90s</a:t>
            </a:r>
            <a:endParaRPr lang="en-US" sz="2800" dirty="0"/>
          </a:p>
        </p:txBody>
      </p:sp>
      <p:sp>
        <p:nvSpPr>
          <p:cNvPr id="10" name="Text 8"/>
          <p:cNvSpPr/>
          <p:nvPr/>
        </p:nvSpPr>
        <p:spPr>
          <a:xfrm>
            <a:off x="3566160" y="2377440"/>
            <a:ext cx="2194560" cy="457200"/>
          </a:xfrm>
          <a:prstGeom prst="rect">
            <a:avLst/>
          </a:prstGeom>
          <a:noFill/>
          <a:ln/>
        </p:spPr>
        <p:txBody>
          <a:bodyPr wrap="square" lIns="0" tIns="0" rIns="0" bIns="0" rtlCol="0" anchor="ctr"/>
          <a:lstStyle/>
          <a:p>
            <a:pPr indent="0" marL="0">
              <a:lnSpc>
                <a:spcPct val="115000"/>
              </a:lnSpc>
              <a:buNone/>
            </a:pPr>
            <a:r>
              <a:rPr lang="en-US" sz="1050" b="1" dirty="0">
                <a:solidFill>
                  <a:srgbClr val="F2F5F8"/>
                </a:solidFill>
                <a:latin typeface="Calibri" pitchFamily="34" charset="0"/>
                <a:ea typeface="Calibri" pitchFamily="34" charset="-122"/>
                <a:cs typeface="Calibri" pitchFamily="34" charset="-120"/>
              </a:rPr>
              <a:t>Detect to Fix to Validate</a:t>
            </a:r>
            <a:endParaRPr lang="en-US" sz="1050" dirty="0"/>
          </a:p>
        </p:txBody>
      </p:sp>
      <p:sp>
        <p:nvSpPr>
          <p:cNvPr id="11" name="Text 9"/>
          <p:cNvSpPr/>
          <p:nvPr/>
        </p:nvSpPr>
        <p:spPr>
          <a:xfrm>
            <a:off x="3566160" y="2880360"/>
            <a:ext cx="2194560" cy="365760"/>
          </a:xfrm>
          <a:prstGeom prst="rect">
            <a:avLst/>
          </a:prstGeom>
          <a:noFill/>
          <a:ln/>
        </p:spPr>
        <p:txBody>
          <a:bodyPr wrap="square" lIns="0" tIns="0" rIns="0" bIns="0" rtlCol="0" anchor="ctr"/>
          <a:lstStyle/>
          <a:p>
            <a:pPr indent="0" marL="0">
              <a:buNone/>
            </a:pPr>
            <a:r>
              <a:rPr lang="en-US" sz="850" i="1" dirty="0">
                <a:solidFill>
                  <a:srgbClr val="8B98A8"/>
                </a:solidFill>
                <a:latin typeface="Calibri" pitchFamily="34" charset="0"/>
                <a:ea typeface="Calibri" pitchFamily="34" charset="-122"/>
                <a:cs typeface="Calibri" pitchFamily="34" charset="-120"/>
              </a:rPr>
              <a:t>vs. 2-3 weeks manual RCA</a:t>
            </a:r>
            <a:endParaRPr lang="en-US" sz="850" dirty="0"/>
          </a:p>
        </p:txBody>
      </p:sp>
      <p:sp>
        <p:nvSpPr>
          <p:cNvPr id="12" name="Shape 10"/>
          <p:cNvSpPr/>
          <p:nvPr/>
        </p:nvSpPr>
        <p:spPr>
          <a:xfrm>
            <a:off x="6217920" y="1600200"/>
            <a:ext cx="2560320" cy="1737360"/>
          </a:xfrm>
          <a:prstGeom prst="roundRect">
            <a:avLst>
              <a:gd name="adj" fmla="val 4211"/>
            </a:avLst>
          </a:prstGeom>
          <a:solidFill>
            <a:srgbClr val="1A2330"/>
          </a:solidFill>
          <a:ln w="12700">
            <a:solidFill>
              <a:srgbClr val="232E3B"/>
            </a:solidFill>
            <a:prstDash val="solid"/>
          </a:ln>
          <a:effectLst>
            <a:outerShdw sx="100000" sy="100000" kx="0" ky="0" algn="bl" rotWithShape="0" blurRad="101600" dist="38100" dir="2700000">
              <a:srgbClr val="000000">
                <a:alpha val="35000"/>
              </a:srgbClr>
            </a:outerShdw>
          </a:effectLst>
        </p:spPr>
      </p:sp>
      <p:sp>
        <p:nvSpPr>
          <p:cNvPr id="13" name="Text 11"/>
          <p:cNvSpPr/>
          <p:nvPr/>
        </p:nvSpPr>
        <p:spPr>
          <a:xfrm>
            <a:off x="6400800" y="1783080"/>
            <a:ext cx="2194560" cy="594360"/>
          </a:xfrm>
          <a:prstGeom prst="rect">
            <a:avLst/>
          </a:prstGeom>
          <a:noFill/>
          <a:ln/>
        </p:spPr>
        <p:txBody>
          <a:bodyPr wrap="square" lIns="0" tIns="0" rIns="0" bIns="0" rtlCol="0" anchor="ctr"/>
          <a:lstStyle/>
          <a:p>
            <a:pPr indent="0" marL="0">
              <a:buNone/>
            </a:pPr>
            <a:r>
              <a:rPr lang="en-US" sz="2800" b="1" dirty="0">
                <a:solidFill>
                  <a:srgbClr val="4FD1E8"/>
                </a:solidFill>
                <a:latin typeface="Arial" pitchFamily="34" charset="0"/>
                <a:ea typeface="Arial" pitchFamily="34" charset="-122"/>
                <a:cs typeface="Arial" pitchFamily="34" charset="-120"/>
              </a:rPr>
              <a:t>2.94</a:t>
            </a:r>
            <a:endParaRPr lang="en-US" sz="2800" dirty="0"/>
          </a:p>
        </p:txBody>
      </p:sp>
      <p:sp>
        <p:nvSpPr>
          <p:cNvPr id="14" name="Text 12"/>
          <p:cNvSpPr/>
          <p:nvPr/>
        </p:nvSpPr>
        <p:spPr>
          <a:xfrm>
            <a:off x="6400800" y="2377440"/>
            <a:ext cx="2194560" cy="457200"/>
          </a:xfrm>
          <a:prstGeom prst="rect">
            <a:avLst/>
          </a:prstGeom>
          <a:noFill/>
          <a:ln/>
        </p:spPr>
        <p:txBody>
          <a:bodyPr wrap="square" lIns="0" tIns="0" rIns="0" bIns="0" rtlCol="0" anchor="ctr"/>
          <a:lstStyle/>
          <a:p>
            <a:pPr indent="0" marL="0">
              <a:lnSpc>
                <a:spcPct val="115000"/>
              </a:lnSpc>
              <a:buNone/>
            </a:pPr>
            <a:r>
              <a:rPr lang="en-US" sz="1050" b="1" dirty="0">
                <a:solidFill>
                  <a:srgbClr val="F2F5F8"/>
                </a:solidFill>
                <a:latin typeface="Calibri" pitchFamily="34" charset="0"/>
                <a:ea typeface="Calibri" pitchFamily="34" charset="-122"/>
                <a:cs typeface="Calibri" pitchFamily="34" charset="-120"/>
              </a:rPr>
              <a:t>Threshold after 2nd incident</a:t>
            </a:r>
            <a:endParaRPr lang="en-US" sz="1050" dirty="0"/>
          </a:p>
        </p:txBody>
      </p:sp>
      <p:sp>
        <p:nvSpPr>
          <p:cNvPr id="15" name="Text 13"/>
          <p:cNvSpPr/>
          <p:nvPr/>
        </p:nvSpPr>
        <p:spPr>
          <a:xfrm>
            <a:off x="6400800" y="2880360"/>
            <a:ext cx="2194560" cy="365760"/>
          </a:xfrm>
          <a:prstGeom prst="rect">
            <a:avLst/>
          </a:prstGeom>
          <a:noFill/>
          <a:ln/>
        </p:spPr>
        <p:txBody>
          <a:bodyPr wrap="square" lIns="0" tIns="0" rIns="0" bIns="0" rtlCol="0" anchor="ctr"/>
          <a:lstStyle/>
          <a:p>
            <a:pPr indent="0" marL="0">
              <a:buNone/>
            </a:pPr>
            <a:r>
              <a:rPr lang="en-US" sz="850" i="1" dirty="0">
                <a:solidFill>
                  <a:srgbClr val="8B98A8"/>
                </a:solidFill>
                <a:latin typeface="Calibri" pitchFamily="34" charset="0"/>
                <a:ea typeface="Calibri" pitchFamily="34" charset="-122"/>
                <a:cs typeface="Calibri" pitchFamily="34" charset="-120"/>
              </a:rPr>
              <a:t>tightened itself from 3.0 mm/s</a:t>
            </a:r>
            <a:endParaRPr lang="en-US" sz="850" dirty="0"/>
          </a:p>
        </p:txBody>
      </p:sp>
      <p:sp>
        <p:nvSpPr>
          <p:cNvPr id="16" name="Shape 14"/>
          <p:cNvSpPr/>
          <p:nvPr/>
        </p:nvSpPr>
        <p:spPr>
          <a:xfrm>
            <a:off x="9052560" y="1600200"/>
            <a:ext cx="2560320" cy="1737360"/>
          </a:xfrm>
          <a:prstGeom prst="roundRect">
            <a:avLst>
              <a:gd name="adj" fmla="val 4211"/>
            </a:avLst>
          </a:prstGeom>
          <a:solidFill>
            <a:srgbClr val="1A2330"/>
          </a:solidFill>
          <a:ln w="12700">
            <a:solidFill>
              <a:srgbClr val="232E3B"/>
            </a:solidFill>
            <a:prstDash val="solid"/>
          </a:ln>
          <a:effectLst>
            <a:outerShdw sx="100000" sy="100000" kx="0" ky="0" algn="bl" rotWithShape="0" blurRad="101600" dist="38100" dir="2700000">
              <a:srgbClr val="000000">
                <a:alpha val="35000"/>
              </a:srgbClr>
            </a:outerShdw>
          </a:effectLst>
        </p:spPr>
      </p:sp>
      <p:sp>
        <p:nvSpPr>
          <p:cNvPr id="17" name="Text 15"/>
          <p:cNvSpPr/>
          <p:nvPr/>
        </p:nvSpPr>
        <p:spPr>
          <a:xfrm>
            <a:off x="9235440" y="1783080"/>
            <a:ext cx="2194560" cy="594360"/>
          </a:xfrm>
          <a:prstGeom prst="rect">
            <a:avLst/>
          </a:prstGeom>
          <a:noFill/>
          <a:ln/>
        </p:spPr>
        <p:txBody>
          <a:bodyPr wrap="square" lIns="0" tIns="0" rIns="0" bIns="0" rtlCol="0" anchor="ctr"/>
          <a:lstStyle/>
          <a:p>
            <a:pPr indent="0" marL="0">
              <a:buNone/>
            </a:pPr>
            <a:r>
              <a:rPr lang="en-US" sz="2800" b="1" dirty="0">
                <a:solidFill>
                  <a:srgbClr val="5B8DEF"/>
                </a:solidFill>
                <a:latin typeface="Arial" pitchFamily="34" charset="0"/>
                <a:ea typeface="Arial" pitchFamily="34" charset="-122"/>
                <a:cs typeface="Arial" pitchFamily="34" charset="-120"/>
              </a:rPr>
              <a:t>0</a:t>
            </a:r>
            <a:endParaRPr lang="en-US" sz="2800" dirty="0"/>
          </a:p>
        </p:txBody>
      </p:sp>
      <p:sp>
        <p:nvSpPr>
          <p:cNvPr id="18" name="Text 16"/>
          <p:cNvSpPr/>
          <p:nvPr/>
        </p:nvSpPr>
        <p:spPr>
          <a:xfrm>
            <a:off x="9235440" y="2377440"/>
            <a:ext cx="2194560" cy="457200"/>
          </a:xfrm>
          <a:prstGeom prst="rect">
            <a:avLst/>
          </a:prstGeom>
          <a:noFill/>
          <a:ln/>
        </p:spPr>
        <p:txBody>
          <a:bodyPr wrap="square" lIns="0" tIns="0" rIns="0" bIns="0" rtlCol="0" anchor="ctr"/>
          <a:lstStyle/>
          <a:p>
            <a:pPr indent="0" marL="0">
              <a:lnSpc>
                <a:spcPct val="115000"/>
              </a:lnSpc>
              <a:buNone/>
            </a:pPr>
            <a:r>
              <a:rPr lang="en-US" sz="1050" b="1" dirty="0">
                <a:solidFill>
                  <a:srgbClr val="F2F5F8"/>
                </a:solidFill>
                <a:latin typeface="Calibri" pitchFamily="34" charset="0"/>
                <a:ea typeface="Calibri" pitchFamily="34" charset="-122"/>
                <a:cs typeface="Calibri" pitchFamily="34" charset="-120"/>
              </a:rPr>
              <a:t>False Positives</a:t>
            </a:r>
            <a:endParaRPr lang="en-US" sz="1050" dirty="0"/>
          </a:p>
        </p:txBody>
      </p:sp>
      <p:sp>
        <p:nvSpPr>
          <p:cNvPr id="19" name="Text 17"/>
          <p:cNvSpPr/>
          <p:nvPr/>
        </p:nvSpPr>
        <p:spPr>
          <a:xfrm>
            <a:off x="9235440" y="2880360"/>
            <a:ext cx="2194560" cy="365760"/>
          </a:xfrm>
          <a:prstGeom prst="rect">
            <a:avLst/>
          </a:prstGeom>
          <a:noFill/>
          <a:ln/>
        </p:spPr>
        <p:txBody>
          <a:bodyPr wrap="square" lIns="0" tIns="0" rIns="0" bIns="0" rtlCol="0" anchor="ctr"/>
          <a:lstStyle/>
          <a:p>
            <a:pPr indent="0" marL="0">
              <a:buNone/>
            </a:pPr>
            <a:r>
              <a:rPr lang="en-US" sz="850" i="1" dirty="0">
                <a:solidFill>
                  <a:srgbClr val="8B98A8"/>
                </a:solidFill>
                <a:latin typeface="Calibri" pitchFamily="34" charset="0"/>
                <a:ea typeface="Calibri" pitchFamily="34" charset="-122"/>
                <a:cs typeface="Calibri" pitchFamily="34" charset="-120"/>
              </a:rPr>
              <a:t>post-fix, 75s concurrent stress test</a:t>
            </a:r>
            <a:endParaRPr lang="en-US" sz="850" dirty="0"/>
          </a:p>
        </p:txBody>
      </p:sp>
      <p:sp>
        <p:nvSpPr>
          <p:cNvPr id="20" name="Shape 18"/>
          <p:cNvSpPr/>
          <p:nvPr/>
        </p:nvSpPr>
        <p:spPr>
          <a:xfrm>
            <a:off x="548640" y="3566160"/>
            <a:ext cx="11064240" cy="2514600"/>
          </a:xfrm>
          <a:prstGeom prst="roundRect">
            <a:avLst>
              <a:gd name="adj" fmla="val 2909"/>
            </a:avLst>
          </a:prstGeom>
          <a:solidFill>
            <a:srgbClr val="141B24"/>
          </a:solidFill>
          <a:ln w="12700">
            <a:solidFill>
              <a:srgbClr val="232E3B"/>
            </a:solidFill>
            <a:prstDash val="solid"/>
          </a:ln>
          <a:effectLst>
            <a:outerShdw sx="100000" sy="100000" kx="0" ky="0" algn="bl" rotWithShape="0" blurRad="101600" dist="38100" dir="2700000">
              <a:srgbClr val="000000">
                <a:alpha val="35000"/>
              </a:srgbClr>
            </a:outerShdw>
          </a:effectLst>
        </p:spPr>
      </p:sp>
      <p:sp>
        <p:nvSpPr>
          <p:cNvPr id="21" name="Text 19"/>
          <p:cNvSpPr/>
          <p:nvPr/>
        </p:nvSpPr>
        <p:spPr>
          <a:xfrm>
            <a:off x="914400" y="3749040"/>
            <a:ext cx="10332720" cy="320040"/>
          </a:xfrm>
          <a:prstGeom prst="rect">
            <a:avLst/>
          </a:prstGeom>
          <a:noFill/>
          <a:ln/>
        </p:spPr>
        <p:txBody>
          <a:bodyPr wrap="square" lIns="0" tIns="0" rIns="0" bIns="0" rtlCol="0" anchor="ctr"/>
          <a:lstStyle/>
          <a:p>
            <a:pPr indent="0" marL="0">
              <a:buNone/>
            </a:pPr>
            <a:r>
              <a:rPr lang="en-US" sz="1400" b="1" dirty="0">
                <a:solidFill>
                  <a:srgbClr val="FF8A3D"/>
                </a:solidFill>
                <a:latin typeface="Arial" pitchFamily="34" charset="0"/>
                <a:ea typeface="Arial" pitchFamily="34" charset="-122"/>
                <a:cs typeface="Arial" pitchFamily="34" charset="-120"/>
              </a:rPr>
              <a:t>THE SELF-OPTIMIZATION STORY — AI IMPACT COMPOUNDS OVER TIME</a:t>
            </a:r>
            <a:endParaRPr lang="en-US" sz="1400" dirty="0"/>
          </a:p>
        </p:txBody>
      </p:sp>
      <p:sp>
        <p:nvSpPr>
          <p:cNvPr id="22" name="Text 20"/>
          <p:cNvSpPr/>
          <p:nvPr/>
        </p:nvSpPr>
        <p:spPr>
          <a:xfrm>
            <a:off x="914400" y="4160520"/>
            <a:ext cx="10332720" cy="914400"/>
          </a:xfrm>
          <a:prstGeom prst="rect">
            <a:avLst/>
          </a:prstGeom>
          <a:noFill/>
          <a:ln/>
        </p:spPr>
        <p:txBody>
          <a:bodyPr wrap="square" lIns="0" tIns="0" rIns="0" bIns="0" rtlCol="0" anchor="ctr"/>
          <a:lstStyle/>
          <a:p>
            <a:pPr indent="0" marL="0">
              <a:lnSpc>
                <a:spcPct val="135000"/>
              </a:lnSpc>
              <a:buNone/>
            </a:pPr>
            <a:r>
              <a:rPr lang="en-US" sz="1250" dirty="0">
                <a:solidFill>
                  <a:srgbClr val="F2F5F8"/>
                </a:solidFill>
                <a:latin typeface="Calibri" pitchFamily="34" charset="0"/>
                <a:ea typeface="Calibri" pitchFamily="34" charset="-122"/>
                <a:cs typeface="Calibri" pitchFamily="34" charset="-120"/>
              </a:rPr>
              <a:t>Most AI-in-industrial-monitoring demos show a static model scoring a static dataset. EI-Nexus's impact is dynamic and observable in real time: when the same failure mode recurs, the autonomous agent tightens its own detection threshold — fleet-wide, not just on the asset that failed. One incident makes every asset in the fleet catch that failure mode earlier next time.</a:t>
            </a:r>
            <a:endParaRPr lang="en-US" sz="1250" dirty="0"/>
          </a:p>
        </p:txBody>
      </p:sp>
      <p:sp>
        <p:nvSpPr>
          <p:cNvPr id="23" name="Text 21"/>
          <p:cNvSpPr/>
          <p:nvPr/>
        </p:nvSpPr>
        <p:spPr>
          <a:xfrm>
            <a:off x="914400" y="5166360"/>
            <a:ext cx="10332720" cy="777240"/>
          </a:xfrm>
          <a:prstGeom prst="rect">
            <a:avLst/>
          </a:prstGeom>
          <a:noFill/>
          <a:ln/>
        </p:spPr>
        <p:txBody>
          <a:bodyPr wrap="square" lIns="0" tIns="0" rIns="0" bIns="0" rtlCol="0" anchor="ctr"/>
          <a:lstStyle/>
          <a:p>
            <a:pPr indent="0" marL="0">
              <a:lnSpc>
                <a:spcPct val="135000"/>
              </a:lnSpc>
              <a:buNone/>
            </a:pPr>
            <a:r>
              <a:rPr lang="en-US" sz="1250" i="1" dirty="0">
                <a:solidFill>
                  <a:srgbClr val="4FD1E8"/>
                </a:solidFill>
                <a:latin typeface="Calibri" pitchFamily="34" charset="0"/>
                <a:ea typeface="Calibri" pitchFamily="34" charset="-122"/>
                <a:cs typeface="Calibri" pitchFamily="34" charset="-120"/>
              </a:rPr>
              <a:t>This is the literal, measurable difference between “we used AI” and “this system is measurably smarter this session than it was five minutes ago” — and it's visible live in the demo, not a claim you have to trust.</a:t>
            </a:r>
            <a:endParaRPr lang="en-US" sz="1250" dirty="0"/>
          </a:p>
        </p:txBody>
      </p:sp>
      <p:sp>
        <p:nvSpPr>
          <p:cNvPr id="24" name="Text 22"/>
          <p:cNvSpPr/>
          <p:nvPr/>
        </p:nvSpPr>
        <p:spPr>
          <a:xfrm>
            <a:off x="11338560" y="6355080"/>
            <a:ext cx="457200" cy="320040"/>
          </a:xfrm>
          <a:prstGeom prst="rect">
            <a:avLst/>
          </a:prstGeom>
          <a:noFill/>
          <a:ln/>
        </p:spPr>
        <p:txBody>
          <a:bodyPr wrap="square" lIns="0" tIns="0" rIns="0" bIns="0" rtlCol="0" anchor="ctr"/>
          <a:lstStyle/>
          <a:p>
            <a:pPr algn="r" indent="0" marL="0">
              <a:buNone/>
            </a:pPr>
            <a:r>
              <a:rPr lang="en-US" sz="1000" dirty="0">
                <a:solidFill>
                  <a:srgbClr val="8B98A8"/>
                </a:solidFill>
                <a:latin typeface="Calibri" pitchFamily="34" charset="0"/>
                <a:ea typeface="Calibri" pitchFamily="34" charset="-122"/>
                <a:cs typeface="Calibri" pitchFamily="34" charset="-120"/>
              </a:rPr>
              <a:t>8</a:t>
            </a:r>
            <a:endParaRPr lang="en-US" sz="1000" dirty="0"/>
          </a:p>
        </p:txBody>
      </p:sp>
      <p:sp>
        <p:nvSpPr>
          <p:cNvPr id="25" name="Text 23"/>
          <p:cNvSpPr/>
          <p:nvPr/>
        </p:nvSpPr>
        <p:spPr>
          <a:xfrm>
            <a:off x="548640" y="6355080"/>
            <a:ext cx="4572000" cy="320040"/>
          </a:xfrm>
          <a:prstGeom prst="rect">
            <a:avLst/>
          </a:prstGeom>
          <a:noFill/>
          <a:ln/>
        </p:spPr>
        <p:txBody>
          <a:bodyPr wrap="square" lIns="0" tIns="0" rIns="0" bIns="0" rtlCol="0" anchor="ctr"/>
          <a:lstStyle/>
          <a:p>
            <a:pPr indent="0" marL="0">
              <a:buNone/>
            </a:pPr>
            <a:r>
              <a:rPr lang="en-US" sz="900" spc="100" kern="0" dirty="0">
                <a:solidFill>
                  <a:srgbClr val="8B98A8"/>
                </a:solidFill>
                <a:latin typeface="Calibri" pitchFamily="34" charset="0"/>
                <a:ea typeface="Calibri" pitchFamily="34" charset="-122"/>
                <a:cs typeface="Calibri" pitchFamily="34" charset="-120"/>
              </a:rPr>
              <a:t>EI-NEXUS · MCP MAVERICKS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E13"/>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lIns="0" tIns="0" rIns="0" bIns="0" rtlCol="0" anchor="ctr"/>
          <a:lstStyle/>
          <a:p>
            <a:pPr indent="0" marL="0">
              <a:buNone/>
            </a:pPr>
            <a:r>
              <a:rPr lang="en-US" sz="1200" b="1" spc="200" kern="0" dirty="0">
                <a:solidFill>
                  <a:srgbClr val="FF8A3D"/>
                </a:solidFill>
                <a:latin typeface="Calibri" pitchFamily="34" charset="0"/>
                <a:ea typeface="Calibri" pitchFamily="34" charset="-122"/>
                <a:cs typeface="Calibri" pitchFamily="34" charset="-120"/>
              </a:rPr>
              <a:t>CRITERION 7 · BUSINESS RELEVANCE</a:t>
            </a:r>
            <a:endParaRPr lang="en-US" sz="1200" dirty="0"/>
          </a:p>
        </p:txBody>
      </p:sp>
      <p:sp>
        <p:nvSpPr>
          <p:cNvPr id="3" name="Text 1"/>
          <p:cNvSpPr/>
          <p:nvPr/>
        </p:nvSpPr>
        <p:spPr>
          <a:xfrm>
            <a:off x="548640" y="685800"/>
            <a:ext cx="10515600" cy="822960"/>
          </a:xfrm>
          <a:prstGeom prst="rect">
            <a:avLst/>
          </a:prstGeom>
          <a:noFill/>
          <a:ln/>
        </p:spPr>
        <p:txBody>
          <a:bodyPr wrap="square" lIns="0" tIns="0" rIns="0" bIns="0" rtlCol="0" anchor="ctr"/>
          <a:lstStyle/>
          <a:p>
            <a:pPr indent="0" marL="0">
              <a:buNone/>
            </a:pPr>
            <a:r>
              <a:rPr lang="en-US" sz="3000" b="1" dirty="0">
                <a:solidFill>
                  <a:srgbClr val="F2F5F8"/>
                </a:solidFill>
                <a:latin typeface="Arial" pitchFamily="34" charset="0"/>
                <a:ea typeface="Arial" pitchFamily="34" charset="-122"/>
                <a:cs typeface="Arial" pitchFamily="34" charset="-120"/>
              </a:rPr>
              <a:t>Built for the Big Bet strategy — not retrofitted onto it</a:t>
            </a:r>
            <a:endParaRPr lang="en-US" sz="3000" dirty="0"/>
          </a:p>
        </p:txBody>
      </p:sp>
      <p:sp>
        <p:nvSpPr>
          <p:cNvPr id="4" name="Shape 2"/>
          <p:cNvSpPr/>
          <p:nvPr/>
        </p:nvSpPr>
        <p:spPr>
          <a:xfrm>
            <a:off x="548640" y="1600200"/>
            <a:ext cx="11064240" cy="1234440"/>
          </a:xfrm>
          <a:prstGeom prst="roundRect">
            <a:avLst>
              <a:gd name="adj" fmla="val 5926"/>
            </a:avLst>
          </a:prstGeom>
          <a:solidFill>
            <a:srgbClr val="1A2330"/>
          </a:solidFill>
          <a:ln w="12700">
            <a:solidFill>
              <a:srgbClr val="FF8A3D"/>
            </a:solidFill>
            <a:prstDash val="solid"/>
          </a:ln>
          <a:effectLst>
            <a:outerShdw sx="100000" sy="100000" kx="0" ky="0" algn="bl" rotWithShape="0" blurRad="101600" dist="38100" dir="2700000">
              <a:srgbClr val="000000">
                <a:alpha val="35000"/>
              </a:srgbClr>
            </a:outerShdw>
          </a:effectLst>
        </p:spPr>
      </p:sp>
      <p:sp>
        <p:nvSpPr>
          <p:cNvPr id="5" name="Text 3"/>
          <p:cNvSpPr/>
          <p:nvPr/>
        </p:nvSpPr>
        <p:spPr>
          <a:xfrm>
            <a:off x="914400" y="1755648"/>
            <a:ext cx="3657600" cy="274320"/>
          </a:xfrm>
          <a:prstGeom prst="rect">
            <a:avLst/>
          </a:prstGeom>
          <a:noFill/>
          <a:ln/>
        </p:spPr>
        <p:txBody>
          <a:bodyPr wrap="square" lIns="0" tIns="0" rIns="0" bIns="0" rtlCol="0" anchor="ctr"/>
          <a:lstStyle/>
          <a:p>
            <a:pPr indent="0" marL="0">
              <a:buNone/>
            </a:pPr>
            <a:r>
              <a:rPr lang="en-US" sz="1100" b="1" spc="150" kern="0" dirty="0">
                <a:solidFill>
                  <a:srgbClr val="FF8A3D"/>
                </a:solidFill>
                <a:latin typeface="Calibri" pitchFamily="34" charset="0"/>
                <a:ea typeface="Calibri" pitchFamily="34" charset="-122"/>
                <a:cs typeface="Calibri" pitchFamily="34" charset="-120"/>
              </a:rPr>
              <a:t>PRIMARY USE CASE</a:t>
            </a:r>
            <a:endParaRPr lang="en-US" sz="1100" dirty="0"/>
          </a:p>
        </p:txBody>
      </p:sp>
      <p:sp>
        <p:nvSpPr>
          <p:cNvPr id="6" name="Text 4"/>
          <p:cNvSpPr/>
          <p:nvPr/>
        </p:nvSpPr>
        <p:spPr>
          <a:xfrm>
            <a:off x="914400" y="2011680"/>
            <a:ext cx="10058400" cy="411480"/>
          </a:xfrm>
          <a:prstGeom prst="rect">
            <a:avLst/>
          </a:prstGeom>
          <a:noFill/>
          <a:ln/>
        </p:spPr>
        <p:txBody>
          <a:bodyPr wrap="square" lIns="0" tIns="0" rIns="0" bIns="0" rtlCol="0" anchor="ctr"/>
          <a:lstStyle/>
          <a:p>
            <a:pPr indent="0" marL="0">
              <a:buNone/>
            </a:pPr>
            <a:r>
              <a:rPr lang="en-US" sz="1700" b="1" dirty="0">
                <a:solidFill>
                  <a:srgbClr val="F2F5F8"/>
                </a:solidFill>
                <a:latin typeface="Arial" pitchFamily="34" charset="0"/>
                <a:ea typeface="Arial" pitchFamily="34" charset="-122"/>
                <a:cs typeface="Arial" pitchFamily="34" charset="-120"/>
              </a:rPr>
              <a:t>GOH-UC-034 — AI Agent for Root Cause Analysis and Process Optimization</a:t>
            </a:r>
            <a:endParaRPr lang="en-US" sz="1700" dirty="0"/>
          </a:p>
        </p:txBody>
      </p:sp>
      <p:sp>
        <p:nvSpPr>
          <p:cNvPr id="7" name="Text 5"/>
          <p:cNvSpPr/>
          <p:nvPr/>
        </p:nvSpPr>
        <p:spPr>
          <a:xfrm>
            <a:off x="914400" y="2450592"/>
            <a:ext cx="10058400" cy="320040"/>
          </a:xfrm>
          <a:prstGeom prst="rect">
            <a:avLst/>
          </a:prstGeom>
          <a:noFill/>
          <a:ln/>
        </p:spPr>
        <p:txBody>
          <a:bodyPr wrap="square" lIns="0" tIns="0" rIns="0" bIns="0" rtlCol="0" anchor="ctr"/>
          <a:lstStyle/>
          <a:p>
            <a:pPr indent="0" marL="0">
              <a:buNone/>
            </a:pPr>
            <a:r>
              <a:rPr lang="en-US" sz="1150" dirty="0">
                <a:solidFill>
                  <a:srgbClr val="8B98A8"/>
                </a:solidFill>
                <a:latin typeface="Calibri" pitchFamily="34" charset="0"/>
                <a:ea typeface="Calibri" pitchFamily="34" charset="-122"/>
                <a:cs typeface="Calibri" pitchFamily="34" charset="-120"/>
              </a:rPr>
              <a:t>The autonomous closed loop IS this use case — detect, diagnose, fix, validate, optimize, no human step required.</a:t>
            </a:r>
            <a:endParaRPr lang="en-US" sz="1150" dirty="0"/>
          </a:p>
        </p:txBody>
      </p:sp>
      <p:sp>
        <p:nvSpPr>
          <p:cNvPr id="8" name="Shape 6"/>
          <p:cNvSpPr/>
          <p:nvPr/>
        </p:nvSpPr>
        <p:spPr>
          <a:xfrm>
            <a:off x="548640" y="3063240"/>
            <a:ext cx="3474720" cy="1554480"/>
          </a:xfrm>
          <a:prstGeom prst="roundRect">
            <a:avLst>
              <a:gd name="adj" fmla="val 4706"/>
            </a:avLst>
          </a:prstGeom>
          <a:solidFill>
            <a:srgbClr val="141B24"/>
          </a:solidFill>
          <a:ln w="12700">
            <a:solidFill>
              <a:srgbClr val="232E3B"/>
            </a:solidFill>
            <a:prstDash val="solid"/>
          </a:ln>
          <a:effectLst>
            <a:outerShdw sx="100000" sy="100000" kx="0" ky="0" algn="bl" rotWithShape="0" blurRad="101600" dist="38100" dir="2700000">
              <a:srgbClr val="000000">
                <a:alpha val="35000"/>
              </a:srgbClr>
            </a:outerShdw>
          </a:effectLst>
        </p:spPr>
      </p:sp>
      <p:sp>
        <p:nvSpPr>
          <p:cNvPr id="9" name="Text 7"/>
          <p:cNvSpPr/>
          <p:nvPr/>
        </p:nvSpPr>
        <p:spPr>
          <a:xfrm>
            <a:off x="777240" y="3246120"/>
            <a:ext cx="3017520" cy="274320"/>
          </a:xfrm>
          <a:prstGeom prst="rect">
            <a:avLst/>
          </a:prstGeom>
          <a:noFill/>
          <a:ln/>
        </p:spPr>
        <p:txBody>
          <a:bodyPr wrap="square" lIns="0" tIns="0" rIns="0" bIns="0" rtlCol="0" anchor="ctr"/>
          <a:lstStyle/>
          <a:p>
            <a:pPr indent="0" marL="0">
              <a:buNone/>
            </a:pPr>
            <a:r>
              <a:rPr lang="en-US" sz="1050" b="1" spc="100" kern="0" dirty="0">
                <a:solidFill>
                  <a:srgbClr val="4FD1E8"/>
                </a:solidFill>
                <a:latin typeface="Calibri" pitchFamily="34" charset="0"/>
                <a:ea typeface="Calibri" pitchFamily="34" charset="-122"/>
                <a:cs typeface="Calibri" pitchFamily="34" charset="-120"/>
              </a:rPr>
              <a:t>GOH-UC-010</a:t>
            </a:r>
            <a:endParaRPr lang="en-US" sz="1050" dirty="0"/>
          </a:p>
        </p:txBody>
      </p:sp>
      <p:sp>
        <p:nvSpPr>
          <p:cNvPr id="10" name="Text 8"/>
          <p:cNvSpPr/>
          <p:nvPr/>
        </p:nvSpPr>
        <p:spPr>
          <a:xfrm>
            <a:off x="777240" y="3520440"/>
            <a:ext cx="3017520" cy="365760"/>
          </a:xfrm>
          <a:prstGeom prst="rect">
            <a:avLst/>
          </a:prstGeom>
          <a:noFill/>
          <a:ln/>
        </p:spPr>
        <p:txBody>
          <a:bodyPr wrap="square" lIns="0" tIns="0" rIns="0" bIns="0" rtlCol="0" anchor="ctr"/>
          <a:lstStyle/>
          <a:p>
            <a:pPr indent="0" marL="0">
              <a:buNone/>
            </a:pPr>
            <a:r>
              <a:rPr lang="en-US" sz="1350" b="1" dirty="0">
                <a:solidFill>
                  <a:srgbClr val="F2F5F8"/>
                </a:solidFill>
                <a:latin typeface="Arial" pitchFamily="34" charset="0"/>
                <a:ea typeface="Arial" pitchFamily="34" charset="-122"/>
                <a:cs typeface="Arial" pitchFamily="34" charset="-120"/>
              </a:rPr>
              <a:t>Predictive Maintenance</a:t>
            </a:r>
            <a:endParaRPr lang="en-US" sz="1350" dirty="0"/>
          </a:p>
        </p:txBody>
      </p:sp>
      <p:sp>
        <p:nvSpPr>
          <p:cNvPr id="11" name="Text 9"/>
          <p:cNvSpPr/>
          <p:nvPr/>
        </p:nvSpPr>
        <p:spPr>
          <a:xfrm>
            <a:off x="777240" y="3913632"/>
            <a:ext cx="3017520" cy="594360"/>
          </a:xfrm>
          <a:prstGeom prst="rect">
            <a:avLst/>
          </a:prstGeom>
          <a:noFill/>
          <a:ln/>
        </p:spPr>
        <p:txBody>
          <a:bodyPr wrap="square" lIns="0" tIns="0" rIns="0" bIns="0" rtlCol="0" anchor="ctr"/>
          <a:lstStyle/>
          <a:p>
            <a:pPr indent="0" marL="0">
              <a:lnSpc>
                <a:spcPct val="120000"/>
              </a:lnSpc>
              <a:buNone/>
            </a:pPr>
            <a:r>
              <a:rPr lang="en-US" sz="1000" dirty="0">
                <a:solidFill>
                  <a:srgbClr val="8B98A8"/>
                </a:solidFill>
                <a:latin typeface="Calibri" pitchFamily="34" charset="0"/>
                <a:ea typeface="Calibri" pitchFamily="34" charset="-122"/>
                <a:cs typeface="Calibri" pitchFamily="34" charset="-120"/>
              </a:rPr>
              <a:t>Self-tightening thresholds move detection earlier over time</a:t>
            </a:r>
            <a:endParaRPr lang="en-US" sz="1000" dirty="0"/>
          </a:p>
        </p:txBody>
      </p:sp>
      <p:sp>
        <p:nvSpPr>
          <p:cNvPr id="12" name="Shape 10"/>
          <p:cNvSpPr/>
          <p:nvPr/>
        </p:nvSpPr>
        <p:spPr>
          <a:xfrm>
            <a:off x="4343400" y="3063240"/>
            <a:ext cx="3474720" cy="1554480"/>
          </a:xfrm>
          <a:prstGeom prst="roundRect">
            <a:avLst>
              <a:gd name="adj" fmla="val 4706"/>
            </a:avLst>
          </a:prstGeom>
          <a:solidFill>
            <a:srgbClr val="141B24"/>
          </a:solidFill>
          <a:ln w="12700">
            <a:solidFill>
              <a:srgbClr val="232E3B"/>
            </a:solidFill>
            <a:prstDash val="solid"/>
          </a:ln>
          <a:effectLst>
            <a:outerShdw sx="100000" sy="100000" kx="0" ky="0" algn="bl" rotWithShape="0" blurRad="101600" dist="38100" dir="2700000">
              <a:srgbClr val="000000">
                <a:alpha val="35000"/>
              </a:srgbClr>
            </a:outerShdw>
          </a:effectLst>
        </p:spPr>
      </p:sp>
      <p:sp>
        <p:nvSpPr>
          <p:cNvPr id="13" name="Text 11"/>
          <p:cNvSpPr/>
          <p:nvPr/>
        </p:nvSpPr>
        <p:spPr>
          <a:xfrm>
            <a:off x="4572000" y="3246120"/>
            <a:ext cx="3017520" cy="274320"/>
          </a:xfrm>
          <a:prstGeom prst="rect">
            <a:avLst/>
          </a:prstGeom>
          <a:noFill/>
          <a:ln/>
        </p:spPr>
        <p:txBody>
          <a:bodyPr wrap="square" lIns="0" tIns="0" rIns="0" bIns="0" rtlCol="0" anchor="ctr"/>
          <a:lstStyle/>
          <a:p>
            <a:pPr indent="0" marL="0">
              <a:buNone/>
            </a:pPr>
            <a:r>
              <a:rPr lang="en-US" sz="1050" b="1" spc="100" kern="0" dirty="0">
                <a:solidFill>
                  <a:srgbClr val="5B8DEF"/>
                </a:solidFill>
                <a:latin typeface="Calibri" pitchFamily="34" charset="0"/>
                <a:ea typeface="Calibri" pitchFamily="34" charset="-122"/>
                <a:cs typeface="Calibri" pitchFamily="34" charset="-120"/>
              </a:rPr>
              <a:t>GOH-UC-046</a:t>
            </a:r>
            <a:endParaRPr lang="en-US" sz="1050" dirty="0"/>
          </a:p>
        </p:txBody>
      </p:sp>
      <p:sp>
        <p:nvSpPr>
          <p:cNvPr id="14" name="Text 12"/>
          <p:cNvSpPr/>
          <p:nvPr/>
        </p:nvSpPr>
        <p:spPr>
          <a:xfrm>
            <a:off x="4572000" y="3520440"/>
            <a:ext cx="3017520" cy="365760"/>
          </a:xfrm>
          <a:prstGeom prst="rect">
            <a:avLst/>
          </a:prstGeom>
          <a:noFill/>
          <a:ln/>
        </p:spPr>
        <p:txBody>
          <a:bodyPr wrap="square" lIns="0" tIns="0" rIns="0" bIns="0" rtlCol="0" anchor="ctr"/>
          <a:lstStyle/>
          <a:p>
            <a:pPr indent="0" marL="0">
              <a:buNone/>
            </a:pPr>
            <a:r>
              <a:rPr lang="en-US" sz="1350" b="1" dirty="0">
                <a:solidFill>
                  <a:srgbClr val="F2F5F8"/>
                </a:solidFill>
                <a:latin typeface="Arial" pitchFamily="34" charset="0"/>
                <a:ea typeface="Arial" pitchFamily="34" charset="-122"/>
                <a:cs typeface="Arial" pitchFamily="34" charset="-120"/>
              </a:rPr>
              <a:t>Fault Detection</a:t>
            </a:r>
            <a:endParaRPr lang="en-US" sz="1350" dirty="0"/>
          </a:p>
        </p:txBody>
      </p:sp>
      <p:sp>
        <p:nvSpPr>
          <p:cNvPr id="15" name="Text 13"/>
          <p:cNvSpPr/>
          <p:nvPr/>
        </p:nvSpPr>
        <p:spPr>
          <a:xfrm>
            <a:off x="4572000" y="3913632"/>
            <a:ext cx="3017520" cy="594360"/>
          </a:xfrm>
          <a:prstGeom prst="rect">
            <a:avLst/>
          </a:prstGeom>
          <a:noFill/>
          <a:ln/>
        </p:spPr>
        <p:txBody>
          <a:bodyPr wrap="square" lIns="0" tIns="0" rIns="0" bIns="0" rtlCol="0" anchor="ctr"/>
          <a:lstStyle/>
          <a:p>
            <a:pPr indent="0" marL="0">
              <a:lnSpc>
                <a:spcPct val="120000"/>
              </a:lnSpc>
              <a:buNone/>
            </a:pPr>
            <a:r>
              <a:rPr lang="en-US" sz="1000" dirty="0">
                <a:solidFill>
                  <a:srgbClr val="8B98A8"/>
                </a:solidFill>
                <a:latin typeface="Calibri" pitchFamily="34" charset="0"/>
                <a:ea typeface="Calibri" pitchFamily="34" charset="-122"/>
                <a:cs typeface="Calibri" pitchFamily="34" charset="-120"/>
              </a:rPr>
              <a:t>Hybrid rule + statistical engine, explainable per-signal</a:t>
            </a:r>
            <a:endParaRPr lang="en-US" sz="1000" dirty="0"/>
          </a:p>
        </p:txBody>
      </p:sp>
      <p:sp>
        <p:nvSpPr>
          <p:cNvPr id="16" name="Shape 14"/>
          <p:cNvSpPr/>
          <p:nvPr/>
        </p:nvSpPr>
        <p:spPr>
          <a:xfrm>
            <a:off x="8138160" y="3063240"/>
            <a:ext cx="3474720" cy="1554480"/>
          </a:xfrm>
          <a:prstGeom prst="roundRect">
            <a:avLst>
              <a:gd name="adj" fmla="val 4706"/>
            </a:avLst>
          </a:prstGeom>
          <a:solidFill>
            <a:srgbClr val="141B24"/>
          </a:solidFill>
          <a:ln w="12700">
            <a:solidFill>
              <a:srgbClr val="232E3B"/>
            </a:solidFill>
            <a:prstDash val="solid"/>
          </a:ln>
          <a:effectLst>
            <a:outerShdw sx="100000" sy="100000" kx="0" ky="0" algn="bl" rotWithShape="0" blurRad="101600" dist="38100" dir="2700000">
              <a:srgbClr val="000000">
                <a:alpha val="35000"/>
              </a:srgbClr>
            </a:outerShdw>
          </a:effectLst>
        </p:spPr>
      </p:sp>
      <p:sp>
        <p:nvSpPr>
          <p:cNvPr id="17" name="Text 15"/>
          <p:cNvSpPr/>
          <p:nvPr/>
        </p:nvSpPr>
        <p:spPr>
          <a:xfrm>
            <a:off x="8366760" y="3246120"/>
            <a:ext cx="3017520" cy="274320"/>
          </a:xfrm>
          <a:prstGeom prst="rect">
            <a:avLst/>
          </a:prstGeom>
          <a:noFill/>
          <a:ln/>
        </p:spPr>
        <p:txBody>
          <a:bodyPr wrap="square" lIns="0" tIns="0" rIns="0" bIns="0" rtlCol="0" anchor="ctr"/>
          <a:lstStyle/>
          <a:p>
            <a:pPr indent="0" marL="0">
              <a:buNone/>
            </a:pPr>
            <a:r>
              <a:rPr lang="en-US" sz="1050" b="1" spc="100" kern="0" dirty="0">
                <a:solidFill>
                  <a:srgbClr val="3ED598"/>
                </a:solidFill>
                <a:latin typeface="Calibri" pitchFamily="34" charset="0"/>
                <a:ea typeface="Calibri" pitchFamily="34" charset="-122"/>
                <a:cs typeface="Calibri" pitchFamily="34" charset="-120"/>
              </a:rPr>
              <a:t>GOH-UC-065</a:t>
            </a:r>
            <a:endParaRPr lang="en-US" sz="1050" dirty="0"/>
          </a:p>
        </p:txBody>
      </p:sp>
      <p:sp>
        <p:nvSpPr>
          <p:cNvPr id="18" name="Text 16"/>
          <p:cNvSpPr/>
          <p:nvPr/>
        </p:nvSpPr>
        <p:spPr>
          <a:xfrm>
            <a:off x="8366760" y="3520440"/>
            <a:ext cx="3017520" cy="365760"/>
          </a:xfrm>
          <a:prstGeom prst="rect">
            <a:avLst/>
          </a:prstGeom>
          <a:noFill/>
          <a:ln/>
        </p:spPr>
        <p:txBody>
          <a:bodyPr wrap="square" lIns="0" tIns="0" rIns="0" bIns="0" rtlCol="0" anchor="ctr"/>
          <a:lstStyle/>
          <a:p>
            <a:pPr indent="0" marL="0">
              <a:buNone/>
            </a:pPr>
            <a:r>
              <a:rPr lang="en-US" sz="1350" b="1" dirty="0">
                <a:solidFill>
                  <a:srgbClr val="F2F5F8"/>
                </a:solidFill>
                <a:latin typeface="Arial" pitchFamily="34" charset="0"/>
                <a:ea typeface="Arial" pitchFamily="34" charset="-122"/>
                <a:cs typeface="Arial" pitchFamily="34" charset="-120"/>
              </a:rPr>
              <a:t>Agentic Asset Management</a:t>
            </a:r>
            <a:endParaRPr lang="en-US" sz="1350" dirty="0"/>
          </a:p>
        </p:txBody>
      </p:sp>
      <p:sp>
        <p:nvSpPr>
          <p:cNvPr id="19" name="Text 17"/>
          <p:cNvSpPr/>
          <p:nvPr/>
        </p:nvSpPr>
        <p:spPr>
          <a:xfrm>
            <a:off x="8366760" y="3913632"/>
            <a:ext cx="3017520" cy="594360"/>
          </a:xfrm>
          <a:prstGeom prst="rect">
            <a:avLst/>
          </a:prstGeom>
          <a:noFill/>
          <a:ln/>
        </p:spPr>
        <p:txBody>
          <a:bodyPr wrap="square" lIns="0" tIns="0" rIns="0" bIns="0" rtlCol="0" anchor="ctr"/>
          <a:lstStyle/>
          <a:p>
            <a:pPr indent="0" marL="0">
              <a:lnSpc>
                <a:spcPct val="120000"/>
              </a:lnSpc>
              <a:buNone/>
            </a:pPr>
            <a:r>
              <a:rPr lang="en-US" sz="1000" dirty="0">
                <a:solidFill>
                  <a:srgbClr val="8B98A8"/>
                </a:solidFill>
                <a:latin typeface="Calibri" pitchFamily="34" charset="0"/>
                <a:ea typeface="Calibri" pitchFamily="34" charset="-122"/>
                <a:cs typeface="Calibri" pitchFamily="34" charset="-120"/>
              </a:rPr>
              <a:t>The twin doesn't just report — it acts, across a fleet</a:t>
            </a:r>
            <a:endParaRPr lang="en-US" sz="1000" dirty="0"/>
          </a:p>
        </p:txBody>
      </p:sp>
      <p:sp>
        <p:nvSpPr>
          <p:cNvPr id="20" name="Shape 18"/>
          <p:cNvSpPr/>
          <p:nvPr/>
        </p:nvSpPr>
        <p:spPr>
          <a:xfrm>
            <a:off x="548640" y="4846320"/>
            <a:ext cx="11064240" cy="1234440"/>
          </a:xfrm>
          <a:prstGeom prst="roundRect">
            <a:avLst>
              <a:gd name="adj" fmla="val 5926"/>
            </a:avLst>
          </a:prstGeom>
          <a:solidFill>
            <a:srgbClr val="1A2330"/>
          </a:solidFill>
          <a:ln w="12700">
            <a:solidFill>
              <a:srgbClr val="232E3B"/>
            </a:solidFill>
            <a:prstDash val="solid"/>
          </a:ln>
          <a:effectLst>
            <a:outerShdw sx="100000" sy="100000" kx="0" ky="0" algn="bl" rotWithShape="0" blurRad="101600" dist="38100" dir="2700000">
              <a:srgbClr val="000000">
                <a:alpha val="35000"/>
              </a:srgbClr>
            </a:outerShdw>
          </a:effectLst>
        </p:spPr>
      </p:sp>
      <p:sp>
        <p:nvSpPr>
          <p:cNvPr id="21" name="Text 19"/>
          <p:cNvSpPr/>
          <p:nvPr/>
        </p:nvSpPr>
        <p:spPr>
          <a:xfrm>
            <a:off x="914400" y="5010912"/>
            <a:ext cx="3657600" cy="274320"/>
          </a:xfrm>
          <a:prstGeom prst="rect">
            <a:avLst/>
          </a:prstGeom>
          <a:noFill/>
          <a:ln/>
        </p:spPr>
        <p:txBody>
          <a:bodyPr wrap="square" lIns="0" tIns="0" rIns="0" bIns="0" rtlCol="0" anchor="ctr"/>
          <a:lstStyle/>
          <a:p>
            <a:pPr indent="0" marL="0">
              <a:buNone/>
            </a:pPr>
            <a:r>
              <a:rPr lang="en-US" sz="1100" b="1" spc="150" kern="0" dirty="0">
                <a:solidFill>
                  <a:srgbClr val="8B98A8"/>
                </a:solidFill>
                <a:latin typeface="Calibri" pitchFamily="34" charset="0"/>
                <a:ea typeface="Calibri" pitchFamily="34" charset="-122"/>
                <a:cs typeface="Calibri" pitchFamily="34" charset="-120"/>
              </a:rPr>
              <a:t>BIG BETS</a:t>
            </a:r>
            <a:endParaRPr lang="en-US" sz="1100" dirty="0"/>
          </a:p>
        </p:txBody>
      </p:sp>
      <p:sp>
        <p:nvSpPr>
          <p:cNvPr id="22" name="Text 20"/>
          <p:cNvSpPr/>
          <p:nvPr/>
        </p:nvSpPr>
        <p:spPr>
          <a:xfrm>
            <a:off x="914400" y="5285232"/>
            <a:ext cx="10058400" cy="365760"/>
          </a:xfrm>
          <a:prstGeom prst="rect">
            <a:avLst/>
          </a:prstGeom>
          <a:noFill/>
          <a:ln/>
        </p:spPr>
        <p:txBody>
          <a:bodyPr wrap="square" lIns="0" tIns="0" rIns="0" bIns="0" rtlCol="0" anchor="ctr"/>
          <a:lstStyle/>
          <a:p>
            <a:pPr indent="0" marL="0">
              <a:buNone/>
            </a:pPr>
            <a:r>
              <a:rPr lang="en-US" sz="1500" b="1" dirty="0">
                <a:solidFill>
                  <a:srgbClr val="F2F5F8"/>
                </a:solidFill>
                <a:latin typeface="Arial" pitchFamily="34" charset="0"/>
                <a:ea typeface="Arial" pitchFamily="34" charset="-122"/>
                <a:cs typeface="Arial" pitchFamily="34" charset="-120"/>
              </a:rPr>
              <a:t>Energy &amp; Automation  ·  Digital Manufacturing</a:t>
            </a:r>
            <a:endParaRPr lang="en-US" sz="1500" dirty="0"/>
          </a:p>
        </p:txBody>
      </p:sp>
      <p:sp>
        <p:nvSpPr>
          <p:cNvPr id="23" name="Text 21"/>
          <p:cNvSpPr/>
          <p:nvPr/>
        </p:nvSpPr>
        <p:spPr>
          <a:xfrm>
            <a:off x="914400" y="5669280"/>
            <a:ext cx="10058400" cy="320040"/>
          </a:xfrm>
          <a:prstGeom prst="rect">
            <a:avLst/>
          </a:prstGeom>
          <a:noFill/>
          <a:ln/>
        </p:spPr>
        <p:txBody>
          <a:bodyPr wrap="square" lIns="0" tIns="0" rIns="0" bIns="0" rtlCol="0" anchor="ctr"/>
          <a:lstStyle/>
          <a:p>
            <a:pPr indent="0" marL="0">
              <a:buNone/>
            </a:pPr>
            <a:r>
              <a:rPr lang="en-US" sz="1100" i="1" dirty="0">
                <a:solidFill>
                  <a:srgbClr val="8B98A8"/>
                </a:solidFill>
                <a:latin typeface="Calibri" pitchFamily="34" charset="0"/>
                <a:ea typeface="Calibri" pitchFamily="34" charset="-122"/>
                <a:cs typeface="Calibri" pitchFamily="34" charset="-120"/>
              </a:rPr>
              <a:t>Industrial systems monitoring at scale, preventing downtime, closing the design feedback loop fleet-wide.</a:t>
            </a:r>
            <a:endParaRPr lang="en-US" sz="1100" dirty="0"/>
          </a:p>
        </p:txBody>
      </p:sp>
      <p:sp>
        <p:nvSpPr>
          <p:cNvPr id="24" name="Text 22"/>
          <p:cNvSpPr/>
          <p:nvPr/>
        </p:nvSpPr>
        <p:spPr>
          <a:xfrm>
            <a:off x="11338560" y="6355080"/>
            <a:ext cx="457200" cy="320040"/>
          </a:xfrm>
          <a:prstGeom prst="rect">
            <a:avLst/>
          </a:prstGeom>
          <a:noFill/>
          <a:ln/>
        </p:spPr>
        <p:txBody>
          <a:bodyPr wrap="square" lIns="0" tIns="0" rIns="0" bIns="0" rtlCol="0" anchor="ctr"/>
          <a:lstStyle/>
          <a:p>
            <a:pPr algn="r" indent="0" marL="0">
              <a:buNone/>
            </a:pPr>
            <a:r>
              <a:rPr lang="en-US" sz="1000" dirty="0">
                <a:solidFill>
                  <a:srgbClr val="8B98A8"/>
                </a:solidFill>
                <a:latin typeface="Calibri" pitchFamily="34" charset="0"/>
                <a:ea typeface="Calibri" pitchFamily="34" charset="-122"/>
                <a:cs typeface="Calibri" pitchFamily="34" charset="-120"/>
              </a:rPr>
              <a:t>9</a:t>
            </a:r>
            <a:endParaRPr lang="en-US" sz="1000" dirty="0"/>
          </a:p>
        </p:txBody>
      </p:sp>
      <p:sp>
        <p:nvSpPr>
          <p:cNvPr id="25" name="Text 23"/>
          <p:cNvSpPr/>
          <p:nvPr/>
        </p:nvSpPr>
        <p:spPr>
          <a:xfrm>
            <a:off x="548640" y="6355080"/>
            <a:ext cx="4572000" cy="320040"/>
          </a:xfrm>
          <a:prstGeom prst="rect">
            <a:avLst/>
          </a:prstGeom>
          <a:noFill/>
          <a:ln/>
        </p:spPr>
        <p:txBody>
          <a:bodyPr wrap="square" lIns="0" tIns="0" rIns="0" bIns="0" rtlCol="0" anchor="ctr"/>
          <a:lstStyle/>
          <a:p>
            <a:pPr indent="0" marL="0">
              <a:buNone/>
            </a:pPr>
            <a:r>
              <a:rPr lang="en-US" sz="900" spc="100" kern="0" dirty="0">
                <a:solidFill>
                  <a:srgbClr val="8B98A8"/>
                </a:solidFill>
                <a:latin typeface="Calibri" pitchFamily="34" charset="0"/>
                <a:ea typeface="Calibri" pitchFamily="34" charset="-122"/>
                <a:cs typeface="Calibri" pitchFamily="34" charset="-120"/>
              </a:rPr>
              <a:t>EI-NEXUS · MCP MAVERICKS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E13"/>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lIns="0" tIns="0" rIns="0" bIns="0" rtlCol="0" anchor="ctr"/>
          <a:lstStyle/>
          <a:p>
            <a:pPr indent="0" marL="0">
              <a:buNone/>
            </a:pPr>
            <a:r>
              <a:rPr lang="en-US" sz="1200" b="1" spc="200" kern="0" dirty="0">
                <a:solidFill>
                  <a:srgbClr val="FF8A3D"/>
                </a:solidFill>
                <a:latin typeface="Calibri" pitchFamily="34" charset="0"/>
                <a:ea typeface="Calibri" pitchFamily="34" charset="-122"/>
                <a:cs typeface="Calibri" pitchFamily="34" charset="-120"/>
              </a:rPr>
              <a:t>CRITERION 8 · BENEFITS &amp; VIABILITY</a:t>
            </a:r>
            <a:endParaRPr lang="en-US" sz="1200" dirty="0"/>
          </a:p>
        </p:txBody>
      </p:sp>
      <p:sp>
        <p:nvSpPr>
          <p:cNvPr id="3" name="Text 1"/>
          <p:cNvSpPr/>
          <p:nvPr/>
        </p:nvSpPr>
        <p:spPr>
          <a:xfrm>
            <a:off x="548640" y="685800"/>
            <a:ext cx="10515600" cy="822960"/>
          </a:xfrm>
          <a:prstGeom prst="rect">
            <a:avLst/>
          </a:prstGeom>
          <a:noFill/>
          <a:ln/>
        </p:spPr>
        <p:txBody>
          <a:bodyPr wrap="square" lIns="0" tIns="0" rIns="0" bIns="0" rtlCol="0" anchor="ctr"/>
          <a:lstStyle/>
          <a:p>
            <a:pPr indent="0" marL="0">
              <a:buNone/>
            </a:pPr>
            <a:r>
              <a:rPr lang="en-US" sz="3000" b="1" dirty="0">
                <a:solidFill>
                  <a:srgbClr val="F2F5F8"/>
                </a:solidFill>
                <a:latin typeface="Arial" pitchFamily="34" charset="0"/>
                <a:ea typeface="Arial" pitchFamily="34" charset="-122"/>
                <a:cs typeface="Arial" pitchFamily="34" charset="-120"/>
              </a:rPr>
              <a:t>Live ROI today, a real path to production tomorrow</a:t>
            </a:r>
            <a:endParaRPr lang="en-US" sz="3000" dirty="0"/>
          </a:p>
        </p:txBody>
      </p:sp>
      <p:sp>
        <p:nvSpPr>
          <p:cNvPr id="4" name="Shape 2"/>
          <p:cNvSpPr/>
          <p:nvPr/>
        </p:nvSpPr>
        <p:spPr>
          <a:xfrm>
            <a:off x="548640" y="1600200"/>
            <a:ext cx="3474720" cy="1554480"/>
          </a:xfrm>
          <a:prstGeom prst="roundRect">
            <a:avLst>
              <a:gd name="adj" fmla="val 4706"/>
            </a:avLst>
          </a:prstGeom>
          <a:solidFill>
            <a:srgbClr val="1A2330"/>
          </a:solidFill>
          <a:ln w="12700">
            <a:solidFill>
              <a:srgbClr val="232E3B"/>
            </a:solidFill>
            <a:prstDash val="solid"/>
          </a:ln>
          <a:effectLst>
            <a:outerShdw sx="100000" sy="100000" kx="0" ky="0" algn="bl" rotWithShape="0" blurRad="101600" dist="38100" dir="2700000">
              <a:srgbClr val="000000">
                <a:alpha val="35000"/>
              </a:srgbClr>
            </a:outerShdw>
          </a:effectLst>
        </p:spPr>
      </p:sp>
      <p:sp>
        <p:nvSpPr>
          <p:cNvPr id="5" name="Text 3"/>
          <p:cNvSpPr/>
          <p:nvPr/>
        </p:nvSpPr>
        <p:spPr>
          <a:xfrm>
            <a:off x="777240" y="1783080"/>
            <a:ext cx="3017520" cy="594360"/>
          </a:xfrm>
          <a:prstGeom prst="rect">
            <a:avLst/>
          </a:prstGeom>
          <a:noFill/>
          <a:ln/>
        </p:spPr>
        <p:txBody>
          <a:bodyPr wrap="square" lIns="0" tIns="0" rIns="0" bIns="0" rtlCol="0" anchor="ctr"/>
          <a:lstStyle/>
          <a:p>
            <a:pPr indent="0" marL="0">
              <a:buNone/>
            </a:pPr>
            <a:r>
              <a:rPr lang="en-US" sz="2600" b="1" dirty="0">
                <a:solidFill>
                  <a:srgbClr val="3ED598"/>
                </a:solidFill>
                <a:latin typeface="Arial" pitchFamily="34" charset="0"/>
                <a:ea typeface="Arial" pitchFamily="34" charset="-122"/>
                <a:cs typeface="Arial" pitchFamily="34" charset="-120"/>
              </a:rPr>
              <a:t>$807K+</a:t>
            </a:r>
            <a:endParaRPr lang="en-US" sz="2600" dirty="0"/>
          </a:p>
        </p:txBody>
      </p:sp>
      <p:sp>
        <p:nvSpPr>
          <p:cNvPr id="6" name="Text 4"/>
          <p:cNvSpPr/>
          <p:nvPr/>
        </p:nvSpPr>
        <p:spPr>
          <a:xfrm>
            <a:off x="777240" y="2331720"/>
            <a:ext cx="3017520" cy="274320"/>
          </a:xfrm>
          <a:prstGeom prst="rect">
            <a:avLst/>
          </a:prstGeom>
          <a:noFill/>
          <a:ln/>
        </p:spPr>
        <p:txBody>
          <a:bodyPr wrap="square" lIns="0" tIns="0" rIns="0" bIns="0" rtlCol="0" anchor="ctr"/>
          <a:lstStyle/>
          <a:p>
            <a:pPr indent="0" marL="0">
              <a:buNone/>
            </a:pPr>
            <a:r>
              <a:rPr lang="en-US" sz="1100" b="1" dirty="0">
                <a:solidFill>
                  <a:srgbClr val="F2F5F8"/>
                </a:solidFill>
                <a:latin typeface="Calibri" pitchFamily="34" charset="0"/>
                <a:ea typeface="Calibri" pitchFamily="34" charset="-122"/>
                <a:cs typeface="Calibri" pitchFamily="34" charset="-120"/>
              </a:rPr>
              <a:t>Est. Savings / Session</a:t>
            </a:r>
            <a:endParaRPr lang="en-US" sz="1100" dirty="0"/>
          </a:p>
        </p:txBody>
      </p:sp>
      <p:sp>
        <p:nvSpPr>
          <p:cNvPr id="7" name="Text 5"/>
          <p:cNvSpPr/>
          <p:nvPr/>
        </p:nvSpPr>
        <p:spPr>
          <a:xfrm>
            <a:off x="777240" y="2624328"/>
            <a:ext cx="3017520" cy="457200"/>
          </a:xfrm>
          <a:prstGeom prst="rect">
            <a:avLst/>
          </a:prstGeom>
          <a:noFill/>
          <a:ln/>
        </p:spPr>
        <p:txBody>
          <a:bodyPr wrap="square" lIns="0" tIns="0" rIns="0" bIns="0" rtlCol="0" anchor="ctr"/>
          <a:lstStyle/>
          <a:p>
            <a:pPr indent="0" marL="0">
              <a:lnSpc>
                <a:spcPct val="120000"/>
              </a:lnSpc>
              <a:buNone/>
            </a:pPr>
            <a:r>
              <a:rPr lang="en-US" sz="900" i="1" dirty="0">
                <a:solidFill>
                  <a:srgbClr val="8B98A8"/>
                </a:solidFill>
                <a:latin typeface="Calibri" pitchFamily="34" charset="0"/>
                <a:ea typeface="Calibri" pitchFamily="34" charset="-122"/>
                <a:cs typeface="Calibri" pitchFamily="34" charset="-120"/>
              </a:rPr>
              <a:t>computed live, not a slide estimate</a:t>
            </a:r>
            <a:endParaRPr lang="en-US" sz="900" dirty="0"/>
          </a:p>
        </p:txBody>
      </p:sp>
      <p:sp>
        <p:nvSpPr>
          <p:cNvPr id="8" name="Shape 6"/>
          <p:cNvSpPr/>
          <p:nvPr/>
        </p:nvSpPr>
        <p:spPr>
          <a:xfrm>
            <a:off x="4343400" y="1600200"/>
            <a:ext cx="3474720" cy="1554480"/>
          </a:xfrm>
          <a:prstGeom prst="roundRect">
            <a:avLst>
              <a:gd name="adj" fmla="val 4706"/>
            </a:avLst>
          </a:prstGeom>
          <a:solidFill>
            <a:srgbClr val="1A2330"/>
          </a:solidFill>
          <a:ln w="12700">
            <a:solidFill>
              <a:srgbClr val="232E3B"/>
            </a:solidFill>
            <a:prstDash val="solid"/>
          </a:ln>
          <a:effectLst>
            <a:outerShdw sx="100000" sy="100000" kx="0" ky="0" algn="bl" rotWithShape="0" blurRad="101600" dist="38100" dir="2700000">
              <a:srgbClr val="000000">
                <a:alpha val="35000"/>
              </a:srgbClr>
            </a:outerShdw>
          </a:effectLst>
        </p:spPr>
      </p:sp>
      <p:sp>
        <p:nvSpPr>
          <p:cNvPr id="9" name="Text 7"/>
          <p:cNvSpPr/>
          <p:nvPr/>
        </p:nvSpPr>
        <p:spPr>
          <a:xfrm>
            <a:off x="4572000" y="1783080"/>
            <a:ext cx="3017520" cy="594360"/>
          </a:xfrm>
          <a:prstGeom prst="rect">
            <a:avLst/>
          </a:prstGeom>
          <a:noFill/>
          <a:ln/>
        </p:spPr>
        <p:txBody>
          <a:bodyPr wrap="square" lIns="0" tIns="0" rIns="0" bIns="0" rtlCol="0" anchor="ctr"/>
          <a:lstStyle/>
          <a:p>
            <a:pPr indent="0" marL="0">
              <a:buNone/>
            </a:pPr>
            <a:r>
              <a:rPr lang="en-US" sz="2600" b="1" dirty="0">
                <a:solidFill>
                  <a:srgbClr val="4FD1E8"/>
                </a:solidFill>
                <a:latin typeface="Arial" pitchFamily="34" charset="0"/>
                <a:ea typeface="Arial" pitchFamily="34" charset="-122"/>
                <a:cs typeface="Arial" pitchFamily="34" charset="-120"/>
              </a:rPr>
              <a:t>336 hrs</a:t>
            </a:r>
            <a:endParaRPr lang="en-US" sz="2600" dirty="0"/>
          </a:p>
        </p:txBody>
      </p:sp>
      <p:sp>
        <p:nvSpPr>
          <p:cNvPr id="10" name="Text 8"/>
          <p:cNvSpPr/>
          <p:nvPr/>
        </p:nvSpPr>
        <p:spPr>
          <a:xfrm>
            <a:off x="4572000" y="2331720"/>
            <a:ext cx="3017520" cy="274320"/>
          </a:xfrm>
          <a:prstGeom prst="rect">
            <a:avLst/>
          </a:prstGeom>
          <a:noFill/>
          <a:ln/>
        </p:spPr>
        <p:txBody>
          <a:bodyPr wrap="square" lIns="0" tIns="0" rIns="0" bIns="0" rtlCol="0" anchor="ctr"/>
          <a:lstStyle/>
          <a:p>
            <a:pPr indent="0" marL="0">
              <a:buNone/>
            </a:pPr>
            <a:r>
              <a:rPr lang="en-US" sz="1100" b="1" dirty="0">
                <a:solidFill>
                  <a:srgbClr val="F2F5F8"/>
                </a:solidFill>
                <a:latin typeface="Calibri" pitchFamily="34" charset="0"/>
                <a:ea typeface="Calibri" pitchFamily="34" charset="-122"/>
                <a:cs typeface="Calibri" pitchFamily="34" charset="-120"/>
              </a:rPr>
              <a:t>Downtime Avoided</a:t>
            </a:r>
            <a:endParaRPr lang="en-US" sz="1100" dirty="0"/>
          </a:p>
        </p:txBody>
      </p:sp>
      <p:sp>
        <p:nvSpPr>
          <p:cNvPr id="11" name="Text 9"/>
          <p:cNvSpPr/>
          <p:nvPr/>
        </p:nvSpPr>
        <p:spPr>
          <a:xfrm>
            <a:off x="4572000" y="2624328"/>
            <a:ext cx="3017520" cy="457200"/>
          </a:xfrm>
          <a:prstGeom prst="rect">
            <a:avLst/>
          </a:prstGeom>
          <a:noFill/>
          <a:ln/>
        </p:spPr>
        <p:txBody>
          <a:bodyPr wrap="square" lIns="0" tIns="0" rIns="0" bIns="0" rtlCol="0" anchor="ctr"/>
          <a:lstStyle/>
          <a:p>
            <a:pPr indent="0" marL="0">
              <a:lnSpc>
                <a:spcPct val="120000"/>
              </a:lnSpc>
              <a:buNone/>
            </a:pPr>
            <a:r>
              <a:rPr lang="en-US" sz="900" i="1" dirty="0">
                <a:solidFill>
                  <a:srgbClr val="8B98A8"/>
                </a:solidFill>
                <a:latin typeface="Calibri" pitchFamily="34" charset="0"/>
                <a:ea typeface="Calibri" pitchFamily="34" charset="-122"/>
                <a:cs typeface="Calibri" pitchFamily="34" charset="-120"/>
              </a:rPr>
              <a:t>vs. 2-week traditional RCA baseline</a:t>
            </a:r>
            <a:endParaRPr lang="en-US" sz="900" dirty="0"/>
          </a:p>
        </p:txBody>
      </p:sp>
      <p:sp>
        <p:nvSpPr>
          <p:cNvPr id="12" name="Shape 10"/>
          <p:cNvSpPr/>
          <p:nvPr/>
        </p:nvSpPr>
        <p:spPr>
          <a:xfrm>
            <a:off x="8138160" y="1600200"/>
            <a:ext cx="3474720" cy="1554480"/>
          </a:xfrm>
          <a:prstGeom prst="roundRect">
            <a:avLst>
              <a:gd name="adj" fmla="val 4706"/>
            </a:avLst>
          </a:prstGeom>
          <a:solidFill>
            <a:srgbClr val="1A2330"/>
          </a:solidFill>
          <a:ln w="12700">
            <a:solidFill>
              <a:srgbClr val="232E3B"/>
            </a:solidFill>
            <a:prstDash val="solid"/>
          </a:ln>
          <a:effectLst>
            <a:outerShdw sx="100000" sy="100000" kx="0" ky="0" algn="bl" rotWithShape="0" blurRad="101600" dist="38100" dir="2700000">
              <a:srgbClr val="000000">
                <a:alpha val="35000"/>
              </a:srgbClr>
            </a:outerShdw>
          </a:effectLst>
        </p:spPr>
      </p:sp>
      <p:sp>
        <p:nvSpPr>
          <p:cNvPr id="13" name="Text 11"/>
          <p:cNvSpPr/>
          <p:nvPr/>
        </p:nvSpPr>
        <p:spPr>
          <a:xfrm>
            <a:off x="8366760" y="1783080"/>
            <a:ext cx="3017520" cy="594360"/>
          </a:xfrm>
          <a:prstGeom prst="rect">
            <a:avLst/>
          </a:prstGeom>
          <a:noFill/>
          <a:ln/>
        </p:spPr>
        <p:txBody>
          <a:bodyPr wrap="square" lIns="0" tIns="0" rIns="0" bIns="0" rtlCol="0" anchor="ctr"/>
          <a:lstStyle/>
          <a:p>
            <a:pPr indent="0" marL="0">
              <a:buNone/>
            </a:pPr>
            <a:r>
              <a:rPr lang="en-US" sz="2600" b="1" dirty="0">
                <a:solidFill>
                  <a:srgbClr val="FF8A3D"/>
                </a:solidFill>
                <a:latin typeface="Arial" pitchFamily="34" charset="0"/>
                <a:ea typeface="Arial" pitchFamily="34" charset="-122"/>
                <a:cs typeface="Arial" pitchFamily="34" charset="-120"/>
              </a:rPr>
              <a:t>16.8s</a:t>
            </a:r>
            <a:endParaRPr lang="en-US" sz="2600" dirty="0"/>
          </a:p>
        </p:txBody>
      </p:sp>
      <p:sp>
        <p:nvSpPr>
          <p:cNvPr id="14" name="Text 12"/>
          <p:cNvSpPr/>
          <p:nvPr/>
        </p:nvSpPr>
        <p:spPr>
          <a:xfrm>
            <a:off x="8366760" y="2331720"/>
            <a:ext cx="3017520" cy="274320"/>
          </a:xfrm>
          <a:prstGeom prst="rect">
            <a:avLst/>
          </a:prstGeom>
          <a:noFill/>
          <a:ln/>
        </p:spPr>
        <p:txBody>
          <a:bodyPr wrap="square" lIns="0" tIns="0" rIns="0" bIns="0" rtlCol="0" anchor="ctr"/>
          <a:lstStyle/>
          <a:p>
            <a:pPr indent="0" marL="0">
              <a:buNone/>
            </a:pPr>
            <a:r>
              <a:rPr lang="en-US" sz="1100" b="1" dirty="0">
                <a:solidFill>
                  <a:srgbClr val="F2F5F8"/>
                </a:solidFill>
                <a:latin typeface="Calibri" pitchFamily="34" charset="0"/>
                <a:ea typeface="Calibri" pitchFamily="34" charset="-122"/>
                <a:cs typeface="Calibri" pitchFamily="34" charset="-120"/>
              </a:rPr>
              <a:t>Avg Resolution Time</a:t>
            </a:r>
            <a:endParaRPr lang="en-US" sz="1100" dirty="0"/>
          </a:p>
        </p:txBody>
      </p:sp>
      <p:sp>
        <p:nvSpPr>
          <p:cNvPr id="15" name="Text 13"/>
          <p:cNvSpPr/>
          <p:nvPr/>
        </p:nvSpPr>
        <p:spPr>
          <a:xfrm>
            <a:off x="8366760" y="2624328"/>
            <a:ext cx="3017520" cy="457200"/>
          </a:xfrm>
          <a:prstGeom prst="rect">
            <a:avLst/>
          </a:prstGeom>
          <a:noFill/>
          <a:ln/>
        </p:spPr>
        <p:txBody>
          <a:bodyPr wrap="square" lIns="0" tIns="0" rIns="0" bIns="0" rtlCol="0" anchor="ctr"/>
          <a:lstStyle/>
          <a:p>
            <a:pPr indent="0" marL="0">
              <a:lnSpc>
                <a:spcPct val="120000"/>
              </a:lnSpc>
              <a:buNone/>
            </a:pPr>
            <a:r>
              <a:rPr lang="en-US" sz="900" i="1" dirty="0">
                <a:solidFill>
                  <a:srgbClr val="8B98A8"/>
                </a:solidFill>
                <a:latin typeface="Calibri" pitchFamily="34" charset="0"/>
                <a:ea typeface="Calibri" pitchFamily="34" charset="-122"/>
                <a:cs typeface="Calibri" pitchFamily="34" charset="-120"/>
              </a:rPr>
              <a:t>detect to diagnose to fix to validate</a:t>
            </a:r>
            <a:endParaRPr lang="en-US" sz="900" dirty="0"/>
          </a:p>
        </p:txBody>
      </p:sp>
      <p:sp>
        <p:nvSpPr>
          <p:cNvPr id="16" name="Shape 14"/>
          <p:cNvSpPr/>
          <p:nvPr/>
        </p:nvSpPr>
        <p:spPr>
          <a:xfrm>
            <a:off x="548640" y="3383280"/>
            <a:ext cx="11064240" cy="2697480"/>
          </a:xfrm>
          <a:prstGeom prst="roundRect">
            <a:avLst>
              <a:gd name="adj" fmla="val 2712"/>
            </a:avLst>
          </a:prstGeom>
          <a:solidFill>
            <a:srgbClr val="141B24"/>
          </a:solidFill>
          <a:ln w="12700">
            <a:solidFill>
              <a:srgbClr val="232E3B"/>
            </a:solidFill>
            <a:prstDash val="solid"/>
          </a:ln>
          <a:effectLst>
            <a:outerShdw sx="100000" sy="100000" kx="0" ky="0" algn="bl" rotWithShape="0" blurRad="101600" dist="38100" dir="2700000">
              <a:srgbClr val="000000">
                <a:alpha val="35000"/>
              </a:srgbClr>
            </a:outerShdw>
          </a:effectLst>
        </p:spPr>
      </p:sp>
      <p:sp>
        <p:nvSpPr>
          <p:cNvPr id="17" name="Text 15"/>
          <p:cNvSpPr/>
          <p:nvPr/>
        </p:nvSpPr>
        <p:spPr>
          <a:xfrm>
            <a:off x="914400" y="3566160"/>
            <a:ext cx="10332720" cy="274320"/>
          </a:xfrm>
          <a:prstGeom prst="rect">
            <a:avLst/>
          </a:prstGeom>
          <a:noFill/>
          <a:ln/>
        </p:spPr>
        <p:txBody>
          <a:bodyPr wrap="square" lIns="0" tIns="0" rIns="0" bIns="0" rtlCol="0" anchor="ctr"/>
          <a:lstStyle/>
          <a:p>
            <a:pPr indent="0" marL="0">
              <a:buNone/>
            </a:pPr>
            <a:r>
              <a:rPr lang="en-US" sz="1300" b="1" dirty="0">
                <a:solidFill>
                  <a:srgbClr val="FF8A3D"/>
                </a:solidFill>
                <a:latin typeface="Arial" pitchFamily="34" charset="0"/>
                <a:ea typeface="Arial" pitchFamily="34" charset="-122"/>
                <a:cs typeface="Arial" pitchFamily="34" charset="-120"/>
              </a:rPr>
              <a:t>VIABILITY — THREE STAGES, EACH INDEPENDENTLY USEFUL</a:t>
            </a:r>
            <a:endParaRPr lang="en-US" sz="1300" dirty="0"/>
          </a:p>
        </p:txBody>
      </p:sp>
      <p:sp>
        <p:nvSpPr>
          <p:cNvPr id="18" name="Shape 16"/>
          <p:cNvSpPr/>
          <p:nvPr/>
        </p:nvSpPr>
        <p:spPr>
          <a:xfrm>
            <a:off x="914400" y="3977640"/>
            <a:ext cx="1737360" cy="365760"/>
          </a:xfrm>
          <a:prstGeom prst="roundRect">
            <a:avLst>
              <a:gd name="adj" fmla="val 15000"/>
            </a:avLst>
          </a:prstGeom>
          <a:solidFill>
            <a:srgbClr val="1A2330"/>
          </a:solidFill>
          <a:ln w="12700">
            <a:solidFill>
              <a:srgbClr val="8B98A8"/>
            </a:solidFill>
            <a:prstDash val="solid"/>
          </a:ln>
        </p:spPr>
      </p:sp>
      <p:sp>
        <p:nvSpPr>
          <p:cNvPr id="19" name="Text 17"/>
          <p:cNvSpPr/>
          <p:nvPr/>
        </p:nvSpPr>
        <p:spPr>
          <a:xfrm>
            <a:off x="914400" y="3977640"/>
            <a:ext cx="1737360" cy="365760"/>
          </a:xfrm>
          <a:prstGeom prst="rect">
            <a:avLst/>
          </a:prstGeom>
          <a:noFill/>
          <a:ln/>
        </p:spPr>
        <p:txBody>
          <a:bodyPr wrap="square" lIns="0" tIns="0" rIns="0" bIns="0" rtlCol="0" anchor="ctr"/>
          <a:lstStyle/>
          <a:p>
            <a:pPr algn="ctr" indent="0" marL="0">
              <a:buNone/>
            </a:pPr>
            <a:r>
              <a:rPr lang="en-US" sz="950" b="1" dirty="0">
                <a:solidFill>
                  <a:srgbClr val="8B98A8"/>
                </a:solidFill>
                <a:latin typeface="Calibri" pitchFamily="34" charset="0"/>
                <a:ea typeface="Calibri" pitchFamily="34" charset="-122"/>
                <a:cs typeface="Calibri" pitchFamily="34" charset="-120"/>
              </a:rPr>
              <a:t>STAGE 1 - TODAY</a:t>
            </a:r>
            <a:endParaRPr lang="en-US" sz="950" dirty="0"/>
          </a:p>
        </p:txBody>
      </p:sp>
      <p:sp>
        <p:nvSpPr>
          <p:cNvPr id="20" name="Text 18"/>
          <p:cNvSpPr/>
          <p:nvPr/>
        </p:nvSpPr>
        <p:spPr>
          <a:xfrm>
            <a:off x="2788920" y="3977640"/>
            <a:ext cx="8412480" cy="502920"/>
          </a:xfrm>
          <a:prstGeom prst="rect">
            <a:avLst/>
          </a:prstGeom>
          <a:noFill/>
          <a:ln/>
        </p:spPr>
        <p:txBody>
          <a:bodyPr wrap="square" lIns="0" tIns="0" rIns="0" bIns="0" rtlCol="0" anchor="ctr"/>
          <a:lstStyle/>
          <a:p>
            <a:pPr indent="0" marL="0">
              <a:lnSpc>
                <a:spcPct val="120000"/>
              </a:lnSpc>
              <a:buNone/>
            </a:pPr>
            <a:r>
              <a:rPr lang="en-US" sz="1050" dirty="0">
                <a:solidFill>
                  <a:srgbClr val="F2F5F8"/>
                </a:solidFill>
                <a:latin typeface="Calibri" pitchFamily="34" charset="0"/>
                <a:ea typeface="Calibri" pitchFamily="34" charset="-122"/>
                <a:cs typeface="Calibri" pitchFamily="34" charset="-120"/>
              </a:rPr>
              <a:t>Local / offline-first — pip install + run, zero cloud account needed. Runs on any judge's laptop right now.</a:t>
            </a:r>
            <a:endParaRPr lang="en-US" sz="1050" dirty="0"/>
          </a:p>
        </p:txBody>
      </p:sp>
      <p:sp>
        <p:nvSpPr>
          <p:cNvPr id="21" name="Shape 19"/>
          <p:cNvSpPr/>
          <p:nvPr/>
        </p:nvSpPr>
        <p:spPr>
          <a:xfrm>
            <a:off x="914400" y="4599432"/>
            <a:ext cx="1737360" cy="365760"/>
          </a:xfrm>
          <a:prstGeom prst="roundRect">
            <a:avLst>
              <a:gd name="adj" fmla="val 15000"/>
            </a:avLst>
          </a:prstGeom>
          <a:solidFill>
            <a:srgbClr val="1A2330"/>
          </a:solidFill>
          <a:ln w="12700">
            <a:solidFill>
              <a:srgbClr val="FF8A3D"/>
            </a:solidFill>
            <a:prstDash val="solid"/>
          </a:ln>
        </p:spPr>
      </p:sp>
      <p:sp>
        <p:nvSpPr>
          <p:cNvPr id="22" name="Text 20"/>
          <p:cNvSpPr/>
          <p:nvPr/>
        </p:nvSpPr>
        <p:spPr>
          <a:xfrm>
            <a:off x="914400" y="4599432"/>
            <a:ext cx="1737360" cy="365760"/>
          </a:xfrm>
          <a:prstGeom prst="rect">
            <a:avLst/>
          </a:prstGeom>
          <a:noFill/>
          <a:ln/>
        </p:spPr>
        <p:txBody>
          <a:bodyPr wrap="square" lIns="0" tIns="0" rIns="0" bIns="0" rtlCol="0" anchor="ctr"/>
          <a:lstStyle/>
          <a:p>
            <a:pPr algn="ctr" indent="0" marL="0">
              <a:buNone/>
            </a:pPr>
            <a:r>
              <a:rPr lang="en-US" sz="950" b="1" dirty="0">
                <a:solidFill>
                  <a:srgbClr val="FF8A3D"/>
                </a:solidFill>
                <a:latin typeface="Calibri" pitchFamily="34" charset="0"/>
                <a:ea typeface="Calibri" pitchFamily="34" charset="-122"/>
                <a:cs typeface="Calibri" pitchFamily="34" charset="-120"/>
              </a:rPr>
              <a:t>STAGE 2 - NEAR-TERM</a:t>
            </a:r>
            <a:endParaRPr lang="en-US" sz="950" dirty="0"/>
          </a:p>
        </p:txBody>
      </p:sp>
      <p:sp>
        <p:nvSpPr>
          <p:cNvPr id="23" name="Text 21"/>
          <p:cNvSpPr/>
          <p:nvPr/>
        </p:nvSpPr>
        <p:spPr>
          <a:xfrm>
            <a:off x="2788920" y="4599432"/>
            <a:ext cx="8412480" cy="502920"/>
          </a:xfrm>
          <a:prstGeom prst="rect">
            <a:avLst/>
          </a:prstGeom>
          <a:noFill/>
          <a:ln/>
        </p:spPr>
        <p:txBody>
          <a:bodyPr wrap="square" lIns="0" tIns="0" rIns="0" bIns="0" rtlCol="0" anchor="ctr"/>
          <a:lstStyle/>
          <a:p>
            <a:pPr indent="0" marL="0">
              <a:lnSpc>
                <a:spcPct val="120000"/>
              </a:lnSpc>
              <a:buNone/>
            </a:pPr>
            <a:r>
              <a:rPr lang="en-US" sz="1050" dirty="0">
                <a:solidFill>
                  <a:srgbClr val="F2F5F8"/>
                </a:solidFill>
                <a:latin typeface="Calibri" pitchFamily="34" charset="0"/>
                <a:ea typeface="Calibri" pitchFamily="34" charset="-122"/>
                <a:cs typeface="Calibri" pitchFamily="34" charset="-120"/>
              </a:rPr>
              <a:t>Dockerized cloud pilot — GCP Cloud Run / Azure Container Apps / AWS App Runner, all deployment-ready with exact commands written</a:t>
            </a:r>
            <a:endParaRPr lang="en-US" sz="1050" dirty="0"/>
          </a:p>
        </p:txBody>
      </p:sp>
      <p:sp>
        <p:nvSpPr>
          <p:cNvPr id="24" name="Shape 22"/>
          <p:cNvSpPr/>
          <p:nvPr/>
        </p:nvSpPr>
        <p:spPr>
          <a:xfrm>
            <a:off x="914400" y="5221224"/>
            <a:ext cx="1737360" cy="365760"/>
          </a:xfrm>
          <a:prstGeom prst="roundRect">
            <a:avLst>
              <a:gd name="adj" fmla="val 15000"/>
            </a:avLst>
          </a:prstGeom>
          <a:solidFill>
            <a:srgbClr val="1A2330"/>
          </a:solidFill>
          <a:ln w="12700">
            <a:solidFill>
              <a:srgbClr val="3ED598"/>
            </a:solidFill>
            <a:prstDash val="solid"/>
          </a:ln>
        </p:spPr>
      </p:sp>
      <p:sp>
        <p:nvSpPr>
          <p:cNvPr id="25" name="Text 23"/>
          <p:cNvSpPr/>
          <p:nvPr/>
        </p:nvSpPr>
        <p:spPr>
          <a:xfrm>
            <a:off x="914400" y="5221224"/>
            <a:ext cx="1737360" cy="365760"/>
          </a:xfrm>
          <a:prstGeom prst="rect">
            <a:avLst/>
          </a:prstGeom>
          <a:noFill/>
          <a:ln/>
        </p:spPr>
        <p:txBody>
          <a:bodyPr wrap="square" lIns="0" tIns="0" rIns="0" bIns="0" rtlCol="0" anchor="ctr"/>
          <a:lstStyle/>
          <a:p>
            <a:pPr algn="ctr" indent="0" marL="0">
              <a:buNone/>
            </a:pPr>
            <a:r>
              <a:rPr lang="en-US" sz="950" b="1" dirty="0">
                <a:solidFill>
                  <a:srgbClr val="3ED598"/>
                </a:solidFill>
                <a:latin typeface="Calibri" pitchFamily="34" charset="0"/>
                <a:ea typeface="Calibri" pitchFamily="34" charset="-122"/>
                <a:cs typeface="Calibri" pitchFamily="34" charset="-120"/>
              </a:rPr>
              <a:t>STAGE 3 - PRODUCTION</a:t>
            </a:r>
            <a:endParaRPr lang="en-US" sz="950" dirty="0"/>
          </a:p>
        </p:txBody>
      </p:sp>
      <p:sp>
        <p:nvSpPr>
          <p:cNvPr id="26" name="Text 24"/>
          <p:cNvSpPr/>
          <p:nvPr/>
        </p:nvSpPr>
        <p:spPr>
          <a:xfrm>
            <a:off x="2788920" y="5221224"/>
            <a:ext cx="8412480" cy="502920"/>
          </a:xfrm>
          <a:prstGeom prst="rect">
            <a:avLst/>
          </a:prstGeom>
          <a:noFill/>
          <a:ln/>
        </p:spPr>
        <p:txBody>
          <a:bodyPr wrap="square" lIns="0" tIns="0" rIns="0" bIns="0" rtlCol="0" anchor="ctr"/>
          <a:lstStyle/>
          <a:p>
            <a:pPr indent="0" marL="0">
              <a:lnSpc>
                <a:spcPct val="120000"/>
              </a:lnSpc>
              <a:buNone/>
            </a:pPr>
            <a:r>
              <a:rPr lang="en-US" sz="1050" dirty="0">
                <a:solidFill>
                  <a:srgbClr val="F2F5F8"/>
                </a:solidFill>
                <a:latin typeface="Calibri" pitchFamily="34" charset="0"/>
                <a:ea typeface="Calibri" pitchFamily="34" charset="-122"/>
                <a:cs typeface="Calibri" pitchFamily="34" charset="-120"/>
              </a:rPr>
              <a:t>Fleet-scale platform — Kubernetes, managed DB (Cloud SQL/Azure SQL/RDS), SAP/CMMS integration, SSO</a:t>
            </a:r>
            <a:endParaRPr lang="en-US" sz="1050" dirty="0"/>
          </a:p>
        </p:txBody>
      </p:sp>
      <p:sp>
        <p:nvSpPr>
          <p:cNvPr id="27" name="Text 25"/>
          <p:cNvSpPr/>
          <p:nvPr/>
        </p:nvSpPr>
        <p:spPr>
          <a:xfrm>
            <a:off x="11338560" y="6355080"/>
            <a:ext cx="457200" cy="320040"/>
          </a:xfrm>
          <a:prstGeom prst="rect">
            <a:avLst/>
          </a:prstGeom>
          <a:noFill/>
          <a:ln/>
        </p:spPr>
        <p:txBody>
          <a:bodyPr wrap="square" lIns="0" tIns="0" rIns="0" bIns="0" rtlCol="0" anchor="ctr"/>
          <a:lstStyle/>
          <a:p>
            <a:pPr algn="r" indent="0" marL="0">
              <a:buNone/>
            </a:pPr>
            <a:r>
              <a:rPr lang="en-US" sz="1000" dirty="0">
                <a:solidFill>
                  <a:srgbClr val="8B98A8"/>
                </a:solidFill>
                <a:latin typeface="Calibri" pitchFamily="34" charset="0"/>
                <a:ea typeface="Calibri" pitchFamily="34" charset="-122"/>
                <a:cs typeface="Calibri" pitchFamily="34" charset="-120"/>
              </a:rPr>
              <a:t>10</a:t>
            </a:r>
            <a:endParaRPr lang="en-US" sz="1000" dirty="0"/>
          </a:p>
        </p:txBody>
      </p:sp>
      <p:sp>
        <p:nvSpPr>
          <p:cNvPr id="28" name="Text 26"/>
          <p:cNvSpPr/>
          <p:nvPr/>
        </p:nvSpPr>
        <p:spPr>
          <a:xfrm>
            <a:off x="548640" y="6355080"/>
            <a:ext cx="4572000" cy="320040"/>
          </a:xfrm>
          <a:prstGeom prst="rect">
            <a:avLst/>
          </a:prstGeom>
          <a:noFill/>
          <a:ln/>
        </p:spPr>
        <p:txBody>
          <a:bodyPr wrap="square" lIns="0" tIns="0" rIns="0" bIns="0" rtlCol="0" anchor="ctr"/>
          <a:lstStyle/>
          <a:p>
            <a:pPr indent="0" marL="0">
              <a:buNone/>
            </a:pPr>
            <a:r>
              <a:rPr lang="en-US" sz="900" spc="100" kern="0" dirty="0">
                <a:solidFill>
                  <a:srgbClr val="8B98A8"/>
                </a:solidFill>
                <a:latin typeface="Calibri" pitchFamily="34" charset="0"/>
                <a:ea typeface="Calibri" pitchFamily="34" charset="-122"/>
                <a:cs typeface="Calibri" pitchFamily="34" charset="-120"/>
              </a:rPr>
              <a:t>EI-NEXUS · MCP MAVERICKS</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E13"/>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lIns="0" tIns="0" rIns="0" bIns="0" rtlCol="0" anchor="ctr"/>
          <a:lstStyle/>
          <a:p>
            <a:pPr indent="0" marL="0">
              <a:buNone/>
            </a:pPr>
            <a:r>
              <a:rPr lang="en-US" sz="1200" b="1" spc="200" kern="0" dirty="0">
                <a:solidFill>
                  <a:srgbClr val="FF8A3D"/>
                </a:solidFill>
                <a:latin typeface="Calibri" pitchFamily="34" charset="0"/>
                <a:ea typeface="Calibri" pitchFamily="34" charset="-122"/>
                <a:cs typeface="Calibri" pitchFamily="34" charset="-120"/>
              </a:rPr>
              <a:t>CRITERION 9 · WORKING DEMO</a:t>
            </a:r>
            <a:endParaRPr lang="en-US" sz="1200" dirty="0"/>
          </a:p>
        </p:txBody>
      </p:sp>
      <p:sp>
        <p:nvSpPr>
          <p:cNvPr id="3" name="Text 1"/>
          <p:cNvSpPr/>
          <p:nvPr/>
        </p:nvSpPr>
        <p:spPr>
          <a:xfrm>
            <a:off x="548640" y="685800"/>
            <a:ext cx="10515600" cy="822960"/>
          </a:xfrm>
          <a:prstGeom prst="rect">
            <a:avLst/>
          </a:prstGeom>
          <a:noFill/>
          <a:ln/>
        </p:spPr>
        <p:txBody>
          <a:bodyPr wrap="square" lIns="0" tIns="0" rIns="0" bIns="0" rtlCol="0" anchor="ctr"/>
          <a:lstStyle/>
          <a:p>
            <a:pPr indent="0" marL="0">
              <a:buNone/>
            </a:pPr>
            <a:r>
              <a:rPr lang="en-US" sz="2400" b="1" dirty="0">
                <a:solidFill>
                  <a:srgbClr val="F2F5F8"/>
                </a:solidFill>
                <a:latin typeface="Arial" pitchFamily="34" charset="0"/>
                <a:ea typeface="Arial" pitchFamily="34" charset="-122"/>
                <a:cs typeface="Arial" pitchFamily="34" charset="-120"/>
              </a:rPr>
              <a:t>Real screenshots of a running app — not mockups</a:t>
            </a:r>
            <a:endParaRPr lang="en-US" sz="2400" dirty="0"/>
          </a:p>
        </p:txBody>
      </p:sp>
      <p:sp>
        <p:nvSpPr>
          <p:cNvPr id="4" name="Shape 2"/>
          <p:cNvSpPr/>
          <p:nvPr/>
        </p:nvSpPr>
        <p:spPr>
          <a:xfrm>
            <a:off x="548640" y="1554480"/>
            <a:ext cx="5349240" cy="2788920"/>
          </a:xfrm>
          <a:prstGeom prst="roundRect">
            <a:avLst>
              <a:gd name="adj" fmla="val 1967"/>
            </a:avLst>
          </a:prstGeom>
          <a:solidFill>
            <a:srgbClr val="141B24"/>
          </a:solidFill>
          <a:ln w="12700">
            <a:solidFill>
              <a:srgbClr val="232E3B"/>
            </a:solidFill>
            <a:prstDash val="solid"/>
          </a:ln>
          <a:effectLst>
            <a:outerShdw sx="100000" sy="100000" kx="0" ky="0" algn="bl" rotWithShape="0" blurRad="101600" dist="38100" dir="2700000">
              <a:srgbClr val="000000">
                <a:alpha val="35000"/>
              </a:srgbClr>
            </a:outerShdw>
          </a:effectLst>
        </p:spPr>
      </p:sp>
      <p:pic>
        <p:nvPicPr>
          <p:cNvPr id="5" name="Image 0" descr="/home/claude/pptx_build2/demo_shot_1_dashboard.png">    </p:cNvPr>
          <p:cNvPicPr>
            <a:picLocks noChangeAspect="1"/>
          </p:cNvPicPr>
          <p:nvPr/>
        </p:nvPicPr>
        <p:blipFill>
          <a:blip r:embed="rId1"/>
          <a:stretch>
            <a:fillRect/>
          </a:stretch>
        </p:blipFill>
        <p:spPr>
          <a:xfrm>
            <a:off x="1210848" y="1645920"/>
            <a:ext cx="4024823" cy="2395728"/>
          </a:xfrm>
          <a:prstGeom prst="rect">
            <a:avLst/>
          </a:prstGeom>
        </p:spPr>
      </p:pic>
      <p:sp>
        <p:nvSpPr>
          <p:cNvPr id="6" name="Text 3"/>
          <p:cNvSpPr/>
          <p:nvPr/>
        </p:nvSpPr>
        <p:spPr>
          <a:xfrm>
            <a:off x="640080" y="4050792"/>
            <a:ext cx="5166360" cy="256032"/>
          </a:xfrm>
          <a:prstGeom prst="rect">
            <a:avLst/>
          </a:prstGeom>
          <a:noFill/>
          <a:ln/>
        </p:spPr>
        <p:txBody>
          <a:bodyPr wrap="square" lIns="0" tIns="0" rIns="0" bIns="0" rtlCol="0" anchor="ctr"/>
          <a:lstStyle/>
          <a:p>
            <a:pPr algn="ctr" indent="0" marL="0">
              <a:buNone/>
            </a:pPr>
            <a:r>
              <a:rPr lang="en-US" sz="950" i="1" dirty="0">
                <a:solidFill>
                  <a:srgbClr val="8B98A8"/>
                </a:solidFill>
                <a:latin typeface="Calibri" pitchFamily="34" charset="0"/>
                <a:ea typeface="Calibri" pitchFamily="34" charset="-122"/>
                <a:cs typeface="Calibri" pitchFamily="34" charset="-120"/>
              </a:rPr>
              <a:t>Live fleet dashboard — 4 assets, real telemetry</a:t>
            </a:r>
            <a:endParaRPr lang="en-US" sz="950" dirty="0"/>
          </a:p>
        </p:txBody>
      </p:sp>
      <p:sp>
        <p:nvSpPr>
          <p:cNvPr id="7" name="Shape 4"/>
          <p:cNvSpPr/>
          <p:nvPr/>
        </p:nvSpPr>
        <p:spPr>
          <a:xfrm>
            <a:off x="6172200" y="1554480"/>
            <a:ext cx="5349240" cy="2788920"/>
          </a:xfrm>
          <a:prstGeom prst="roundRect">
            <a:avLst>
              <a:gd name="adj" fmla="val 1967"/>
            </a:avLst>
          </a:prstGeom>
          <a:solidFill>
            <a:srgbClr val="141B24"/>
          </a:solidFill>
          <a:ln w="12700">
            <a:solidFill>
              <a:srgbClr val="232E3B"/>
            </a:solidFill>
            <a:prstDash val="solid"/>
          </a:ln>
          <a:effectLst>
            <a:outerShdw sx="100000" sy="100000" kx="0" ky="0" algn="bl" rotWithShape="0" blurRad="101600" dist="38100" dir="2700000">
              <a:srgbClr val="000000">
                <a:alpha val="35000"/>
              </a:srgbClr>
            </a:outerShdw>
          </a:effectLst>
        </p:spPr>
      </p:sp>
      <p:pic>
        <p:nvPicPr>
          <p:cNvPr id="8" name="Image 1" descr="/home/claude/pptx_build2/demo_shot_2_rca_trace.png">    </p:cNvPr>
          <p:cNvPicPr>
            <a:picLocks noChangeAspect="1"/>
          </p:cNvPicPr>
          <p:nvPr/>
        </p:nvPicPr>
        <p:blipFill>
          <a:blip r:embed="rId2"/>
          <a:stretch>
            <a:fillRect/>
          </a:stretch>
        </p:blipFill>
        <p:spPr>
          <a:xfrm>
            <a:off x="6834408" y="1645920"/>
            <a:ext cx="4024823" cy="2395728"/>
          </a:xfrm>
          <a:prstGeom prst="rect">
            <a:avLst/>
          </a:prstGeom>
        </p:spPr>
      </p:pic>
      <p:sp>
        <p:nvSpPr>
          <p:cNvPr id="9" name="Text 5"/>
          <p:cNvSpPr/>
          <p:nvPr/>
        </p:nvSpPr>
        <p:spPr>
          <a:xfrm>
            <a:off x="6263640" y="4050792"/>
            <a:ext cx="5166360" cy="256032"/>
          </a:xfrm>
          <a:prstGeom prst="rect">
            <a:avLst/>
          </a:prstGeom>
          <a:noFill/>
          <a:ln/>
        </p:spPr>
        <p:txBody>
          <a:bodyPr wrap="square" lIns="0" tIns="0" rIns="0" bIns="0" rtlCol="0" anchor="ctr"/>
          <a:lstStyle/>
          <a:p>
            <a:pPr algn="ctr" indent="0" marL="0">
              <a:buNone/>
            </a:pPr>
            <a:r>
              <a:rPr lang="en-US" sz="950" i="1" dirty="0">
                <a:solidFill>
                  <a:srgbClr val="8B98A8"/>
                </a:solidFill>
                <a:latin typeface="Calibri" pitchFamily="34" charset="0"/>
                <a:ea typeface="Calibri" pitchFamily="34" charset="-122"/>
                <a:cs typeface="Calibri" pitchFamily="34" charset="-120"/>
              </a:rPr>
              <a:t>4-tool MCP agent — live cited reasoning trace</a:t>
            </a:r>
            <a:endParaRPr lang="en-US" sz="950" dirty="0"/>
          </a:p>
        </p:txBody>
      </p:sp>
      <p:sp>
        <p:nvSpPr>
          <p:cNvPr id="10" name="Shape 6"/>
          <p:cNvSpPr/>
          <p:nvPr/>
        </p:nvSpPr>
        <p:spPr>
          <a:xfrm>
            <a:off x="548640" y="4480560"/>
            <a:ext cx="7863840" cy="1691640"/>
          </a:xfrm>
          <a:prstGeom prst="roundRect">
            <a:avLst>
              <a:gd name="adj" fmla="val 3243"/>
            </a:avLst>
          </a:prstGeom>
          <a:solidFill>
            <a:srgbClr val="141B24"/>
          </a:solidFill>
          <a:ln w="12700">
            <a:solidFill>
              <a:srgbClr val="232E3B"/>
            </a:solidFill>
            <a:prstDash val="solid"/>
          </a:ln>
          <a:effectLst>
            <a:outerShdw sx="100000" sy="100000" kx="0" ky="0" algn="bl" rotWithShape="0" blurRad="101600" dist="38100" dir="2700000">
              <a:srgbClr val="000000">
                <a:alpha val="35000"/>
              </a:srgbClr>
            </a:outerShdw>
          </a:effectLst>
        </p:spPr>
      </p:sp>
      <p:pic>
        <p:nvPicPr>
          <p:cNvPr id="11" name="Image 2" descr="/home/claude/pptx_build2/demo_shot_3_autonomous.png">    </p:cNvPr>
          <p:cNvPicPr>
            <a:picLocks noChangeAspect="1"/>
          </p:cNvPicPr>
          <p:nvPr/>
        </p:nvPicPr>
        <p:blipFill>
          <a:blip r:embed="rId3"/>
          <a:stretch>
            <a:fillRect/>
          </a:stretch>
        </p:blipFill>
        <p:spPr>
          <a:xfrm>
            <a:off x="3389864" y="4572000"/>
            <a:ext cx="2181393" cy="1298448"/>
          </a:xfrm>
          <a:prstGeom prst="rect">
            <a:avLst/>
          </a:prstGeom>
        </p:spPr>
      </p:pic>
      <p:sp>
        <p:nvSpPr>
          <p:cNvPr id="12" name="Text 7"/>
          <p:cNvSpPr/>
          <p:nvPr/>
        </p:nvSpPr>
        <p:spPr>
          <a:xfrm>
            <a:off x="640080" y="5879592"/>
            <a:ext cx="7680960" cy="256032"/>
          </a:xfrm>
          <a:prstGeom prst="rect">
            <a:avLst/>
          </a:prstGeom>
          <a:noFill/>
          <a:ln/>
        </p:spPr>
        <p:txBody>
          <a:bodyPr wrap="square" lIns="0" tIns="0" rIns="0" bIns="0" rtlCol="0" anchor="ctr"/>
          <a:lstStyle/>
          <a:p>
            <a:pPr algn="ctr" indent="0" marL="0">
              <a:buNone/>
            </a:pPr>
            <a:r>
              <a:rPr lang="en-US" sz="950" i="1" dirty="0">
                <a:solidFill>
                  <a:srgbClr val="8B98A8"/>
                </a:solidFill>
                <a:latin typeface="Calibri" pitchFamily="34" charset="0"/>
                <a:ea typeface="Calibri" pitchFamily="34" charset="-122"/>
                <a:cs typeface="Calibri" pitchFamily="34" charset="-120"/>
              </a:rPr>
              <a:t>Autonomous mode engaged — closed loop running</a:t>
            </a:r>
            <a:endParaRPr lang="en-US" sz="950" dirty="0"/>
          </a:p>
        </p:txBody>
      </p:sp>
      <p:sp>
        <p:nvSpPr>
          <p:cNvPr id="13" name="Shape 8"/>
          <p:cNvSpPr/>
          <p:nvPr/>
        </p:nvSpPr>
        <p:spPr>
          <a:xfrm>
            <a:off x="8595360" y="4480560"/>
            <a:ext cx="2834640" cy="1691640"/>
          </a:xfrm>
          <a:prstGeom prst="roundRect">
            <a:avLst>
              <a:gd name="adj" fmla="val 3243"/>
            </a:avLst>
          </a:prstGeom>
          <a:solidFill>
            <a:srgbClr val="141B24"/>
          </a:solidFill>
          <a:ln w="12700">
            <a:solidFill>
              <a:srgbClr val="232E3B"/>
            </a:solidFill>
            <a:prstDash val="solid"/>
          </a:ln>
          <a:effectLst>
            <a:outerShdw sx="100000" sy="100000" kx="0" ky="0" algn="bl" rotWithShape="0" blurRad="101600" dist="38100" dir="2700000">
              <a:srgbClr val="000000">
                <a:alpha val="35000"/>
              </a:srgbClr>
            </a:outerShdw>
          </a:effectLst>
        </p:spPr>
      </p:sp>
      <p:pic>
        <p:nvPicPr>
          <p:cNvPr id="14" name="Image 3" descr="/home/claude/pptx_build2/demo_shot_4_aria_cropped.png">    </p:cNvPr>
          <p:cNvPicPr>
            <a:picLocks noChangeAspect="1"/>
          </p:cNvPicPr>
          <p:nvPr/>
        </p:nvPicPr>
        <p:blipFill>
          <a:blip r:embed="rId4"/>
          <a:stretch>
            <a:fillRect/>
          </a:stretch>
        </p:blipFill>
        <p:spPr>
          <a:xfrm>
            <a:off x="9579864" y="4572000"/>
            <a:ext cx="865632" cy="1298448"/>
          </a:xfrm>
          <a:prstGeom prst="rect">
            <a:avLst/>
          </a:prstGeom>
        </p:spPr>
      </p:pic>
      <p:sp>
        <p:nvSpPr>
          <p:cNvPr id="15" name="Text 9"/>
          <p:cNvSpPr/>
          <p:nvPr/>
        </p:nvSpPr>
        <p:spPr>
          <a:xfrm>
            <a:off x="8686800" y="5879592"/>
            <a:ext cx="2651760" cy="256032"/>
          </a:xfrm>
          <a:prstGeom prst="rect">
            <a:avLst/>
          </a:prstGeom>
          <a:noFill/>
          <a:ln/>
        </p:spPr>
        <p:txBody>
          <a:bodyPr wrap="square" lIns="0" tIns="0" rIns="0" bIns="0" rtlCol="0" anchor="ctr"/>
          <a:lstStyle/>
          <a:p>
            <a:pPr algn="ctr" indent="0" marL="0">
              <a:buNone/>
            </a:pPr>
            <a:r>
              <a:rPr lang="en-US" sz="950" i="1" dirty="0">
                <a:solidFill>
                  <a:srgbClr val="8B98A8"/>
                </a:solidFill>
                <a:latin typeface="Calibri" pitchFamily="34" charset="0"/>
                <a:ea typeface="Calibri" pitchFamily="34" charset="-122"/>
                <a:cs typeface="Calibri" pitchFamily="34" charset="-120"/>
              </a:rPr>
              <a:t>ARIA answering live</a:t>
            </a:r>
            <a:endParaRPr lang="en-US" sz="950" dirty="0"/>
          </a:p>
        </p:txBody>
      </p:sp>
      <p:sp>
        <p:nvSpPr>
          <p:cNvPr id="16" name="Text 10"/>
          <p:cNvSpPr/>
          <p:nvPr/>
        </p:nvSpPr>
        <p:spPr>
          <a:xfrm>
            <a:off x="11338560" y="6355080"/>
            <a:ext cx="457200" cy="320040"/>
          </a:xfrm>
          <a:prstGeom prst="rect">
            <a:avLst/>
          </a:prstGeom>
          <a:noFill/>
          <a:ln/>
        </p:spPr>
        <p:txBody>
          <a:bodyPr wrap="square" lIns="0" tIns="0" rIns="0" bIns="0" rtlCol="0" anchor="ctr"/>
          <a:lstStyle/>
          <a:p>
            <a:pPr algn="r" indent="0" marL="0">
              <a:buNone/>
            </a:pPr>
            <a:r>
              <a:rPr lang="en-US" sz="1000" dirty="0">
                <a:solidFill>
                  <a:srgbClr val="8B98A8"/>
                </a:solidFill>
                <a:latin typeface="Calibri" pitchFamily="34" charset="0"/>
                <a:ea typeface="Calibri" pitchFamily="34" charset="-122"/>
                <a:cs typeface="Calibri" pitchFamily="34" charset="-120"/>
              </a:rPr>
              <a:t>11</a:t>
            </a:r>
            <a:endParaRPr lang="en-US" sz="1000" dirty="0"/>
          </a:p>
        </p:txBody>
      </p:sp>
      <p:sp>
        <p:nvSpPr>
          <p:cNvPr id="17" name="Text 11"/>
          <p:cNvSpPr/>
          <p:nvPr/>
        </p:nvSpPr>
        <p:spPr>
          <a:xfrm>
            <a:off x="548640" y="6355080"/>
            <a:ext cx="4572000" cy="320040"/>
          </a:xfrm>
          <a:prstGeom prst="rect">
            <a:avLst/>
          </a:prstGeom>
          <a:noFill/>
          <a:ln/>
        </p:spPr>
        <p:txBody>
          <a:bodyPr wrap="square" lIns="0" tIns="0" rIns="0" bIns="0" rtlCol="0" anchor="ctr"/>
          <a:lstStyle/>
          <a:p>
            <a:pPr indent="0" marL="0">
              <a:buNone/>
            </a:pPr>
            <a:r>
              <a:rPr lang="en-US" sz="900" spc="100" kern="0" dirty="0">
                <a:solidFill>
                  <a:srgbClr val="8B98A8"/>
                </a:solidFill>
                <a:latin typeface="Calibri" pitchFamily="34" charset="0"/>
                <a:ea typeface="Calibri" pitchFamily="34" charset="-122"/>
                <a:cs typeface="Calibri" pitchFamily="34" charset="-120"/>
              </a:rPr>
              <a:t>EI-NEXUS · MCP MAVERICKS</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E13"/>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lIns="0" tIns="0" rIns="0" bIns="0" rtlCol="0" anchor="ctr"/>
          <a:lstStyle/>
          <a:p>
            <a:pPr indent="0" marL="0">
              <a:buNone/>
            </a:pPr>
            <a:r>
              <a:rPr lang="en-US" sz="1200" b="1" spc="200" kern="0" dirty="0">
                <a:solidFill>
                  <a:srgbClr val="FF8A3D"/>
                </a:solidFill>
                <a:latin typeface="Calibri" pitchFamily="34" charset="0"/>
                <a:ea typeface="Calibri" pitchFamily="34" charset="-122"/>
                <a:cs typeface="Calibri" pitchFamily="34" charset="-120"/>
              </a:rPr>
              <a:t>CRITERION 10 · DIFFERENTIATION</a:t>
            </a:r>
            <a:endParaRPr lang="en-US" sz="1200" dirty="0"/>
          </a:p>
        </p:txBody>
      </p:sp>
      <p:sp>
        <p:nvSpPr>
          <p:cNvPr id="3" name="Text 1"/>
          <p:cNvSpPr/>
          <p:nvPr/>
        </p:nvSpPr>
        <p:spPr>
          <a:xfrm>
            <a:off x="548640" y="685800"/>
            <a:ext cx="10515600" cy="822960"/>
          </a:xfrm>
          <a:prstGeom prst="rect">
            <a:avLst/>
          </a:prstGeom>
          <a:noFill/>
          <a:ln/>
        </p:spPr>
        <p:txBody>
          <a:bodyPr wrap="square" lIns="0" tIns="0" rIns="0" bIns="0" rtlCol="0" anchor="ctr"/>
          <a:lstStyle/>
          <a:p>
            <a:pPr indent="0" marL="0">
              <a:buNone/>
            </a:pPr>
            <a:r>
              <a:rPr lang="en-US" sz="3000" b="1" dirty="0">
                <a:solidFill>
                  <a:srgbClr val="F2F5F8"/>
                </a:solidFill>
                <a:latin typeface="Arial" pitchFamily="34" charset="0"/>
                <a:ea typeface="Arial" pitchFamily="34" charset="-122"/>
                <a:cs typeface="Arial" pitchFamily="34" charset="-120"/>
              </a:rPr>
              <a:t>What other teams won't have on stage</a:t>
            </a:r>
            <a:endParaRPr lang="en-US" sz="3000" dirty="0"/>
          </a:p>
        </p:txBody>
      </p:sp>
      <p:sp>
        <p:nvSpPr>
          <p:cNvPr id="4" name="Shape 2"/>
          <p:cNvSpPr/>
          <p:nvPr/>
        </p:nvSpPr>
        <p:spPr>
          <a:xfrm>
            <a:off x="548640" y="1691640"/>
            <a:ext cx="3505200" cy="1874520"/>
          </a:xfrm>
          <a:prstGeom prst="roundRect">
            <a:avLst>
              <a:gd name="adj" fmla="val 3902"/>
            </a:avLst>
          </a:prstGeom>
          <a:solidFill>
            <a:srgbClr val="1A2330"/>
          </a:solidFill>
          <a:ln w="12700">
            <a:solidFill>
              <a:srgbClr val="232E3B"/>
            </a:solidFill>
            <a:prstDash val="solid"/>
          </a:ln>
          <a:effectLst>
            <a:outerShdw sx="100000" sy="100000" kx="0" ky="0" algn="bl" rotWithShape="0" blurRad="101600" dist="38100" dir="2700000">
              <a:srgbClr val="000000">
                <a:alpha val="35000"/>
              </a:srgbClr>
            </a:outerShdw>
          </a:effectLst>
        </p:spPr>
      </p:sp>
      <p:sp>
        <p:nvSpPr>
          <p:cNvPr id="5" name="Shape 3"/>
          <p:cNvSpPr/>
          <p:nvPr/>
        </p:nvSpPr>
        <p:spPr>
          <a:xfrm>
            <a:off x="777240" y="1892808"/>
            <a:ext cx="438912" cy="438912"/>
          </a:xfrm>
          <a:prstGeom prst="ellipse">
            <a:avLst/>
          </a:prstGeom>
          <a:solidFill>
            <a:srgbClr val="1A2330"/>
          </a:solidFill>
          <a:ln w="19050">
            <a:solidFill>
              <a:srgbClr val="FF8A3D"/>
            </a:solidFill>
            <a:prstDash val="solid"/>
          </a:ln>
        </p:spPr>
      </p:sp>
      <p:pic>
        <p:nvPicPr>
          <p:cNvPr id="6" name="Image 0" descr="preencoded.png">    </p:cNvPr>
          <p:cNvPicPr>
            <a:picLocks noChangeAspect="1"/>
          </p:cNvPicPr>
          <p:nvPr/>
        </p:nvPicPr>
        <p:blipFill>
          <a:blip r:embed="rId1"/>
          <a:stretch>
            <a:fillRect/>
          </a:stretch>
        </p:blipFill>
        <p:spPr>
          <a:xfrm>
            <a:off x="891357" y="2006925"/>
            <a:ext cx="210678" cy="210678"/>
          </a:xfrm>
          <a:prstGeom prst="rect">
            <a:avLst/>
          </a:prstGeom>
        </p:spPr>
      </p:pic>
      <p:sp>
        <p:nvSpPr>
          <p:cNvPr id="7" name="Text 4"/>
          <p:cNvSpPr/>
          <p:nvPr/>
        </p:nvSpPr>
        <p:spPr>
          <a:xfrm>
            <a:off x="777240" y="2441448"/>
            <a:ext cx="3048000" cy="365760"/>
          </a:xfrm>
          <a:prstGeom prst="rect">
            <a:avLst/>
          </a:prstGeom>
          <a:noFill/>
          <a:ln/>
        </p:spPr>
        <p:txBody>
          <a:bodyPr wrap="square" lIns="0" tIns="0" rIns="0" bIns="0" rtlCol="0" anchor="ctr"/>
          <a:lstStyle/>
          <a:p>
            <a:pPr indent="0" marL="0">
              <a:buNone/>
            </a:pPr>
            <a:r>
              <a:rPr lang="en-US" sz="1300" b="1" dirty="0">
                <a:solidFill>
                  <a:srgbClr val="F2F5F8"/>
                </a:solidFill>
                <a:latin typeface="Arial" pitchFamily="34" charset="0"/>
                <a:ea typeface="Arial" pitchFamily="34" charset="-122"/>
                <a:cs typeface="Arial" pitchFamily="34" charset="-120"/>
              </a:rPr>
              <a:t>It fixes itself</a:t>
            </a:r>
            <a:endParaRPr lang="en-US" sz="1300" dirty="0"/>
          </a:p>
        </p:txBody>
      </p:sp>
      <p:sp>
        <p:nvSpPr>
          <p:cNvPr id="8" name="Text 5"/>
          <p:cNvSpPr/>
          <p:nvPr/>
        </p:nvSpPr>
        <p:spPr>
          <a:xfrm>
            <a:off x="777240" y="2788920"/>
            <a:ext cx="3048000" cy="685800"/>
          </a:xfrm>
          <a:prstGeom prst="rect">
            <a:avLst/>
          </a:prstGeom>
          <a:noFill/>
          <a:ln/>
        </p:spPr>
        <p:txBody>
          <a:bodyPr wrap="square" lIns="0" tIns="0" rIns="0" bIns="0" rtlCol="0" anchor="ctr"/>
          <a:lstStyle/>
          <a:p>
            <a:pPr indent="0" marL="0">
              <a:lnSpc>
                <a:spcPct val="115000"/>
              </a:lnSpc>
              <a:buNone/>
            </a:pPr>
            <a:r>
              <a:rPr lang="en-US" sz="950" dirty="0">
                <a:solidFill>
                  <a:srgbClr val="8B98A8"/>
                </a:solidFill>
                <a:latin typeface="Calibri" pitchFamily="34" charset="0"/>
                <a:ea typeface="Calibri" pitchFamily="34" charset="-122"/>
                <a:cs typeface="Calibri" pitchFamily="34" charset="-120"/>
              </a:rPr>
              <a:t>Not a dashboard that alerts a human — an agent that detects, diagnoses, fixes, and validates with nobody touching the keyboard.</a:t>
            </a:r>
            <a:endParaRPr lang="en-US" sz="950" dirty="0"/>
          </a:p>
        </p:txBody>
      </p:sp>
      <p:sp>
        <p:nvSpPr>
          <p:cNvPr id="9" name="Shape 6"/>
          <p:cNvSpPr/>
          <p:nvPr/>
        </p:nvSpPr>
        <p:spPr>
          <a:xfrm>
            <a:off x="4328160" y="1691640"/>
            <a:ext cx="3505200" cy="1874520"/>
          </a:xfrm>
          <a:prstGeom prst="roundRect">
            <a:avLst>
              <a:gd name="adj" fmla="val 3902"/>
            </a:avLst>
          </a:prstGeom>
          <a:solidFill>
            <a:srgbClr val="1A2330"/>
          </a:solidFill>
          <a:ln w="12700">
            <a:solidFill>
              <a:srgbClr val="232E3B"/>
            </a:solidFill>
            <a:prstDash val="solid"/>
          </a:ln>
          <a:effectLst>
            <a:outerShdw sx="100000" sy="100000" kx="0" ky="0" algn="bl" rotWithShape="0" blurRad="101600" dist="38100" dir="2700000">
              <a:srgbClr val="000000">
                <a:alpha val="35000"/>
              </a:srgbClr>
            </a:outerShdw>
          </a:effectLst>
        </p:spPr>
      </p:sp>
      <p:sp>
        <p:nvSpPr>
          <p:cNvPr id="10" name="Shape 7"/>
          <p:cNvSpPr/>
          <p:nvPr/>
        </p:nvSpPr>
        <p:spPr>
          <a:xfrm>
            <a:off x="4556760" y="1892808"/>
            <a:ext cx="438912" cy="438912"/>
          </a:xfrm>
          <a:prstGeom prst="ellipse">
            <a:avLst/>
          </a:prstGeom>
          <a:solidFill>
            <a:srgbClr val="1A2330"/>
          </a:solidFill>
          <a:ln w="19050">
            <a:solidFill>
              <a:srgbClr val="FF8A3D"/>
            </a:solidFill>
            <a:prstDash val="solid"/>
          </a:ln>
        </p:spPr>
      </p:sp>
      <p:pic>
        <p:nvPicPr>
          <p:cNvPr id="11" name="Image 1" descr="preencoded.png">    </p:cNvPr>
          <p:cNvPicPr>
            <a:picLocks noChangeAspect="1"/>
          </p:cNvPicPr>
          <p:nvPr/>
        </p:nvPicPr>
        <p:blipFill>
          <a:blip r:embed="rId2"/>
          <a:stretch>
            <a:fillRect/>
          </a:stretch>
        </p:blipFill>
        <p:spPr>
          <a:xfrm>
            <a:off x="4670877" y="2006925"/>
            <a:ext cx="210678" cy="210678"/>
          </a:xfrm>
          <a:prstGeom prst="rect">
            <a:avLst/>
          </a:prstGeom>
        </p:spPr>
      </p:pic>
      <p:sp>
        <p:nvSpPr>
          <p:cNvPr id="12" name="Text 8"/>
          <p:cNvSpPr/>
          <p:nvPr/>
        </p:nvSpPr>
        <p:spPr>
          <a:xfrm>
            <a:off x="4556760" y="2441448"/>
            <a:ext cx="3048000" cy="365760"/>
          </a:xfrm>
          <a:prstGeom prst="rect">
            <a:avLst/>
          </a:prstGeom>
          <a:noFill/>
          <a:ln/>
        </p:spPr>
        <p:txBody>
          <a:bodyPr wrap="square" lIns="0" tIns="0" rIns="0" bIns="0" rtlCol="0" anchor="ctr"/>
          <a:lstStyle/>
          <a:p>
            <a:pPr indent="0" marL="0">
              <a:buNone/>
            </a:pPr>
            <a:r>
              <a:rPr lang="en-US" sz="1300" b="1" dirty="0">
                <a:solidFill>
                  <a:srgbClr val="F2F5F8"/>
                </a:solidFill>
                <a:latin typeface="Arial" pitchFamily="34" charset="0"/>
                <a:ea typeface="Arial" pitchFamily="34" charset="-122"/>
                <a:cs typeface="Arial" pitchFamily="34" charset="-120"/>
              </a:rPr>
              <a:t>It gets smarter live</a:t>
            </a:r>
            <a:endParaRPr lang="en-US" sz="1300" dirty="0"/>
          </a:p>
        </p:txBody>
      </p:sp>
      <p:sp>
        <p:nvSpPr>
          <p:cNvPr id="13" name="Text 9"/>
          <p:cNvSpPr/>
          <p:nvPr/>
        </p:nvSpPr>
        <p:spPr>
          <a:xfrm>
            <a:off x="4556760" y="2788920"/>
            <a:ext cx="3048000" cy="685800"/>
          </a:xfrm>
          <a:prstGeom prst="rect">
            <a:avLst/>
          </a:prstGeom>
          <a:noFill/>
          <a:ln/>
        </p:spPr>
        <p:txBody>
          <a:bodyPr wrap="square" lIns="0" tIns="0" rIns="0" bIns="0" rtlCol="0" anchor="ctr"/>
          <a:lstStyle/>
          <a:p>
            <a:pPr indent="0" marL="0">
              <a:lnSpc>
                <a:spcPct val="115000"/>
              </a:lnSpc>
              <a:buNone/>
            </a:pPr>
            <a:r>
              <a:rPr lang="en-US" sz="950" dirty="0">
                <a:solidFill>
                  <a:srgbClr val="8B98A8"/>
                </a:solidFill>
                <a:latin typeface="Calibri" pitchFamily="34" charset="0"/>
                <a:ea typeface="Calibri" pitchFamily="34" charset="-122"/>
                <a:cs typeface="Calibri" pitchFamily="34" charset="-120"/>
              </a:rPr>
              <a:t>Self-tightening detection thresholds, fleet-wide, triggered by a real repeat incident in front of the judges.</a:t>
            </a:r>
            <a:endParaRPr lang="en-US" sz="950" dirty="0"/>
          </a:p>
        </p:txBody>
      </p:sp>
      <p:sp>
        <p:nvSpPr>
          <p:cNvPr id="14" name="Shape 10"/>
          <p:cNvSpPr/>
          <p:nvPr/>
        </p:nvSpPr>
        <p:spPr>
          <a:xfrm>
            <a:off x="8107680" y="1691640"/>
            <a:ext cx="3505200" cy="1874520"/>
          </a:xfrm>
          <a:prstGeom prst="roundRect">
            <a:avLst>
              <a:gd name="adj" fmla="val 3902"/>
            </a:avLst>
          </a:prstGeom>
          <a:solidFill>
            <a:srgbClr val="1A2330"/>
          </a:solidFill>
          <a:ln w="12700">
            <a:solidFill>
              <a:srgbClr val="232E3B"/>
            </a:solidFill>
            <a:prstDash val="solid"/>
          </a:ln>
          <a:effectLst>
            <a:outerShdw sx="100000" sy="100000" kx="0" ky="0" algn="bl" rotWithShape="0" blurRad="101600" dist="38100" dir="2700000">
              <a:srgbClr val="000000">
                <a:alpha val="35000"/>
              </a:srgbClr>
            </a:outerShdw>
          </a:effectLst>
        </p:spPr>
      </p:sp>
      <p:sp>
        <p:nvSpPr>
          <p:cNvPr id="15" name="Shape 11"/>
          <p:cNvSpPr/>
          <p:nvPr/>
        </p:nvSpPr>
        <p:spPr>
          <a:xfrm>
            <a:off x="8336280" y="1892808"/>
            <a:ext cx="438912" cy="438912"/>
          </a:xfrm>
          <a:prstGeom prst="ellipse">
            <a:avLst/>
          </a:prstGeom>
          <a:solidFill>
            <a:srgbClr val="1A2330"/>
          </a:solidFill>
          <a:ln w="19050">
            <a:solidFill>
              <a:srgbClr val="FF8A3D"/>
            </a:solidFill>
            <a:prstDash val="solid"/>
          </a:ln>
        </p:spPr>
      </p:sp>
      <p:pic>
        <p:nvPicPr>
          <p:cNvPr id="16" name="Image 2" descr="preencoded.png">    </p:cNvPr>
          <p:cNvPicPr>
            <a:picLocks noChangeAspect="1"/>
          </p:cNvPicPr>
          <p:nvPr/>
        </p:nvPicPr>
        <p:blipFill>
          <a:blip r:embed="rId3"/>
          <a:stretch>
            <a:fillRect/>
          </a:stretch>
        </p:blipFill>
        <p:spPr>
          <a:xfrm>
            <a:off x="8450397" y="2006925"/>
            <a:ext cx="210678" cy="210678"/>
          </a:xfrm>
          <a:prstGeom prst="rect">
            <a:avLst/>
          </a:prstGeom>
        </p:spPr>
      </p:pic>
      <p:sp>
        <p:nvSpPr>
          <p:cNvPr id="17" name="Text 12"/>
          <p:cNvSpPr/>
          <p:nvPr/>
        </p:nvSpPr>
        <p:spPr>
          <a:xfrm>
            <a:off x="8336280" y="2441448"/>
            <a:ext cx="3048000" cy="365760"/>
          </a:xfrm>
          <a:prstGeom prst="rect">
            <a:avLst/>
          </a:prstGeom>
          <a:noFill/>
          <a:ln/>
        </p:spPr>
        <p:txBody>
          <a:bodyPr wrap="square" lIns="0" tIns="0" rIns="0" bIns="0" rtlCol="0" anchor="ctr"/>
          <a:lstStyle/>
          <a:p>
            <a:pPr indent="0" marL="0">
              <a:buNone/>
            </a:pPr>
            <a:r>
              <a:rPr lang="en-US" sz="1300" b="1" dirty="0">
                <a:solidFill>
                  <a:srgbClr val="F2F5F8"/>
                </a:solidFill>
                <a:latin typeface="Arial" pitchFamily="34" charset="0"/>
                <a:ea typeface="Arial" pitchFamily="34" charset="-122"/>
                <a:cs typeface="Arial" pitchFamily="34" charset="-120"/>
              </a:rPr>
              <a:t>It manages a fleet</a:t>
            </a:r>
            <a:endParaRPr lang="en-US" sz="1300" dirty="0"/>
          </a:p>
        </p:txBody>
      </p:sp>
      <p:sp>
        <p:nvSpPr>
          <p:cNvPr id="18" name="Text 13"/>
          <p:cNvSpPr/>
          <p:nvPr/>
        </p:nvSpPr>
        <p:spPr>
          <a:xfrm>
            <a:off x="8336280" y="2788920"/>
            <a:ext cx="3048000" cy="685800"/>
          </a:xfrm>
          <a:prstGeom prst="rect">
            <a:avLst/>
          </a:prstGeom>
          <a:noFill/>
          <a:ln/>
        </p:spPr>
        <p:txBody>
          <a:bodyPr wrap="square" lIns="0" tIns="0" rIns="0" bIns="0" rtlCol="0" anchor="ctr"/>
          <a:lstStyle/>
          <a:p>
            <a:pPr indent="0" marL="0">
              <a:lnSpc>
                <a:spcPct val="115000"/>
              </a:lnSpc>
              <a:buNone/>
            </a:pPr>
            <a:r>
              <a:rPr lang="en-US" sz="950" dirty="0">
                <a:solidFill>
                  <a:srgbClr val="8B98A8"/>
                </a:solidFill>
                <a:latin typeface="Calibri" pitchFamily="34" charset="0"/>
                <a:ea typeface="Calibri" pitchFamily="34" charset="-122"/>
                <a:cs typeface="Calibri" pitchFamily="34" charset="-120"/>
              </a:rPr>
              <a:t>Two incidents on two different assets, handled concurrently, at the same time, on screen.</a:t>
            </a:r>
            <a:endParaRPr lang="en-US" sz="950" dirty="0"/>
          </a:p>
        </p:txBody>
      </p:sp>
      <p:sp>
        <p:nvSpPr>
          <p:cNvPr id="19" name="Shape 14"/>
          <p:cNvSpPr/>
          <p:nvPr/>
        </p:nvSpPr>
        <p:spPr>
          <a:xfrm>
            <a:off x="548640" y="3840480"/>
            <a:ext cx="3505200" cy="1874520"/>
          </a:xfrm>
          <a:prstGeom prst="roundRect">
            <a:avLst>
              <a:gd name="adj" fmla="val 3902"/>
            </a:avLst>
          </a:prstGeom>
          <a:solidFill>
            <a:srgbClr val="1A2330"/>
          </a:solidFill>
          <a:ln w="12700">
            <a:solidFill>
              <a:srgbClr val="232E3B"/>
            </a:solidFill>
            <a:prstDash val="solid"/>
          </a:ln>
          <a:effectLst>
            <a:outerShdw sx="100000" sy="100000" kx="0" ky="0" algn="bl" rotWithShape="0" blurRad="101600" dist="38100" dir="2700000">
              <a:srgbClr val="000000">
                <a:alpha val="35000"/>
              </a:srgbClr>
            </a:outerShdw>
          </a:effectLst>
        </p:spPr>
      </p:sp>
      <p:sp>
        <p:nvSpPr>
          <p:cNvPr id="20" name="Shape 15"/>
          <p:cNvSpPr/>
          <p:nvPr/>
        </p:nvSpPr>
        <p:spPr>
          <a:xfrm>
            <a:off x="777240" y="4041648"/>
            <a:ext cx="438912" cy="438912"/>
          </a:xfrm>
          <a:prstGeom prst="ellipse">
            <a:avLst/>
          </a:prstGeom>
          <a:solidFill>
            <a:srgbClr val="1A2330"/>
          </a:solidFill>
          <a:ln w="19050">
            <a:solidFill>
              <a:srgbClr val="FF8A3D"/>
            </a:solidFill>
            <a:prstDash val="solid"/>
          </a:ln>
        </p:spPr>
      </p:sp>
      <p:pic>
        <p:nvPicPr>
          <p:cNvPr id="21" name="Image 3" descr="preencoded.png">    </p:cNvPr>
          <p:cNvPicPr>
            <a:picLocks noChangeAspect="1"/>
          </p:cNvPicPr>
          <p:nvPr/>
        </p:nvPicPr>
        <p:blipFill>
          <a:blip r:embed="rId4"/>
          <a:stretch>
            <a:fillRect/>
          </a:stretch>
        </p:blipFill>
        <p:spPr>
          <a:xfrm>
            <a:off x="891357" y="4155765"/>
            <a:ext cx="210678" cy="210678"/>
          </a:xfrm>
          <a:prstGeom prst="rect">
            <a:avLst/>
          </a:prstGeom>
        </p:spPr>
      </p:pic>
      <p:sp>
        <p:nvSpPr>
          <p:cNvPr id="22" name="Text 16"/>
          <p:cNvSpPr/>
          <p:nvPr/>
        </p:nvSpPr>
        <p:spPr>
          <a:xfrm>
            <a:off x="777240" y="4590288"/>
            <a:ext cx="3048000" cy="365760"/>
          </a:xfrm>
          <a:prstGeom prst="rect">
            <a:avLst/>
          </a:prstGeom>
          <a:noFill/>
          <a:ln/>
        </p:spPr>
        <p:txBody>
          <a:bodyPr wrap="square" lIns="0" tIns="0" rIns="0" bIns="0" rtlCol="0" anchor="ctr"/>
          <a:lstStyle/>
          <a:p>
            <a:pPr indent="0" marL="0">
              <a:buNone/>
            </a:pPr>
            <a:r>
              <a:rPr lang="en-US" sz="1300" b="1" dirty="0">
                <a:solidFill>
                  <a:srgbClr val="F2F5F8"/>
                </a:solidFill>
                <a:latin typeface="Arial" pitchFamily="34" charset="0"/>
                <a:ea typeface="Arial" pitchFamily="34" charset="-122"/>
                <a:cs typeface="Arial" pitchFamily="34" charset="-120"/>
              </a:rPr>
              <a:t>Dual-LLM fallback</a:t>
            </a:r>
            <a:endParaRPr lang="en-US" sz="1300" dirty="0"/>
          </a:p>
        </p:txBody>
      </p:sp>
      <p:sp>
        <p:nvSpPr>
          <p:cNvPr id="23" name="Text 17"/>
          <p:cNvSpPr/>
          <p:nvPr/>
        </p:nvSpPr>
        <p:spPr>
          <a:xfrm>
            <a:off x="777240" y="4937760"/>
            <a:ext cx="3048000" cy="685800"/>
          </a:xfrm>
          <a:prstGeom prst="rect">
            <a:avLst/>
          </a:prstGeom>
          <a:noFill/>
          <a:ln/>
        </p:spPr>
        <p:txBody>
          <a:bodyPr wrap="square" lIns="0" tIns="0" rIns="0" bIns="0" rtlCol="0" anchor="ctr"/>
          <a:lstStyle/>
          <a:p>
            <a:pPr indent="0" marL="0">
              <a:lnSpc>
                <a:spcPct val="115000"/>
              </a:lnSpc>
              <a:buNone/>
            </a:pPr>
            <a:r>
              <a:rPr lang="en-US" sz="950" dirty="0">
                <a:solidFill>
                  <a:srgbClr val="8B98A8"/>
                </a:solidFill>
                <a:latin typeface="Calibri" pitchFamily="34" charset="0"/>
                <a:ea typeface="Calibri" pitchFamily="34" charset="-122"/>
                <a:cs typeface="Calibri" pitchFamily="34" charset="-120"/>
              </a:rPr>
              <a:t>Gemini to GPT (Azure AI Foundry) to offline rule-based — the demo survives an exhausted API quota mid-pitch.</a:t>
            </a:r>
            <a:endParaRPr lang="en-US" sz="950" dirty="0"/>
          </a:p>
        </p:txBody>
      </p:sp>
      <p:sp>
        <p:nvSpPr>
          <p:cNvPr id="24" name="Shape 18"/>
          <p:cNvSpPr/>
          <p:nvPr/>
        </p:nvSpPr>
        <p:spPr>
          <a:xfrm>
            <a:off x="4328160" y="3840480"/>
            <a:ext cx="3505200" cy="1874520"/>
          </a:xfrm>
          <a:prstGeom prst="roundRect">
            <a:avLst>
              <a:gd name="adj" fmla="val 3902"/>
            </a:avLst>
          </a:prstGeom>
          <a:solidFill>
            <a:srgbClr val="1A2330"/>
          </a:solidFill>
          <a:ln w="12700">
            <a:solidFill>
              <a:srgbClr val="232E3B"/>
            </a:solidFill>
            <a:prstDash val="solid"/>
          </a:ln>
          <a:effectLst>
            <a:outerShdw sx="100000" sy="100000" kx="0" ky="0" algn="bl" rotWithShape="0" blurRad="101600" dist="38100" dir="2700000">
              <a:srgbClr val="000000">
                <a:alpha val="35000"/>
              </a:srgbClr>
            </a:outerShdw>
          </a:effectLst>
        </p:spPr>
      </p:sp>
      <p:sp>
        <p:nvSpPr>
          <p:cNvPr id="25" name="Shape 19"/>
          <p:cNvSpPr/>
          <p:nvPr/>
        </p:nvSpPr>
        <p:spPr>
          <a:xfrm>
            <a:off x="4556760" y="4041648"/>
            <a:ext cx="438912" cy="438912"/>
          </a:xfrm>
          <a:prstGeom prst="ellipse">
            <a:avLst/>
          </a:prstGeom>
          <a:solidFill>
            <a:srgbClr val="1A2330"/>
          </a:solidFill>
          <a:ln w="19050">
            <a:solidFill>
              <a:srgbClr val="FF8A3D"/>
            </a:solidFill>
            <a:prstDash val="solid"/>
          </a:ln>
        </p:spPr>
      </p:sp>
      <p:pic>
        <p:nvPicPr>
          <p:cNvPr id="26" name="Image 4" descr="preencoded.png">    </p:cNvPr>
          <p:cNvPicPr>
            <a:picLocks noChangeAspect="1"/>
          </p:cNvPicPr>
          <p:nvPr/>
        </p:nvPicPr>
        <p:blipFill>
          <a:blip r:embed="rId5"/>
          <a:stretch>
            <a:fillRect/>
          </a:stretch>
        </p:blipFill>
        <p:spPr>
          <a:xfrm>
            <a:off x="4670877" y="4155765"/>
            <a:ext cx="210678" cy="210678"/>
          </a:xfrm>
          <a:prstGeom prst="rect">
            <a:avLst/>
          </a:prstGeom>
        </p:spPr>
      </p:pic>
      <p:sp>
        <p:nvSpPr>
          <p:cNvPr id="27" name="Text 20"/>
          <p:cNvSpPr/>
          <p:nvPr/>
        </p:nvSpPr>
        <p:spPr>
          <a:xfrm>
            <a:off x="4556760" y="4590288"/>
            <a:ext cx="3048000" cy="365760"/>
          </a:xfrm>
          <a:prstGeom prst="rect">
            <a:avLst/>
          </a:prstGeom>
          <a:noFill/>
          <a:ln/>
        </p:spPr>
        <p:txBody>
          <a:bodyPr wrap="square" lIns="0" tIns="0" rIns="0" bIns="0" rtlCol="0" anchor="ctr"/>
          <a:lstStyle/>
          <a:p>
            <a:pPr indent="0" marL="0">
              <a:buNone/>
            </a:pPr>
            <a:r>
              <a:rPr lang="en-US" sz="1300" b="1" dirty="0">
                <a:solidFill>
                  <a:srgbClr val="F2F5F8"/>
                </a:solidFill>
                <a:latin typeface="Arial" pitchFamily="34" charset="0"/>
                <a:ea typeface="Arial" pitchFamily="34" charset="-122"/>
                <a:cs typeface="Arial" pitchFamily="34" charset="-120"/>
              </a:rPr>
              <a:t>It has a memory</a:t>
            </a:r>
            <a:endParaRPr lang="en-US" sz="1300" dirty="0"/>
          </a:p>
        </p:txBody>
      </p:sp>
      <p:sp>
        <p:nvSpPr>
          <p:cNvPr id="28" name="Text 21"/>
          <p:cNvSpPr/>
          <p:nvPr/>
        </p:nvSpPr>
        <p:spPr>
          <a:xfrm>
            <a:off x="4556760" y="4937760"/>
            <a:ext cx="3048000" cy="685800"/>
          </a:xfrm>
          <a:prstGeom prst="rect">
            <a:avLst/>
          </a:prstGeom>
          <a:noFill/>
          <a:ln/>
        </p:spPr>
        <p:txBody>
          <a:bodyPr wrap="square" lIns="0" tIns="0" rIns="0" bIns="0" rtlCol="0" anchor="ctr"/>
          <a:lstStyle/>
          <a:p>
            <a:pPr indent="0" marL="0">
              <a:lnSpc>
                <a:spcPct val="115000"/>
              </a:lnSpc>
              <a:buNone/>
            </a:pPr>
            <a:r>
              <a:rPr lang="en-US" sz="950" dirty="0">
                <a:solidFill>
                  <a:srgbClr val="8B98A8"/>
                </a:solidFill>
                <a:latin typeface="Calibri" pitchFamily="34" charset="0"/>
                <a:ea typeface="Calibri" pitchFamily="34" charset="-122"/>
                <a:cs typeface="Calibri" pitchFamily="34" charset="-120"/>
              </a:rPr>
              <a:t>SQLite-backed audit trail — resolved incidents and ARIA's chat history survive a full server restart.</a:t>
            </a:r>
            <a:endParaRPr lang="en-US" sz="950" dirty="0"/>
          </a:p>
        </p:txBody>
      </p:sp>
      <p:sp>
        <p:nvSpPr>
          <p:cNvPr id="29" name="Shape 22"/>
          <p:cNvSpPr/>
          <p:nvPr/>
        </p:nvSpPr>
        <p:spPr>
          <a:xfrm>
            <a:off x="8107680" y="3840480"/>
            <a:ext cx="3505200" cy="1874520"/>
          </a:xfrm>
          <a:prstGeom prst="roundRect">
            <a:avLst>
              <a:gd name="adj" fmla="val 3902"/>
            </a:avLst>
          </a:prstGeom>
          <a:solidFill>
            <a:srgbClr val="1A2330"/>
          </a:solidFill>
          <a:ln w="12700">
            <a:solidFill>
              <a:srgbClr val="232E3B"/>
            </a:solidFill>
            <a:prstDash val="solid"/>
          </a:ln>
          <a:effectLst>
            <a:outerShdw sx="100000" sy="100000" kx="0" ky="0" algn="bl" rotWithShape="0" blurRad="101600" dist="38100" dir="2700000">
              <a:srgbClr val="000000">
                <a:alpha val="35000"/>
              </a:srgbClr>
            </a:outerShdw>
          </a:effectLst>
        </p:spPr>
      </p:sp>
      <p:sp>
        <p:nvSpPr>
          <p:cNvPr id="30" name="Shape 23"/>
          <p:cNvSpPr/>
          <p:nvPr/>
        </p:nvSpPr>
        <p:spPr>
          <a:xfrm>
            <a:off x="8336280" y="4041648"/>
            <a:ext cx="438912" cy="438912"/>
          </a:xfrm>
          <a:prstGeom prst="ellipse">
            <a:avLst/>
          </a:prstGeom>
          <a:solidFill>
            <a:srgbClr val="1A2330"/>
          </a:solidFill>
          <a:ln w="19050">
            <a:solidFill>
              <a:srgbClr val="FF8A3D"/>
            </a:solidFill>
            <a:prstDash val="solid"/>
          </a:ln>
        </p:spPr>
      </p:sp>
      <p:pic>
        <p:nvPicPr>
          <p:cNvPr id="31" name="Image 5" descr="preencoded.png">    </p:cNvPr>
          <p:cNvPicPr>
            <a:picLocks noChangeAspect="1"/>
          </p:cNvPicPr>
          <p:nvPr/>
        </p:nvPicPr>
        <p:blipFill>
          <a:blip r:embed="rId6"/>
          <a:stretch>
            <a:fillRect/>
          </a:stretch>
        </p:blipFill>
        <p:spPr>
          <a:xfrm>
            <a:off x="8450397" y="4155765"/>
            <a:ext cx="210678" cy="210678"/>
          </a:xfrm>
          <a:prstGeom prst="rect">
            <a:avLst/>
          </a:prstGeom>
        </p:spPr>
      </p:pic>
      <p:sp>
        <p:nvSpPr>
          <p:cNvPr id="32" name="Text 24"/>
          <p:cNvSpPr/>
          <p:nvPr/>
        </p:nvSpPr>
        <p:spPr>
          <a:xfrm>
            <a:off x="8336280" y="4590288"/>
            <a:ext cx="3048000" cy="365760"/>
          </a:xfrm>
          <a:prstGeom prst="rect">
            <a:avLst/>
          </a:prstGeom>
          <a:noFill/>
          <a:ln/>
        </p:spPr>
        <p:txBody>
          <a:bodyPr wrap="square" lIns="0" tIns="0" rIns="0" bIns="0" rtlCol="0" anchor="ctr"/>
          <a:lstStyle/>
          <a:p>
            <a:pPr indent="0" marL="0">
              <a:buNone/>
            </a:pPr>
            <a:r>
              <a:rPr lang="en-US" sz="1300" b="1" dirty="0">
                <a:solidFill>
                  <a:srgbClr val="F2F5F8"/>
                </a:solidFill>
                <a:latin typeface="Arial" pitchFamily="34" charset="0"/>
                <a:ea typeface="Arial" pitchFamily="34" charset="-122"/>
                <a:cs typeface="Arial" pitchFamily="34" charset="-120"/>
              </a:rPr>
              <a:t>We found our own bug</a:t>
            </a:r>
            <a:endParaRPr lang="en-US" sz="1300" dirty="0"/>
          </a:p>
        </p:txBody>
      </p:sp>
      <p:sp>
        <p:nvSpPr>
          <p:cNvPr id="33" name="Text 25"/>
          <p:cNvSpPr/>
          <p:nvPr/>
        </p:nvSpPr>
        <p:spPr>
          <a:xfrm>
            <a:off x="8336280" y="4937760"/>
            <a:ext cx="3048000" cy="685800"/>
          </a:xfrm>
          <a:prstGeom prst="rect">
            <a:avLst/>
          </a:prstGeom>
          <a:noFill/>
          <a:ln/>
        </p:spPr>
        <p:txBody>
          <a:bodyPr wrap="square" lIns="0" tIns="0" rIns="0" bIns="0" rtlCol="0" anchor="ctr"/>
          <a:lstStyle/>
          <a:p>
            <a:pPr indent="0" marL="0">
              <a:lnSpc>
                <a:spcPct val="115000"/>
              </a:lnSpc>
              <a:buNone/>
            </a:pPr>
            <a:r>
              <a:rPr lang="en-US" sz="950" dirty="0">
                <a:solidFill>
                  <a:srgbClr val="8B98A8"/>
                </a:solidFill>
                <a:latin typeface="Calibri" pitchFamily="34" charset="0"/>
                <a:ea typeface="Calibri" pitchFamily="34" charset="-122"/>
                <a:cs typeface="Calibri" pitchFamily="34" charset="-120"/>
              </a:rPr>
              <a:t>Documented, root-caused, and fixed a real concurrency defect via deliberate stress testing — not hidden, shown.</a:t>
            </a:r>
            <a:endParaRPr lang="en-US" sz="950" dirty="0"/>
          </a:p>
        </p:txBody>
      </p:sp>
      <p:sp>
        <p:nvSpPr>
          <p:cNvPr id="34" name="Text 26"/>
          <p:cNvSpPr/>
          <p:nvPr/>
        </p:nvSpPr>
        <p:spPr>
          <a:xfrm>
            <a:off x="11338560" y="6355080"/>
            <a:ext cx="457200" cy="320040"/>
          </a:xfrm>
          <a:prstGeom prst="rect">
            <a:avLst/>
          </a:prstGeom>
          <a:noFill/>
          <a:ln/>
        </p:spPr>
        <p:txBody>
          <a:bodyPr wrap="square" lIns="0" tIns="0" rIns="0" bIns="0" rtlCol="0" anchor="ctr"/>
          <a:lstStyle/>
          <a:p>
            <a:pPr algn="r" indent="0" marL="0">
              <a:buNone/>
            </a:pPr>
            <a:r>
              <a:rPr lang="en-US" sz="1000" dirty="0">
                <a:solidFill>
                  <a:srgbClr val="8B98A8"/>
                </a:solidFill>
                <a:latin typeface="Calibri" pitchFamily="34" charset="0"/>
                <a:ea typeface="Calibri" pitchFamily="34" charset="-122"/>
                <a:cs typeface="Calibri" pitchFamily="34" charset="-120"/>
              </a:rPr>
              <a:t>12</a:t>
            </a:r>
            <a:endParaRPr lang="en-US" sz="1000" dirty="0"/>
          </a:p>
        </p:txBody>
      </p:sp>
      <p:sp>
        <p:nvSpPr>
          <p:cNvPr id="35" name="Text 27"/>
          <p:cNvSpPr/>
          <p:nvPr/>
        </p:nvSpPr>
        <p:spPr>
          <a:xfrm>
            <a:off x="548640" y="6355080"/>
            <a:ext cx="4572000" cy="320040"/>
          </a:xfrm>
          <a:prstGeom prst="rect">
            <a:avLst/>
          </a:prstGeom>
          <a:noFill/>
          <a:ln/>
        </p:spPr>
        <p:txBody>
          <a:bodyPr wrap="square" lIns="0" tIns="0" rIns="0" bIns="0" rtlCol="0" anchor="ctr"/>
          <a:lstStyle/>
          <a:p>
            <a:pPr indent="0" marL="0">
              <a:buNone/>
            </a:pPr>
            <a:r>
              <a:rPr lang="en-US" sz="900" spc="100" kern="0" dirty="0">
                <a:solidFill>
                  <a:srgbClr val="8B98A8"/>
                </a:solidFill>
                <a:latin typeface="Calibri" pitchFamily="34" charset="0"/>
                <a:ea typeface="Calibri" pitchFamily="34" charset="-122"/>
                <a:cs typeface="Calibri" pitchFamily="34" charset="-120"/>
              </a:rPr>
              <a:t>EI-NEXUS · MCP MAVERICKS</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E13"/>
        </a:solidFill>
      </p:bgPr>
    </p:bg>
    <p:spTree>
      <p:nvGrpSpPr>
        <p:cNvPr id="1" name=""/>
        <p:cNvGrpSpPr/>
        <p:nvPr/>
      </p:nvGrpSpPr>
      <p:grpSpPr>
        <a:xfrm>
          <a:off x="0" y="0"/>
          <a:ext cx="0" cy="0"/>
          <a:chOff x="0" y="0"/>
          <a:chExt cx="0" cy="0"/>
        </a:xfrm>
      </p:grpSpPr>
      <p:sp>
        <p:nvSpPr>
          <p:cNvPr id="2" name="Shape 0"/>
          <p:cNvSpPr/>
          <p:nvPr/>
        </p:nvSpPr>
        <p:spPr>
          <a:xfrm>
            <a:off x="8046720" y="-2286000"/>
            <a:ext cx="6400800" cy="6400800"/>
          </a:xfrm>
          <a:prstGeom prst="ellipse">
            <a:avLst/>
          </a:prstGeom>
          <a:solidFill>
            <a:srgbClr val="FF8A3D">
              <a:alpha val="7000"/>
            </a:srgbClr>
          </a:solidFill>
          <a:ln/>
        </p:spPr>
      </p:sp>
      <p:sp>
        <p:nvSpPr>
          <p:cNvPr id="3" name="Shape 1"/>
          <p:cNvSpPr/>
          <p:nvPr/>
        </p:nvSpPr>
        <p:spPr>
          <a:xfrm>
            <a:off x="-1828800" y="3657600"/>
            <a:ext cx="5486400" cy="5486400"/>
          </a:xfrm>
          <a:prstGeom prst="ellipse">
            <a:avLst/>
          </a:prstGeom>
          <a:solidFill>
            <a:srgbClr val="4FD1E8">
              <a:alpha val="6000"/>
            </a:srgbClr>
          </a:solidFill>
          <a:ln/>
        </p:spPr>
      </p:sp>
      <p:sp>
        <p:nvSpPr>
          <p:cNvPr id="4" name="Text 2"/>
          <p:cNvSpPr/>
          <p:nvPr/>
        </p:nvSpPr>
        <p:spPr>
          <a:xfrm>
            <a:off x="822960" y="1188720"/>
            <a:ext cx="9144000" cy="365760"/>
          </a:xfrm>
          <a:prstGeom prst="rect">
            <a:avLst/>
          </a:prstGeom>
          <a:noFill/>
          <a:ln/>
        </p:spPr>
        <p:txBody>
          <a:bodyPr wrap="square" lIns="0" tIns="0" rIns="0" bIns="0" rtlCol="0" anchor="ctr"/>
          <a:lstStyle/>
          <a:p>
            <a:pPr indent="0" marL="0">
              <a:buNone/>
            </a:pPr>
            <a:r>
              <a:rPr lang="en-US" sz="1300" b="1" spc="200" kern="0" dirty="0">
                <a:solidFill>
                  <a:srgbClr val="FF8A3D"/>
                </a:solidFill>
                <a:latin typeface="Calibri" pitchFamily="34" charset="0"/>
                <a:ea typeface="Calibri" pitchFamily="34" charset="-122"/>
                <a:cs typeface="Calibri" pitchFamily="34" charset="-120"/>
              </a:rPr>
              <a:t>TEAM MCP MAVERICKS  ·  LTTS OPENHACK 2026</a:t>
            </a:r>
            <a:endParaRPr lang="en-US" sz="1300" dirty="0"/>
          </a:p>
        </p:txBody>
      </p:sp>
      <p:sp>
        <p:nvSpPr>
          <p:cNvPr id="5" name="Text 3"/>
          <p:cNvSpPr/>
          <p:nvPr/>
        </p:nvSpPr>
        <p:spPr>
          <a:xfrm>
            <a:off x="822960" y="1645920"/>
            <a:ext cx="9144000" cy="914400"/>
          </a:xfrm>
          <a:prstGeom prst="rect">
            <a:avLst/>
          </a:prstGeom>
          <a:noFill/>
          <a:ln/>
        </p:spPr>
        <p:txBody>
          <a:bodyPr wrap="square" lIns="0" tIns="0" rIns="0" bIns="0" rtlCol="0" anchor="ctr"/>
          <a:lstStyle/>
          <a:p>
            <a:pPr indent="0" marL="0">
              <a:buNone/>
            </a:pPr>
            <a:r>
              <a:rPr lang="en-US" sz="4400" b="1" dirty="0">
                <a:solidFill>
                  <a:srgbClr val="F2F5F8"/>
                </a:solidFill>
                <a:latin typeface="Arial" pitchFamily="34" charset="0"/>
                <a:ea typeface="Arial" pitchFamily="34" charset="-122"/>
                <a:cs typeface="Arial" pitchFamily="34" charset="-120"/>
              </a:rPr>
              <a:t>10 for 10.</a:t>
            </a:r>
            <a:endParaRPr lang="en-US" sz="4400" dirty="0"/>
          </a:p>
        </p:txBody>
      </p:sp>
      <p:sp>
        <p:nvSpPr>
          <p:cNvPr id="6" name="Text 4"/>
          <p:cNvSpPr/>
          <p:nvPr/>
        </p:nvSpPr>
        <p:spPr>
          <a:xfrm>
            <a:off x="822960" y="2514600"/>
            <a:ext cx="9601200" cy="457200"/>
          </a:xfrm>
          <a:prstGeom prst="rect">
            <a:avLst/>
          </a:prstGeom>
          <a:noFill/>
          <a:ln/>
        </p:spPr>
        <p:txBody>
          <a:bodyPr wrap="square" lIns="0" tIns="0" rIns="0" bIns="0" rtlCol="0" anchor="ctr"/>
          <a:lstStyle/>
          <a:p>
            <a:pPr indent="0" marL="0">
              <a:buNone/>
            </a:pPr>
            <a:r>
              <a:rPr lang="en-US" sz="1800" i="1" dirty="0">
                <a:solidFill>
                  <a:srgbClr val="4FD1E8"/>
                </a:solidFill>
                <a:latin typeface="Arial" pitchFamily="34" charset="0"/>
                <a:ea typeface="Arial" pitchFamily="34" charset="-122"/>
                <a:cs typeface="Arial" pitchFamily="34" charset="-120"/>
              </a:rPr>
              <a:t>Every scoring criterion answered with working code, not slideware.</a:t>
            </a:r>
            <a:endParaRPr lang="en-US" sz="1800" dirty="0"/>
          </a:p>
        </p:txBody>
      </p:sp>
      <p:sp>
        <p:nvSpPr>
          <p:cNvPr id="7" name="Shape 5"/>
          <p:cNvSpPr/>
          <p:nvPr/>
        </p:nvSpPr>
        <p:spPr>
          <a:xfrm>
            <a:off x="822960" y="3246120"/>
            <a:ext cx="685800" cy="384048"/>
          </a:xfrm>
          <a:prstGeom prst="roundRect">
            <a:avLst>
              <a:gd name="adj" fmla="val 11905"/>
            </a:avLst>
          </a:prstGeom>
          <a:solidFill>
            <a:srgbClr val="FF8A3D"/>
          </a:solidFill>
          <a:ln/>
        </p:spPr>
      </p:sp>
      <p:sp>
        <p:nvSpPr>
          <p:cNvPr id="8" name="Text 6"/>
          <p:cNvSpPr/>
          <p:nvPr/>
        </p:nvSpPr>
        <p:spPr>
          <a:xfrm>
            <a:off x="822960" y="3246120"/>
            <a:ext cx="685800" cy="384048"/>
          </a:xfrm>
          <a:prstGeom prst="rect">
            <a:avLst/>
          </a:prstGeom>
          <a:noFill/>
          <a:ln/>
        </p:spPr>
        <p:txBody>
          <a:bodyPr wrap="square" lIns="0" tIns="0" rIns="0" bIns="0" rtlCol="0" anchor="ctr"/>
          <a:lstStyle/>
          <a:p>
            <a:pPr algn="ctr" indent="0" marL="0">
              <a:buNone/>
            </a:pPr>
            <a:r>
              <a:rPr lang="en-US" sz="1100" b="1" dirty="0">
                <a:solidFill>
                  <a:srgbClr val="0A0E13"/>
                </a:solidFill>
                <a:latin typeface="Arial" pitchFamily="34" charset="0"/>
                <a:ea typeface="Arial" pitchFamily="34" charset="-122"/>
                <a:cs typeface="Arial" pitchFamily="34" charset="-120"/>
              </a:rPr>
              <a:t>1-2</a:t>
            </a:r>
            <a:endParaRPr lang="en-US" sz="1100" dirty="0"/>
          </a:p>
        </p:txBody>
      </p:sp>
      <p:sp>
        <p:nvSpPr>
          <p:cNvPr id="9" name="Text 7"/>
          <p:cNvSpPr/>
          <p:nvPr/>
        </p:nvSpPr>
        <p:spPr>
          <a:xfrm>
            <a:off x="1645920" y="3246120"/>
            <a:ext cx="3657600" cy="384048"/>
          </a:xfrm>
          <a:prstGeom prst="rect">
            <a:avLst/>
          </a:prstGeom>
          <a:noFill/>
          <a:ln/>
        </p:spPr>
        <p:txBody>
          <a:bodyPr wrap="square" lIns="0" tIns="0" rIns="0" bIns="0" rtlCol="0" anchor="ctr"/>
          <a:lstStyle/>
          <a:p>
            <a:pPr indent="0" marL="0">
              <a:buNone/>
            </a:pPr>
            <a:r>
              <a:rPr lang="en-US" sz="1150" b="1" dirty="0">
                <a:solidFill>
                  <a:srgbClr val="F2F5F8"/>
                </a:solidFill>
                <a:latin typeface="Arial" pitchFamily="34" charset="0"/>
                <a:ea typeface="Arial" pitchFamily="34" charset="-122"/>
                <a:cs typeface="Arial" pitchFamily="34" charset="-120"/>
              </a:rPr>
              <a:t>Problem + Architecture</a:t>
            </a:r>
            <a:endParaRPr lang="en-US" sz="1150" dirty="0"/>
          </a:p>
        </p:txBody>
      </p:sp>
      <p:sp>
        <p:nvSpPr>
          <p:cNvPr id="10" name="Text 8"/>
          <p:cNvSpPr/>
          <p:nvPr/>
        </p:nvSpPr>
        <p:spPr>
          <a:xfrm>
            <a:off x="5394960" y="3246120"/>
            <a:ext cx="5577840" cy="384048"/>
          </a:xfrm>
          <a:prstGeom prst="rect">
            <a:avLst/>
          </a:prstGeom>
          <a:noFill/>
          <a:ln/>
        </p:spPr>
        <p:txBody>
          <a:bodyPr wrap="square" lIns="0" tIns="0" rIns="0" bIns="0" rtlCol="0" anchor="ctr"/>
          <a:lstStyle/>
          <a:p>
            <a:pPr indent="0" marL="0">
              <a:buNone/>
            </a:pPr>
            <a:r>
              <a:rPr lang="en-US" sz="1050" dirty="0">
                <a:solidFill>
                  <a:srgbClr val="8B98A8"/>
                </a:solidFill>
                <a:latin typeface="Calibri" pitchFamily="34" charset="0"/>
                <a:ea typeface="Calibri" pitchFamily="34" charset="-122"/>
                <a:cs typeface="Calibri" pitchFamily="34" charset="-120"/>
              </a:rPr>
              <a:t>Quantified pain, 6 UML diagrams, 6 ADRs</a:t>
            </a:r>
            <a:endParaRPr lang="en-US" sz="1050" dirty="0"/>
          </a:p>
        </p:txBody>
      </p:sp>
      <p:sp>
        <p:nvSpPr>
          <p:cNvPr id="11" name="Shape 9"/>
          <p:cNvSpPr/>
          <p:nvPr/>
        </p:nvSpPr>
        <p:spPr>
          <a:xfrm>
            <a:off x="822960" y="3721608"/>
            <a:ext cx="685800" cy="384048"/>
          </a:xfrm>
          <a:prstGeom prst="roundRect">
            <a:avLst>
              <a:gd name="adj" fmla="val 11905"/>
            </a:avLst>
          </a:prstGeom>
          <a:solidFill>
            <a:srgbClr val="FF8A3D"/>
          </a:solidFill>
          <a:ln/>
        </p:spPr>
      </p:sp>
      <p:sp>
        <p:nvSpPr>
          <p:cNvPr id="12" name="Text 10"/>
          <p:cNvSpPr/>
          <p:nvPr/>
        </p:nvSpPr>
        <p:spPr>
          <a:xfrm>
            <a:off x="822960" y="3721608"/>
            <a:ext cx="685800" cy="384048"/>
          </a:xfrm>
          <a:prstGeom prst="rect">
            <a:avLst/>
          </a:prstGeom>
          <a:noFill/>
          <a:ln/>
        </p:spPr>
        <p:txBody>
          <a:bodyPr wrap="square" lIns="0" tIns="0" rIns="0" bIns="0" rtlCol="0" anchor="ctr"/>
          <a:lstStyle/>
          <a:p>
            <a:pPr algn="ctr" indent="0" marL="0">
              <a:buNone/>
            </a:pPr>
            <a:r>
              <a:rPr lang="en-US" sz="1100" b="1" dirty="0">
                <a:solidFill>
                  <a:srgbClr val="0A0E13"/>
                </a:solidFill>
                <a:latin typeface="Arial" pitchFamily="34" charset="0"/>
                <a:ea typeface="Arial" pitchFamily="34" charset="-122"/>
                <a:cs typeface="Arial" pitchFamily="34" charset="-120"/>
              </a:rPr>
              <a:t>3</a:t>
            </a:r>
            <a:endParaRPr lang="en-US" sz="1100" dirty="0"/>
          </a:p>
        </p:txBody>
      </p:sp>
      <p:sp>
        <p:nvSpPr>
          <p:cNvPr id="13" name="Text 11"/>
          <p:cNvSpPr/>
          <p:nvPr/>
        </p:nvSpPr>
        <p:spPr>
          <a:xfrm>
            <a:off x="1645920" y="3721608"/>
            <a:ext cx="3657600" cy="384048"/>
          </a:xfrm>
          <a:prstGeom prst="rect">
            <a:avLst/>
          </a:prstGeom>
          <a:noFill/>
          <a:ln/>
        </p:spPr>
        <p:txBody>
          <a:bodyPr wrap="square" lIns="0" tIns="0" rIns="0" bIns="0" rtlCol="0" anchor="ctr"/>
          <a:lstStyle/>
          <a:p>
            <a:pPr indent="0" marL="0">
              <a:buNone/>
            </a:pPr>
            <a:r>
              <a:rPr lang="en-US" sz="1150" b="1" dirty="0">
                <a:solidFill>
                  <a:srgbClr val="F2F5F8"/>
                </a:solidFill>
                <a:latin typeface="Arial" pitchFamily="34" charset="0"/>
                <a:ea typeface="Arial" pitchFamily="34" charset="-122"/>
                <a:cs typeface="Arial" pitchFamily="34" charset="-120"/>
              </a:rPr>
              <a:t>Engineering Quality</a:t>
            </a:r>
            <a:endParaRPr lang="en-US" sz="1150" dirty="0"/>
          </a:p>
        </p:txBody>
      </p:sp>
      <p:sp>
        <p:nvSpPr>
          <p:cNvPr id="14" name="Text 12"/>
          <p:cNvSpPr/>
          <p:nvPr/>
        </p:nvSpPr>
        <p:spPr>
          <a:xfrm>
            <a:off x="5394960" y="3721608"/>
            <a:ext cx="5577840" cy="384048"/>
          </a:xfrm>
          <a:prstGeom prst="rect">
            <a:avLst/>
          </a:prstGeom>
          <a:noFill/>
          <a:ln/>
        </p:spPr>
        <p:txBody>
          <a:bodyPr wrap="square" lIns="0" tIns="0" rIns="0" bIns="0" rtlCol="0" anchor="ctr"/>
          <a:lstStyle/>
          <a:p>
            <a:pPr indent="0" marL="0">
              <a:buNone/>
            </a:pPr>
            <a:r>
              <a:rPr lang="en-US" sz="1050" dirty="0">
                <a:solidFill>
                  <a:srgbClr val="8B98A8"/>
                </a:solidFill>
                <a:latin typeface="Calibri" pitchFamily="34" charset="0"/>
                <a:ea typeface="Calibri" pitchFamily="34" charset="-122"/>
                <a:cs typeface="Calibri" pitchFamily="34" charset="-120"/>
              </a:rPr>
              <a:t>16 tests, CI, Docker, 2 documented real bugs</a:t>
            </a:r>
            <a:endParaRPr lang="en-US" sz="1050" dirty="0"/>
          </a:p>
        </p:txBody>
      </p:sp>
      <p:sp>
        <p:nvSpPr>
          <p:cNvPr id="15" name="Shape 13"/>
          <p:cNvSpPr/>
          <p:nvPr/>
        </p:nvSpPr>
        <p:spPr>
          <a:xfrm>
            <a:off x="822960" y="4197096"/>
            <a:ext cx="685800" cy="384048"/>
          </a:xfrm>
          <a:prstGeom prst="roundRect">
            <a:avLst>
              <a:gd name="adj" fmla="val 11905"/>
            </a:avLst>
          </a:prstGeom>
          <a:solidFill>
            <a:srgbClr val="FF8A3D"/>
          </a:solidFill>
          <a:ln/>
        </p:spPr>
      </p:sp>
      <p:sp>
        <p:nvSpPr>
          <p:cNvPr id="16" name="Text 14"/>
          <p:cNvSpPr/>
          <p:nvPr/>
        </p:nvSpPr>
        <p:spPr>
          <a:xfrm>
            <a:off x="822960" y="4197096"/>
            <a:ext cx="685800" cy="384048"/>
          </a:xfrm>
          <a:prstGeom prst="rect">
            <a:avLst/>
          </a:prstGeom>
          <a:noFill/>
          <a:ln/>
        </p:spPr>
        <p:txBody>
          <a:bodyPr wrap="square" lIns="0" tIns="0" rIns="0" bIns="0" rtlCol="0" anchor="ctr"/>
          <a:lstStyle/>
          <a:p>
            <a:pPr algn="ctr" indent="0" marL="0">
              <a:buNone/>
            </a:pPr>
            <a:r>
              <a:rPr lang="en-US" sz="1100" b="1" dirty="0">
                <a:solidFill>
                  <a:srgbClr val="0A0E13"/>
                </a:solidFill>
                <a:latin typeface="Arial" pitchFamily="34" charset="0"/>
                <a:ea typeface="Arial" pitchFamily="34" charset="-122"/>
                <a:cs typeface="Arial" pitchFamily="34" charset="-120"/>
              </a:rPr>
              <a:t>4-5</a:t>
            </a:r>
            <a:endParaRPr lang="en-US" sz="1100" dirty="0"/>
          </a:p>
        </p:txBody>
      </p:sp>
      <p:sp>
        <p:nvSpPr>
          <p:cNvPr id="17" name="Text 15"/>
          <p:cNvSpPr/>
          <p:nvPr/>
        </p:nvSpPr>
        <p:spPr>
          <a:xfrm>
            <a:off x="1645920" y="4197096"/>
            <a:ext cx="3657600" cy="384048"/>
          </a:xfrm>
          <a:prstGeom prst="rect">
            <a:avLst/>
          </a:prstGeom>
          <a:noFill/>
          <a:ln/>
        </p:spPr>
        <p:txBody>
          <a:bodyPr wrap="square" lIns="0" tIns="0" rIns="0" bIns="0" rtlCol="0" anchor="ctr"/>
          <a:lstStyle/>
          <a:p>
            <a:pPr indent="0" marL="0">
              <a:buNone/>
            </a:pPr>
            <a:r>
              <a:rPr lang="en-US" sz="1150" b="1" dirty="0">
                <a:solidFill>
                  <a:srgbClr val="F2F5F8"/>
                </a:solidFill>
                <a:latin typeface="Arial" pitchFamily="34" charset="0"/>
                <a:ea typeface="Arial" pitchFamily="34" charset="-122"/>
                <a:cs typeface="Arial" pitchFamily="34" charset="-120"/>
              </a:rPr>
              <a:t>AI Appropriateness + Implementation</a:t>
            </a:r>
            <a:endParaRPr lang="en-US" sz="1150" dirty="0"/>
          </a:p>
        </p:txBody>
      </p:sp>
      <p:sp>
        <p:nvSpPr>
          <p:cNvPr id="18" name="Text 16"/>
          <p:cNvSpPr/>
          <p:nvPr/>
        </p:nvSpPr>
        <p:spPr>
          <a:xfrm>
            <a:off x="5394960" y="4197096"/>
            <a:ext cx="5577840" cy="384048"/>
          </a:xfrm>
          <a:prstGeom prst="rect">
            <a:avLst/>
          </a:prstGeom>
          <a:noFill/>
          <a:ln/>
        </p:spPr>
        <p:txBody>
          <a:bodyPr wrap="square" lIns="0" tIns="0" rIns="0" bIns="0" rtlCol="0" anchor="ctr"/>
          <a:lstStyle/>
          <a:p>
            <a:pPr indent="0" marL="0">
              <a:buNone/>
            </a:pPr>
            <a:r>
              <a:rPr lang="en-US" sz="1050" dirty="0">
                <a:solidFill>
                  <a:srgbClr val="8B98A8"/>
                </a:solidFill>
                <a:latin typeface="Calibri" pitchFamily="34" charset="0"/>
                <a:ea typeface="Calibri" pitchFamily="34" charset="-122"/>
                <a:cs typeface="Calibri" pitchFamily="34" charset="-120"/>
              </a:rPr>
              <a:t>AI where reasoning matters, rules where precision matters</a:t>
            </a:r>
            <a:endParaRPr lang="en-US" sz="1050" dirty="0"/>
          </a:p>
        </p:txBody>
      </p:sp>
      <p:sp>
        <p:nvSpPr>
          <p:cNvPr id="19" name="Shape 17"/>
          <p:cNvSpPr/>
          <p:nvPr/>
        </p:nvSpPr>
        <p:spPr>
          <a:xfrm>
            <a:off x="822960" y="4672584"/>
            <a:ext cx="685800" cy="384048"/>
          </a:xfrm>
          <a:prstGeom prst="roundRect">
            <a:avLst>
              <a:gd name="adj" fmla="val 11905"/>
            </a:avLst>
          </a:prstGeom>
          <a:solidFill>
            <a:srgbClr val="FF8A3D"/>
          </a:solidFill>
          <a:ln/>
        </p:spPr>
      </p:sp>
      <p:sp>
        <p:nvSpPr>
          <p:cNvPr id="20" name="Text 18"/>
          <p:cNvSpPr/>
          <p:nvPr/>
        </p:nvSpPr>
        <p:spPr>
          <a:xfrm>
            <a:off x="822960" y="4672584"/>
            <a:ext cx="685800" cy="384048"/>
          </a:xfrm>
          <a:prstGeom prst="rect">
            <a:avLst/>
          </a:prstGeom>
          <a:noFill/>
          <a:ln/>
        </p:spPr>
        <p:txBody>
          <a:bodyPr wrap="square" lIns="0" tIns="0" rIns="0" bIns="0" rtlCol="0" anchor="ctr"/>
          <a:lstStyle/>
          <a:p>
            <a:pPr algn="ctr" indent="0" marL="0">
              <a:buNone/>
            </a:pPr>
            <a:r>
              <a:rPr lang="en-US" sz="1100" b="1" dirty="0">
                <a:solidFill>
                  <a:srgbClr val="0A0E13"/>
                </a:solidFill>
                <a:latin typeface="Arial" pitchFamily="34" charset="0"/>
                <a:ea typeface="Arial" pitchFamily="34" charset="-122"/>
                <a:cs typeface="Arial" pitchFamily="34" charset="-120"/>
              </a:rPr>
              <a:t>6</a:t>
            </a:r>
            <a:endParaRPr lang="en-US" sz="1100" dirty="0"/>
          </a:p>
        </p:txBody>
      </p:sp>
      <p:sp>
        <p:nvSpPr>
          <p:cNvPr id="21" name="Text 19"/>
          <p:cNvSpPr/>
          <p:nvPr/>
        </p:nvSpPr>
        <p:spPr>
          <a:xfrm>
            <a:off x="1645920" y="4672584"/>
            <a:ext cx="3657600" cy="384048"/>
          </a:xfrm>
          <a:prstGeom prst="rect">
            <a:avLst/>
          </a:prstGeom>
          <a:noFill/>
          <a:ln/>
        </p:spPr>
        <p:txBody>
          <a:bodyPr wrap="square" lIns="0" tIns="0" rIns="0" bIns="0" rtlCol="0" anchor="ctr"/>
          <a:lstStyle/>
          <a:p>
            <a:pPr indent="0" marL="0">
              <a:buNone/>
            </a:pPr>
            <a:r>
              <a:rPr lang="en-US" sz="1150" b="1" dirty="0">
                <a:solidFill>
                  <a:srgbClr val="F2F5F8"/>
                </a:solidFill>
                <a:latin typeface="Arial" pitchFamily="34" charset="0"/>
                <a:ea typeface="Arial" pitchFamily="34" charset="-122"/>
                <a:cs typeface="Arial" pitchFamily="34" charset="-120"/>
              </a:rPr>
              <a:t>AI Impact</a:t>
            </a:r>
            <a:endParaRPr lang="en-US" sz="1150" dirty="0"/>
          </a:p>
        </p:txBody>
      </p:sp>
      <p:sp>
        <p:nvSpPr>
          <p:cNvPr id="22" name="Text 20"/>
          <p:cNvSpPr/>
          <p:nvPr/>
        </p:nvSpPr>
        <p:spPr>
          <a:xfrm>
            <a:off x="5394960" y="4672584"/>
            <a:ext cx="5577840" cy="384048"/>
          </a:xfrm>
          <a:prstGeom prst="rect">
            <a:avLst/>
          </a:prstGeom>
          <a:noFill/>
          <a:ln/>
        </p:spPr>
        <p:txBody>
          <a:bodyPr wrap="square" lIns="0" tIns="0" rIns="0" bIns="0" rtlCol="0" anchor="ctr"/>
          <a:lstStyle/>
          <a:p>
            <a:pPr indent="0" marL="0">
              <a:buNone/>
            </a:pPr>
            <a:r>
              <a:rPr lang="en-US" sz="1050" dirty="0">
                <a:solidFill>
                  <a:srgbClr val="8B98A8"/>
                </a:solidFill>
                <a:latin typeface="Calibri" pitchFamily="34" charset="0"/>
                <a:ea typeface="Calibri" pitchFamily="34" charset="-122"/>
                <a:cs typeface="Calibri" pitchFamily="34" charset="-120"/>
              </a:rPr>
              <a:t>100% precision, self-optimizing thresholds, live</a:t>
            </a:r>
            <a:endParaRPr lang="en-US" sz="1050" dirty="0"/>
          </a:p>
        </p:txBody>
      </p:sp>
      <p:sp>
        <p:nvSpPr>
          <p:cNvPr id="23" name="Shape 21"/>
          <p:cNvSpPr/>
          <p:nvPr/>
        </p:nvSpPr>
        <p:spPr>
          <a:xfrm>
            <a:off x="822960" y="5148072"/>
            <a:ext cx="685800" cy="384048"/>
          </a:xfrm>
          <a:prstGeom prst="roundRect">
            <a:avLst>
              <a:gd name="adj" fmla="val 11905"/>
            </a:avLst>
          </a:prstGeom>
          <a:solidFill>
            <a:srgbClr val="FF8A3D"/>
          </a:solidFill>
          <a:ln/>
        </p:spPr>
      </p:sp>
      <p:sp>
        <p:nvSpPr>
          <p:cNvPr id="24" name="Text 22"/>
          <p:cNvSpPr/>
          <p:nvPr/>
        </p:nvSpPr>
        <p:spPr>
          <a:xfrm>
            <a:off x="822960" y="5148072"/>
            <a:ext cx="685800" cy="384048"/>
          </a:xfrm>
          <a:prstGeom prst="rect">
            <a:avLst/>
          </a:prstGeom>
          <a:noFill/>
          <a:ln/>
        </p:spPr>
        <p:txBody>
          <a:bodyPr wrap="square" lIns="0" tIns="0" rIns="0" bIns="0" rtlCol="0" anchor="ctr"/>
          <a:lstStyle/>
          <a:p>
            <a:pPr algn="ctr" indent="0" marL="0">
              <a:buNone/>
            </a:pPr>
            <a:r>
              <a:rPr lang="en-US" sz="1100" b="1" dirty="0">
                <a:solidFill>
                  <a:srgbClr val="0A0E13"/>
                </a:solidFill>
                <a:latin typeface="Arial" pitchFamily="34" charset="0"/>
                <a:ea typeface="Arial" pitchFamily="34" charset="-122"/>
                <a:cs typeface="Arial" pitchFamily="34" charset="-120"/>
              </a:rPr>
              <a:t>7-8</a:t>
            </a:r>
            <a:endParaRPr lang="en-US" sz="1100" dirty="0"/>
          </a:p>
        </p:txBody>
      </p:sp>
      <p:sp>
        <p:nvSpPr>
          <p:cNvPr id="25" name="Text 23"/>
          <p:cNvSpPr/>
          <p:nvPr/>
        </p:nvSpPr>
        <p:spPr>
          <a:xfrm>
            <a:off x="1645920" y="5148072"/>
            <a:ext cx="3657600" cy="384048"/>
          </a:xfrm>
          <a:prstGeom prst="rect">
            <a:avLst/>
          </a:prstGeom>
          <a:noFill/>
          <a:ln/>
        </p:spPr>
        <p:txBody>
          <a:bodyPr wrap="square" lIns="0" tIns="0" rIns="0" bIns="0" rtlCol="0" anchor="ctr"/>
          <a:lstStyle/>
          <a:p>
            <a:pPr indent="0" marL="0">
              <a:buNone/>
            </a:pPr>
            <a:r>
              <a:rPr lang="en-US" sz="1150" b="1" dirty="0">
                <a:solidFill>
                  <a:srgbClr val="F2F5F8"/>
                </a:solidFill>
                <a:latin typeface="Arial" pitchFamily="34" charset="0"/>
                <a:ea typeface="Arial" pitchFamily="34" charset="-122"/>
                <a:cs typeface="Arial" pitchFamily="34" charset="-120"/>
              </a:rPr>
              <a:t>Business + Viability</a:t>
            </a:r>
            <a:endParaRPr lang="en-US" sz="1150" dirty="0"/>
          </a:p>
        </p:txBody>
      </p:sp>
      <p:sp>
        <p:nvSpPr>
          <p:cNvPr id="26" name="Text 24"/>
          <p:cNvSpPr/>
          <p:nvPr/>
        </p:nvSpPr>
        <p:spPr>
          <a:xfrm>
            <a:off x="5394960" y="5148072"/>
            <a:ext cx="5577840" cy="384048"/>
          </a:xfrm>
          <a:prstGeom prst="rect">
            <a:avLst/>
          </a:prstGeom>
          <a:noFill/>
          <a:ln/>
        </p:spPr>
        <p:txBody>
          <a:bodyPr wrap="square" lIns="0" tIns="0" rIns="0" bIns="0" rtlCol="0" anchor="ctr"/>
          <a:lstStyle/>
          <a:p>
            <a:pPr indent="0" marL="0">
              <a:buNone/>
            </a:pPr>
            <a:r>
              <a:rPr lang="en-US" sz="1050" dirty="0">
                <a:solidFill>
                  <a:srgbClr val="8B98A8"/>
                </a:solidFill>
                <a:latin typeface="Calibri" pitchFamily="34" charset="0"/>
                <a:ea typeface="Calibri" pitchFamily="34" charset="-122"/>
                <a:cs typeface="Calibri" pitchFamily="34" charset="-120"/>
              </a:rPr>
              <a:t>4 use cases, live ROI, 3-stage cloud deployment</a:t>
            </a:r>
            <a:endParaRPr lang="en-US" sz="1050" dirty="0"/>
          </a:p>
        </p:txBody>
      </p:sp>
      <p:sp>
        <p:nvSpPr>
          <p:cNvPr id="27" name="Shape 25"/>
          <p:cNvSpPr/>
          <p:nvPr/>
        </p:nvSpPr>
        <p:spPr>
          <a:xfrm>
            <a:off x="822960" y="5623560"/>
            <a:ext cx="685800" cy="384048"/>
          </a:xfrm>
          <a:prstGeom prst="roundRect">
            <a:avLst>
              <a:gd name="adj" fmla="val 11905"/>
            </a:avLst>
          </a:prstGeom>
          <a:solidFill>
            <a:srgbClr val="FF8A3D"/>
          </a:solidFill>
          <a:ln/>
        </p:spPr>
      </p:sp>
      <p:sp>
        <p:nvSpPr>
          <p:cNvPr id="28" name="Text 26"/>
          <p:cNvSpPr/>
          <p:nvPr/>
        </p:nvSpPr>
        <p:spPr>
          <a:xfrm>
            <a:off x="822960" y="5623560"/>
            <a:ext cx="685800" cy="384048"/>
          </a:xfrm>
          <a:prstGeom prst="rect">
            <a:avLst/>
          </a:prstGeom>
          <a:noFill/>
          <a:ln/>
        </p:spPr>
        <p:txBody>
          <a:bodyPr wrap="square" lIns="0" tIns="0" rIns="0" bIns="0" rtlCol="0" anchor="ctr"/>
          <a:lstStyle/>
          <a:p>
            <a:pPr algn="ctr" indent="0" marL="0">
              <a:buNone/>
            </a:pPr>
            <a:r>
              <a:rPr lang="en-US" sz="1100" b="1" dirty="0">
                <a:solidFill>
                  <a:srgbClr val="0A0E13"/>
                </a:solidFill>
                <a:latin typeface="Arial" pitchFamily="34" charset="0"/>
                <a:ea typeface="Arial" pitchFamily="34" charset="-122"/>
                <a:cs typeface="Arial" pitchFamily="34" charset="-120"/>
              </a:rPr>
              <a:t>9-10</a:t>
            </a:r>
            <a:endParaRPr lang="en-US" sz="1100" dirty="0"/>
          </a:p>
        </p:txBody>
      </p:sp>
      <p:sp>
        <p:nvSpPr>
          <p:cNvPr id="29" name="Text 27"/>
          <p:cNvSpPr/>
          <p:nvPr/>
        </p:nvSpPr>
        <p:spPr>
          <a:xfrm>
            <a:off x="1645920" y="5623560"/>
            <a:ext cx="3657600" cy="384048"/>
          </a:xfrm>
          <a:prstGeom prst="rect">
            <a:avLst/>
          </a:prstGeom>
          <a:noFill/>
          <a:ln/>
        </p:spPr>
        <p:txBody>
          <a:bodyPr wrap="square" lIns="0" tIns="0" rIns="0" bIns="0" rtlCol="0" anchor="ctr"/>
          <a:lstStyle/>
          <a:p>
            <a:pPr indent="0" marL="0">
              <a:buNone/>
            </a:pPr>
            <a:r>
              <a:rPr lang="en-US" sz="1150" b="1" dirty="0">
                <a:solidFill>
                  <a:srgbClr val="F2F5F8"/>
                </a:solidFill>
                <a:latin typeface="Arial" pitchFamily="34" charset="0"/>
                <a:ea typeface="Arial" pitchFamily="34" charset="-122"/>
                <a:cs typeface="Arial" pitchFamily="34" charset="-120"/>
              </a:rPr>
              <a:t>Working Demo + Differentiation</a:t>
            </a:r>
            <a:endParaRPr lang="en-US" sz="1150" dirty="0"/>
          </a:p>
        </p:txBody>
      </p:sp>
      <p:sp>
        <p:nvSpPr>
          <p:cNvPr id="30" name="Text 28"/>
          <p:cNvSpPr/>
          <p:nvPr/>
        </p:nvSpPr>
        <p:spPr>
          <a:xfrm>
            <a:off x="5394960" y="5623560"/>
            <a:ext cx="5577840" cy="384048"/>
          </a:xfrm>
          <a:prstGeom prst="rect">
            <a:avLst/>
          </a:prstGeom>
          <a:noFill/>
          <a:ln/>
        </p:spPr>
        <p:txBody>
          <a:bodyPr wrap="square" lIns="0" tIns="0" rIns="0" bIns="0" rtlCol="0" anchor="ctr"/>
          <a:lstStyle/>
          <a:p>
            <a:pPr indent="0" marL="0">
              <a:buNone/>
            </a:pPr>
            <a:r>
              <a:rPr lang="en-US" sz="1050" dirty="0">
                <a:solidFill>
                  <a:srgbClr val="8B98A8"/>
                </a:solidFill>
                <a:latin typeface="Calibri" pitchFamily="34" charset="0"/>
                <a:ea typeface="Calibri" pitchFamily="34" charset="-122"/>
                <a:cs typeface="Calibri" pitchFamily="34" charset="-120"/>
              </a:rPr>
              <a:t>Running now — screenshots don't lie</a:t>
            </a:r>
            <a:endParaRPr lang="en-US" sz="1050" dirty="0"/>
          </a:p>
        </p:txBody>
      </p:sp>
      <p:sp>
        <p:nvSpPr>
          <p:cNvPr id="31" name="Text 29"/>
          <p:cNvSpPr/>
          <p:nvPr/>
        </p:nvSpPr>
        <p:spPr>
          <a:xfrm>
            <a:off x="822960" y="6309360"/>
            <a:ext cx="9144000" cy="365760"/>
          </a:xfrm>
          <a:prstGeom prst="rect">
            <a:avLst/>
          </a:prstGeom>
          <a:noFill/>
          <a:ln/>
        </p:spPr>
        <p:txBody>
          <a:bodyPr wrap="square" lIns="0" tIns="0" rIns="0" bIns="0" rtlCol="0" anchor="ctr"/>
          <a:lstStyle/>
          <a:p>
            <a:pPr indent="0" marL="0">
              <a:buNone/>
            </a:pPr>
            <a:r>
              <a:rPr lang="en-US" sz="1500" b="1" dirty="0">
                <a:solidFill>
                  <a:srgbClr val="F2F5F8"/>
                </a:solidFill>
                <a:latin typeface="Arial" pitchFamily="34" charset="0"/>
                <a:ea typeface="Arial" pitchFamily="34" charset="-122"/>
                <a:cs typeface="Arial" pitchFamily="34" charset="-120"/>
              </a:rPr>
              <a:t>Thank you — ask us to show you anything on this list, live.</a:t>
            </a:r>
            <a:endParaRPr lang="en-US" sz="1500" dirty="0"/>
          </a:p>
        </p:txBody>
      </p:sp>
      <p:sp>
        <p:nvSpPr>
          <p:cNvPr id="32" name="Text 30"/>
          <p:cNvSpPr/>
          <p:nvPr/>
        </p:nvSpPr>
        <p:spPr>
          <a:xfrm>
            <a:off x="11338560" y="6355080"/>
            <a:ext cx="457200" cy="320040"/>
          </a:xfrm>
          <a:prstGeom prst="rect">
            <a:avLst/>
          </a:prstGeom>
          <a:noFill/>
          <a:ln/>
        </p:spPr>
        <p:txBody>
          <a:bodyPr wrap="square" lIns="0" tIns="0" rIns="0" bIns="0" rtlCol="0" anchor="ctr"/>
          <a:lstStyle/>
          <a:p>
            <a:pPr algn="r" indent="0" marL="0">
              <a:buNone/>
            </a:pPr>
            <a:r>
              <a:rPr lang="en-US" sz="1000" dirty="0">
                <a:solidFill>
                  <a:srgbClr val="8B98A8"/>
                </a:solidFill>
                <a:latin typeface="Calibri" pitchFamily="34" charset="0"/>
                <a:ea typeface="Calibri" pitchFamily="34" charset="-122"/>
                <a:cs typeface="Calibri" pitchFamily="34" charset="-120"/>
              </a:rPr>
              <a:t>13</a:t>
            </a:r>
            <a:endParaRPr lang="en-US" sz="1000" dirty="0"/>
          </a:p>
        </p:txBody>
      </p:sp>
      <p:sp>
        <p:nvSpPr>
          <p:cNvPr id="33" name="Text 31"/>
          <p:cNvSpPr/>
          <p:nvPr/>
        </p:nvSpPr>
        <p:spPr>
          <a:xfrm>
            <a:off x="548640" y="6355080"/>
            <a:ext cx="4572000" cy="320040"/>
          </a:xfrm>
          <a:prstGeom prst="rect">
            <a:avLst/>
          </a:prstGeom>
          <a:noFill/>
          <a:ln/>
        </p:spPr>
        <p:txBody>
          <a:bodyPr wrap="square" lIns="0" tIns="0" rIns="0" bIns="0" rtlCol="0" anchor="ctr"/>
          <a:lstStyle/>
          <a:p>
            <a:pPr indent="0" marL="0">
              <a:buNone/>
            </a:pPr>
            <a:r>
              <a:rPr lang="en-US" sz="900" spc="100" kern="0" dirty="0">
                <a:solidFill>
                  <a:srgbClr val="8B98A8"/>
                </a:solidFill>
                <a:latin typeface="Calibri" pitchFamily="34" charset="0"/>
                <a:ea typeface="Calibri" pitchFamily="34" charset="-122"/>
                <a:cs typeface="Calibri" pitchFamily="34" charset="-120"/>
              </a:rPr>
              <a:t>EI-NEXUS · MCP MAVERICKS</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EI-Nexus — Autonomous Engineering Intelligence Twin</dc:title>
  <dc:subject>PptxGenJS Presentation</dc:subject>
  <dc:creator>Team MCP Mavericks</dc:creator>
  <cp:lastModifiedBy>Team MCP Mavericks</cp:lastModifiedBy>
  <cp:revision>1</cp:revision>
  <dcterms:created xsi:type="dcterms:W3CDTF">2026-07-10T02:39:30Z</dcterms:created>
  <dcterms:modified xsi:type="dcterms:W3CDTF">2026-07-10T02:39:30Z</dcterms:modified>
</cp:coreProperties>
</file>