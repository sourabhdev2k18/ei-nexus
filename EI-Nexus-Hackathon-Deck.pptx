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406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400800" cy="6400800"/>
          </a:xfrm>
          <a:prstGeom prst="ellipse">
            <a:avLst/>
          </a:prstGeom>
          <a:solidFill>
            <a:srgbClr val="FF8A3D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03920" y="4114800"/>
            <a:ext cx="5486400" cy="5486400"/>
          </a:xfrm>
          <a:prstGeom prst="ellipse">
            <a:avLst/>
          </a:prstGeom>
          <a:solidFill>
            <a:srgbClr val="4FD1E8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LTTS OPENHACK 2026  ·  TEAM MCP MAVERICKS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EI-Nexus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4F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Engineering Intelligence Twin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AI-powered digital twin that autonomously monitors industrial assets, predicts failures, performs root-cause analysis, orchestrates corrective actions, validates recovery, and continuously optimizes operational performance.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810512" cy="347472"/>
          </a:xfrm>
          <a:prstGeom prst="roundRect">
            <a:avLst>
              <a:gd name="adj" fmla="val 15789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GOH-UC-034 · PRIMARY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70632" y="470916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70632" y="47091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GOH-UC-010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13632" y="470916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913632" y="47091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GOH-UC-046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6632" y="470916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56632" y="47091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GOH-UC-065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Bets: Energy &amp; Automation  ·  Digital Manufacturing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 →  DETECT  →  DIAGNOSE  →  FIX  →  VALIDATE  →  OPTIMIZE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2000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0" y="1984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3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044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RCA takes weeks today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178308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617720" y="2057400"/>
            <a:ext cx="548640" cy="54864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366" y="220004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984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3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1772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17720" y="3044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closed-loop AEIT positioning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178308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412480" y="2057400"/>
            <a:ext cx="548640" cy="54864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126" y="220004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89920" y="1984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3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41248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12480" y="3044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is actually built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7947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" y="421172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200400" y="3995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3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822960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in Action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22960" y="5056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4-tool MCP RCA + autonomous fix loop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43400" y="37947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4617720" y="4069080"/>
            <a:ext cx="548640" cy="54864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3ED5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0366" y="4211726"/>
            <a:ext cx="263347" cy="26334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95160" y="3995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3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4617720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&amp; Metrics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617720" y="5056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Multi-asset management + live evaluation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138160" y="37947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8412480" y="4069080"/>
            <a:ext cx="548640" cy="54864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5126" y="4211726"/>
            <a:ext cx="263347" cy="26334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789920" y="3995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3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38" name="Text 30"/>
          <p:cNvSpPr/>
          <p:nvPr/>
        </p:nvSpPr>
        <p:spPr>
          <a:xfrm>
            <a:off x="8412480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Plan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8412480" y="5056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Sprints, testing, deployment, roadmap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· MCP MAVERICKS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 today takes weeks, not seconds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industrial environments generate enormous volumes of telemetry, engineering drawings, maintenance records, BOMs, historical service tickets, and operational documents — but this information sits in disconnected systems.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593592"/>
            <a:ext cx="91440" cy="91440"/>
          </a:xfrm>
          <a:prstGeom prst="ellipse">
            <a:avLst/>
          </a:prstGeom>
          <a:solidFill>
            <a:srgbClr val="FF5C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production downtime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91440" cy="91440"/>
          </a:xfrm>
          <a:prstGeom prst="ellipse">
            <a:avLst/>
          </a:prstGeom>
          <a:solidFill>
            <a:srgbClr val="FF5C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39044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maintenance cost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361688"/>
            <a:ext cx="91440" cy="91440"/>
          </a:xfrm>
          <a:prstGeom prst="ellipse">
            <a:avLst/>
          </a:prstGeom>
          <a:solidFill>
            <a:srgbClr val="FF5C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42885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troubleshooting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45736"/>
            <a:ext cx="91440" cy="91440"/>
          </a:xfrm>
          <a:prstGeom prst="ellipse">
            <a:avLst/>
          </a:prstGeom>
          <a:solidFill>
            <a:srgbClr val="FF5C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46725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mean-time-to-repair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29784"/>
            <a:ext cx="91440" cy="91440"/>
          </a:xfrm>
          <a:prstGeom prst="ellipse">
            <a:avLst/>
          </a:prstGeom>
          <a:solidFill>
            <a:srgbClr val="FF5C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" y="50566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equipment reliability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513832"/>
            <a:ext cx="91440" cy="91440"/>
          </a:xfrm>
          <a:prstGeom prst="ellipse">
            <a:avLst/>
          </a:prstGeom>
          <a:solidFill>
            <a:srgbClr val="FF5C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5440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operational efficiency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16002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5800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RCA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22860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WEEKS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858000" y="3200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field failure, tracing tickets → BOM → design docs → fix history by hand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0" y="3977640"/>
            <a:ext cx="4023360" cy="0"/>
          </a:xfrm>
          <a:prstGeom prst="line">
            <a:avLst/>
          </a:prstGeom>
          <a:noFill/>
          <a:ln w="1270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58000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EI-NEXUS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45262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ED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90 SECONDS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6858000" y="5349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detected, diagnosed, fixed, and validated — autonomously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· MCP MAVERICKS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 as an agent — not a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b="1" i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 agentic AI-powered digital twin that autonomously monitors industrial assets, predicts failures, performs root-cause analysis, orchestrates corrective actions using AI agents, validates recovery, and continuously optimizes operational performance.”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closed loop — not a monitor: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729740" cy="1737360"/>
          </a:xfrm>
          <a:prstGeom prst="roundRect">
            <a:avLst>
              <a:gd name="adj" fmla="val 4229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39190" y="4206240"/>
            <a:ext cx="548640" cy="54864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836" y="434888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4892040"/>
            <a:ext cx="1729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260092" y="44805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415540" y="3977640"/>
            <a:ext cx="1729740" cy="1737360"/>
          </a:xfrm>
          <a:prstGeom prst="roundRect">
            <a:avLst>
              <a:gd name="adj" fmla="val 4229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006090" y="4206240"/>
            <a:ext cx="548640" cy="54864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736" y="434888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15540" y="4892040"/>
            <a:ext cx="1729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126992" y="44805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4282440" y="3977640"/>
            <a:ext cx="1729740" cy="1737360"/>
          </a:xfrm>
          <a:prstGeom prst="roundRect">
            <a:avLst>
              <a:gd name="adj" fmla="val 4229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4872990" y="4206240"/>
            <a:ext cx="548640" cy="54864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636" y="434888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82440" y="4892040"/>
            <a:ext cx="1729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993892" y="44805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149340" y="3977640"/>
            <a:ext cx="1729740" cy="1737360"/>
          </a:xfrm>
          <a:prstGeom prst="roundRect">
            <a:avLst>
              <a:gd name="adj" fmla="val 4229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6739890" y="4206240"/>
            <a:ext cx="548640" cy="54864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2536" y="434888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49340" y="4892040"/>
            <a:ext cx="1729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7860792" y="44805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8016240" y="3977640"/>
            <a:ext cx="1729740" cy="1737360"/>
          </a:xfrm>
          <a:prstGeom prst="roundRect">
            <a:avLst>
              <a:gd name="adj" fmla="val 4229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8606790" y="4206240"/>
            <a:ext cx="548640" cy="54864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3ED5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9436" y="4348886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016240" y="4892040"/>
            <a:ext cx="1729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9727692" y="44805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25"/>
          <p:cNvSpPr/>
          <p:nvPr/>
        </p:nvSpPr>
        <p:spPr>
          <a:xfrm>
            <a:off x="9883140" y="3977640"/>
            <a:ext cx="1729740" cy="1737360"/>
          </a:xfrm>
          <a:prstGeom prst="roundRect">
            <a:avLst>
              <a:gd name="adj" fmla="val 4229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6"/>
          <p:cNvSpPr/>
          <p:nvPr/>
        </p:nvSpPr>
        <p:spPr>
          <a:xfrm>
            <a:off x="10473690" y="4206240"/>
            <a:ext cx="548640" cy="54864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6336" y="4348886"/>
            <a:ext cx="263347" cy="26334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83140" y="4892040"/>
            <a:ext cx="1729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54864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back to MONITOR — the loop never stops, and it gets smarter every cycle.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· MCP MAVERICKS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Big Bet strategy — not just aligned to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A2330"/>
          </a:solidFill>
          <a:ln w="12700">
            <a:solidFill>
              <a:srgbClr val="FF8A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 CASE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214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GOH-UC-034 — AI Agent for Root Cause Analysis and Process Optimization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closed loop IS this use case — detect, diagnose, fix, validate, optimize, with no human step required.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3742639"/>
            <a:ext cx="241402" cy="2414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GOH-UC-010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4434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50109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Self-tightening thresholds move detection earlier over time.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43400" y="33375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617720" y="3611880"/>
            <a:ext cx="502920" cy="50292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479" y="3742639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1772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GOH-UC-046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617720" y="4434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Detection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17720" y="50109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rule + statistical engine, explainable per-signal.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38160" y="33375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8412480" y="3611880"/>
            <a:ext cx="502920" cy="50292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3ED5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239" y="3742639"/>
            <a:ext cx="241402" cy="24140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1248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GOH-UC-065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412480" y="4434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Asset Management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412480" y="50109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twin doesn't just report — it acts, across a fleet.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Bets: Energy &amp; Automation  ·  Digital Manufacturing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· MCP MAVERICKS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— the closed loop, end to 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74520" y="141732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2330"/>
          </a:solidFill>
          <a:ln w="15875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984248" y="1417320"/>
            <a:ext cx="819302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— 4 Independent Digital Twins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984248" y="1750162"/>
            <a:ext cx="819302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Vibration · Load · Voltage · Current · Fan Speed  (per asset)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080760" y="2057400"/>
            <a:ext cx="0" cy="182880"/>
          </a:xfrm>
          <a:prstGeom prst="line">
            <a:avLst/>
          </a:prstGeom>
          <a:noFill/>
          <a:ln w="25400">
            <a:solidFill>
              <a:srgbClr val="8B98A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88920" y="2240280"/>
            <a:ext cx="6583680" cy="548640"/>
          </a:xfrm>
          <a:prstGeom prst="roundRect">
            <a:avLst>
              <a:gd name="adj" fmla="val 10000"/>
            </a:avLst>
          </a:prstGeom>
          <a:solidFill>
            <a:srgbClr val="1A2330"/>
          </a:solidFill>
          <a:ln w="15875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898648" y="2240280"/>
            <a:ext cx="6364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ANOMALY DETECTOR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98648" y="2525573"/>
            <a:ext cx="6364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thresholds + rolling z-score statistics (zero ML dependency)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80760" y="2788920"/>
            <a:ext cx="0" cy="182880"/>
          </a:xfrm>
          <a:prstGeom prst="line">
            <a:avLst/>
          </a:prstGeom>
          <a:noFill/>
          <a:ln w="25400">
            <a:solidFill>
              <a:srgbClr val="8B98A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" y="297180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141B24"/>
          </a:solidFill>
          <a:ln w="19050">
            <a:solidFill>
              <a:srgbClr val="FF8A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0120" y="303580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ROOT-CAUSE AGENT  —  the wow moment: live, cited reasoning trace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3337560"/>
            <a:ext cx="2423160" cy="749808"/>
          </a:xfrm>
          <a:prstGeom prst="roundRect">
            <a:avLst>
              <a:gd name="adj" fmla="val 7317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51560" y="33924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" y="3593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Search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1560" y="384962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RAG, 60 tickets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66160" y="3337560"/>
            <a:ext cx="2423160" cy="749808"/>
          </a:xfrm>
          <a:prstGeom prst="roundRect">
            <a:avLst>
              <a:gd name="adj" fmla="val 7317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0" y="33924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3593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Lookup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0" y="384962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cross-ref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72200" y="3337560"/>
            <a:ext cx="2423160" cy="749808"/>
          </a:xfrm>
          <a:prstGeom prst="roundRect">
            <a:avLst>
              <a:gd name="adj" fmla="val 7317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63640" y="33924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63640" y="3593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Design-Doc RAG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63640" y="384962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6 docs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778240" y="3337560"/>
            <a:ext cx="2423160" cy="749808"/>
          </a:xfrm>
          <a:prstGeom prst="roundRect">
            <a:avLst>
              <a:gd name="adj" fmla="val 7317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869680" y="33924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869680" y="3593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Past-Fix Retrieval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869680" y="384962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effectiveness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80760" y="4206240"/>
            <a:ext cx="0" cy="182880"/>
          </a:xfrm>
          <a:prstGeom prst="line">
            <a:avLst/>
          </a:prstGeom>
          <a:noFill/>
          <a:ln w="25400">
            <a:solidFill>
              <a:srgbClr val="8B98A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200400" y="4389120"/>
            <a:ext cx="5760720" cy="502920"/>
          </a:xfrm>
          <a:prstGeom prst="roundRect">
            <a:avLst>
              <a:gd name="adj" fmla="val 10909"/>
            </a:avLst>
          </a:prstGeom>
          <a:solidFill>
            <a:srgbClr val="1A2330"/>
          </a:solidFill>
          <a:ln w="15875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310128" y="4389120"/>
            <a:ext cx="5541264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310128" y="4650638"/>
            <a:ext cx="554126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(optional) or grounded rule-based fallback — never breaks live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80760" y="4892040"/>
            <a:ext cx="0" cy="182880"/>
          </a:xfrm>
          <a:prstGeom prst="line">
            <a:avLst/>
          </a:prstGeom>
          <a:noFill/>
          <a:ln w="25400">
            <a:solidFill>
              <a:srgbClr val="8B98A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77240" y="5074920"/>
            <a:ext cx="3352800" cy="502920"/>
          </a:xfrm>
          <a:prstGeom prst="roundRect">
            <a:avLst>
              <a:gd name="adj" fmla="val 10909"/>
            </a:avLst>
          </a:prstGeom>
          <a:solidFill>
            <a:srgbClr val="1A2330"/>
          </a:solidFill>
          <a:ln w="15875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86968" y="5074920"/>
            <a:ext cx="3133344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86968" y="5336438"/>
            <a:ext cx="313334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auto-applies validated fix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404360" y="5074920"/>
            <a:ext cx="3352800" cy="502920"/>
          </a:xfrm>
          <a:prstGeom prst="roundRect">
            <a:avLst>
              <a:gd name="adj" fmla="val 10909"/>
            </a:avLst>
          </a:prstGeom>
          <a:solidFill>
            <a:srgbClr val="1A2330"/>
          </a:solidFill>
          <a:ln w="15875">
            <a:solidFill>
              <a:srgbClr val="3ED5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514088" y="5074920"/>
            <a:ext cx="3133344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14088" y="5336438"/>
            <a:ext cx="313334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telemetry recovered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031480" y="5074920"/>
            <a:ext cx="3352800" cy="502920"/>
          </a:xfrm>
          <a:prstGeom prst="roundRect">
            <a:avLst>
              <a:gd name="adj" fmla="val 10909"/>
            </a:avLst>
          </a:prstGeom>
          <a:solidFill>
            <a:srgbClr val="1A2330"/>
          </a:solidFill>
          <a:ln w="15875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141208" y="5074920"/>
            <a:ext cx="3133344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141208" y="5336438"/>
            <a:ext cx="313334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tightens threshold fleet-wide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0287000" y="1737360"/>
            <a:ext cx="1371600" cy="0"/>
          </a:xfrm>
          <a:prstGeom prst="line">
            <a:avLst/>
          </a:prstGeom>
          <a:noFill/>
          <a:ln w="22225">
            <a:solidFill>
              <a:srgbClr val="3ED59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11658600" y="1737360"/>
            <a:ext cx="0" cy="3589020"/>
          </a:xfrm>
          <a:prstGeom prst="line">
            <a:avLst/>
          </a:prstGeom>
          <a:noFill/>
          <a:ln w="22225">
            <a:solidFill>
              <a:srgbClr val="3ED59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11658600" y="5326380"/>
            <a:ext cx="0" cy="0"/>
          </a:xfrm>
          <a:prstGeom prst="line">
            <a:avLst/>
          </a:prstGeom>
          <a:noFill/>
          <a:ln w="22225">
            <a:solidFill>
              <a:srgbClr val="3ED598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10241280" y="312039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 —</a:t>
            </a:r>
            <a:endParaRPr lang="en-US" sz="850" dirty="0"/>
          </a:p>
          <a:p>
            <a:pPr marL="0" indent="0" algn="r">
              <a:buNone/>
            </a:pPr>
            <a:r>
              <a:rPr lang="en-US" sz="850" i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feeds</a:t>
            </a:r>
            <a:endParaRPr lang="en-US" sz="850" dirty="0"/>
          </a:p>
          <a:p>
            <a:pPr marL="0" indent="0" algn="r">
              <a:buNone/>
            </a:pPr>
            <a:r>
              <a:rPr lang="en-US" sz="850" i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into monitor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· MCP MAVERICKS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WOW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click. The agent runs the entire cycle itself.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201168" cy="201168"/>
          </a:xfrm>
          <a:prstGeom prst="ellipse">
            <a:avLst/>
          </a:prstGeom>
          <a:solidFill>
            <a:srgbClr val="8B98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all 4 fleet assets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9224" y="1938528"/>
            <a:ext cx="0" cy="438912"/>
          </a:xfrm>
          <a:prstGeom prst="line">
            <a:avLst/>
          </a:prstGeom>
          <a:noFill/>
          <a:ln w="19050">
            <a:solidFill>
              <a:srgbClr val="232E3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01168" cy="201168"/>
          </a:xfrm>
          <a:prstGeom prst="ellipse">
            <a:avLst/>
          </a:prstGeom>
          <a:solidFill>
            <a:srgbClr val="FF5C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304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5968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flagged with confidence score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" y="2596896"/>
            <a:ext cx="0" cy="438912"/>
          </a:xfrm>
          <a:prstGeom prst="line">
            <a:avLst/>
          </a:prstGeom>
          <a:noFill/>
          <a:ln w="19050">
            <a:solidFill>
              <a:srgbClr val="232E3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201168" cy="201168"/>
          </a:xfrm>
          <a:prstGeom prst="ellipse">
            <a:avLst/>
          </a:prstGeom>
          <a:solidFill>
            <a:srgbClr val="4FD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29626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2552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4-tool MCP agent runs, cites evidence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" y="3255264"/>
            <a:ext cx="0" cy="438912"/>
          </a:xfrm>
          <a:prstGeom prst="line">
            <a:avLst/>
          </a:prstGeom>
          <a:noFill/>
          <a:ln w="19050">
            <a:solidFill>
              <a:srgbClr val="232E3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3694176"/>
            <a:ext cx="201168" cy="201168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3621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9136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highest-effectiveness fix auto-applied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" y="3913632"/>
            <a:ext cx="0" cy="438912"/>
          </a:xfrm>
          <a:prstGeom prst="line">
            <a:avLst/>
          </a:prstGeom>
          <a:noFill/>
          <a:ln w="19050">
            <a:solidFill>
              <a:srgbClr val="232E3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48640" y="4352544"/>
            <a:ext cx="201168" cy="201168"/>
          </a:xfrm>
          <a:prstGeom prst="ellipse">
            <a:avLst/>
          </a:prstGeom>
          <a:solidFill>
            <a:srgbClr val="3ED5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4400" y="4279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572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telemetry until recovery confirmed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" y="4572000"/>
            <a:ext cx="0" cy="438912"/>
          </a:xfrm>
          <a:prstGeom prst="line">
            <a:avLst/>
          </a:prstGeom>
          <a:noFill/>
          <a:ln w="19050">
            <a:solidFill>
              <a:srgbClr val="232E3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5010912"/>
            <a:ext cx="201168" cy="201168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14400" y="4937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5230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tightens detection threshold fleet-wide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1645920"/>
            <a:ext cx="7040880" cy="4480560"/>
          </a:xfrm>
          <a:prstGeom prst="roundRect">
            <a:avLst>
              <a:gd name="adj" fmla="val 1633"/>
            </a:avLst>
          </a:prstGeom>
          <a:solidFill>
            <a:srgbClr val="070A0D"/>
          </a:solidFill>
          <a:ln w="15875">
            <a:solidFill>
              <a:srgbClr val="FF8A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00600" y="18105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AUTONOMOUS OPERATIONS LOG  (actual session output)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2212848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1A2330"/>
          </a:solidFill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00600" y="22128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26480" y="21854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7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[MC-2201-001] Anomaly on 'temperature' = 76.2 (WARNING, 60% confidence). Failure mode: OVERTEMP.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283464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1A2330"/>
          </a:solidFill>
          <a:ln w="1270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00600" y="2834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26480" y="28072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7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4-tool MCP agent — ticket search, BOM lookup, design-doc RAG, past-fix retrieval...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456432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1A2330"/>
          </a:solidFill>
          <a:ln w="1270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00600" y="34564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26480" y="3429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7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identified in 0.2ms — 10 citations (TCK-1017, TCK-1021, MC-2201-HS, DD-006...).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4078224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1A2330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00600" y="40782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26480" y="40507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7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highest-effectiveness validated fix — no human approval required.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4700016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1A2330"/>
          </a:solidFill>
          <a:ln w="12700">
            <a:solidFill>
              <a:srgbClr val="3ED5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00600" y="47000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26480" y="467258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7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validated — temperature back within nominal band. Closed in 16.8s.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5321808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1A2330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800600" y="5321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26480" y="529437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7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'temperature' caused 2 incidents this session. Threshold tightened fleet-wide.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· MCP MAVERICKS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GOH-UC-065 · AGENTIC ASSET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one machine — a fleet, handled concurrently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26030" cy="1828800"/>
          </a:xfrm>
          <a:prstGeom prst="roundRect">
            <a:avLst>
              <a:gd name="adj" fmla="val 4000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MC-2201-001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A · Pune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971800"/>
            <a:ext cx="2160270" cy="320040"/>
          </a:xfrm>
          <a:prstGeom prst="roundRect">
            <a:avLst>
              <a:gd name="adj" fmla="val 51429"/>
            </a:avLst>
          </a:prstGeom>
          <a:solidFill>
            <a:srgbClr val="1A2330"/>
          </a:solidFill>
          <a:ln w="12700">
            <a:solidFill>
              <a:srgbClr val="3ED5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2160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94710" y="1691640"/>
            <a:ext cx="2526030" cy="1828800"/>
          </a:xfrm>
          <a:prstGeom prst="roundRect">
            <a:avLst>
              <a:gd name="adj" fmla="val 4000"/>
            </a:avLst>
          </a:prstGeom>
          <a:solidFill>
            <a:srgbClr val="141B24"/>
          </a:solidFill>
          <a:ln w="12700">
            <a:solidFill>
              <a:srgbClr val="FF8A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600700" y="1828800"/>
            <a:ext cx="128016" cy="128016"/>
          </a:xfrm>
          <a:prstGeom prst="ellipse">
            <a:avLst/>
          </a:prstGeom>
          <a:solidFill>
            <a:srgbClr val="4FD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77590" y="192024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MC-2201-007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77590" y="219456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B · Chennai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77590" y="2971800"/>
            <a:ext cx="2160270" cy="320040"/>
          </a:xfrm>
          <a:prstGeom prst="roundRect">
            <a:avLst>
              <a:gd name="adj" fmla="val 51429"/>
            </a:avLst>
          </a:prstGeom>
          <a:solidFill>
            <a:srgbClr val="1A2330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77590" y="2971800"/>
            <a:ext cx="2160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40780" y="1691640"/>
            <a:ext cx="2526030" cy="1828800"/>
          </a:xfrm>
          <a:prstGeom prst="roundRect">
            <a:avLst>
              <a:gd name="adj" fmla="val 4000"/>
            </a:avLst>
          </a:prstGeom>
          <a:solidFill>
            <a:srgbClr val="141B24"/>
          </a:solidFill>
          <a:ln w="12700">
            <a:solidFill>
              <a:srgbClr val="FF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446770" y="1828800"/>
            <a:ext cx="128016" cy="128016"/>
          </a:xfrm>
          <a:prstGeom prst="ellipse">
            <a:avLst/>
          </a:prstGeom>
          <a:solidFill>
            <a:srgbClr val="4FD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23660" y="192024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MC-2201-013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23660" y="219456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C · Coimbatore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23660" y="2971800"/>
            <a:ext cx="2160270" cy="320040"/>
          </a:xfrm>
          <a:prstGeom prst="roundRect">
            <a:avLst>
              <a:gd name="adj" fmla="val 51429"/>
            </a:avLst>
          </a:prstGeom>
          <a:solidFill>
            <a:srgbClr val="1A2330"/>
          </a:solidFill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23660" y="2971800"/>
            <a:ext cx="2160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86850" y="1691640"/>
            <a:ext cx="2526030" cy="1828800"/>
          </a:xfrm>
          <a:prstGeom prst="roundRect">
            <a:avLst>
              <a:gd name="adj" fmla="val 4000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269730" y="192024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MC-2201-019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69730" y="219456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E · Bangalore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69730" y="2971800"/>
            <a:ext cx="2160270" cy="320040"/>
          </a:xfrm>
          <a:prstGeom prst="roundRect">
            <a:avLst>
              <a:gd name="adj" fmla="val 51429"/>
            </a:avLst>
          </a:prstGeom>
          <a:solidFill>
            <a:srgbClr val="1A2330"/>
          </a:solidFill>
          <a:ln w="12700">
            <a:solidFill>
              <a:srgbClr val="3ED5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269730" y="2971800"/>
            <a:ext cx="2160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79476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— one incident makes the whole fleet smarter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14400" y="4599432"/>
            <a:ext cx="82296" cy="82296"/>
          </a:xfrm>
          <a:prstGeom prst="ellipse">
            <a:avLst/>
          </a:prstGeom>
          <a:solidFill>
            <a:srgbClr val="3ED5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14300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independent digital twins are monitored and acted on at the same time — not a single demo machine.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4400" y="4946904"/>
            <a:ext cx="82296" cy="82296"/>
          </a:xfrm>
          <a:prstGeom prst="ellipse">
            <a:avLst/>
          </a:prstGeom>
          <a:solidFill>
            <a:srgbClr val="3ED5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143000" y="48280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agent can be mid-fix on one asset while detecting and diagnosing an incident on another.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4400" y="5294376"/>
            <a:ext cx="82296" cy="82296"/>
          </a:xfrm>
          <a:prstGeom prst="ellipse">
            <a:avLst/>
          </a:prstGeom>
          <a:solidFill>
            <a:srgbClr val="3ED5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143000" y="51755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self-tightening detector adjusts a threshold, it applies fleet-wide — not just to the asset that failed.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4400" y="5641848"/>
            <a:ext cx="82296" cy="82296"/>
          </a:xfrm>
          <a:prstGeom prst="ellipse">
            <a:avLst/>
          </a:prstGeom>
          <a:solidFill>
            <a:srgbClr val="3ED5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143000" y="552297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turns “fault detection” into genuine agentic asset management (GOH-UC-065).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· MCP MAVERICKS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SLIDE CLAIM — COMPUTED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Self-optimizing detection + defensible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SELF-TIGHTENING DETECTION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failure mode recurs, the agent tightens its own threshold — fleet-wide.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 warning: 3.0 mm/s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566160"/>
            <a:ext cx="4206240" cy="0"/>
          </a:xfrm>
          <a:prstGeom prst="line">
            <a:avLst/>
          </a:prstGeom>
          <a:noFill/>
          <a:ln w="1270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2ND INCIDENT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D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 warning: 2.94 mm/s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just tightened its own detection threshold because this is the second time — one incident makes every asset in the fleet catch it earlier next time.”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4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EVALUATION  ·  RAG vs. naive keyword baseline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RAG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87552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697480"/>
            <a:ext cx="4754880" cy="0"/>
          </a:xfrm>
          <a:prstGeom prst="line">
            <a:avLst/>
          </a:prstGeom>
          <a:noFill/>
          <a:ln w="1270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8368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D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7552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D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eval queries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7552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0" y="4297680"/>
            <a:ext cx="4754880" cy="0"/>
          </a:xfrm>
          <a:prstGeom prst="line">
            <a:avLst/>
          </a:prstGeom>
          <a:noFill/>
          <a:ln w="1270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583680" y="4480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4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PIPELINE LATENCY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83680" y="4846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0" y="4846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D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ms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0" y="5193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509760" y="5193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D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ms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0" y="55412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incl. fix + validate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09760" y="55412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D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~17 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· MCP MAVERICKS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JUDGE-SCORING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business impact — not a slide estimate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resolved incident converts into real dollars, computed from what actually happened in the session — not a hardcoded number on a slide.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ED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$807,420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Total Savings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resolved incident, this session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17720" y="2377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4F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336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1772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Hours Avoided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2-week traditional RCA baseline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21488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0" y="2377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16.8s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diagnose → fix → validate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41B24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— stated openly, adjustable, defensible under questioning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5010912"/>
            <a:ext cx="73152" cy="73152"/>
          </a:xfrm>
          <a:prstGeom prst="ellipse">
            <a:avLst/>
          </a:prstGeom>
          <a:solidFill>
            <a:srgbClr val="8B98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143000" y="4892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RCA baseline: 14 days (conservative midpoint of the “2–3 weeks” industry figure)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400" y="5358384"/>
            <a:ext cx="73152" cy="73152"/>
          </a:xfrm>
          <a:prstGeom prst="ellipse">
            <a:avLst/>
          </a:prstGeom>
          <a:solidFill>
            <a:srgbClr val="8B98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143000" y="52395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 cost: $2,400/hour (mid-size industrial line — adjustable in backend/metrics.py)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5705856"/>
            <a:ext cx="73152" cy="73152"/>
          </a:xfrm>
          <a:prstGeom prst="ellipse">
            <a:avLst/>
          </a:prstGeom>
          <a:solidFill>
            <a:srgbClr val="8B98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143000" y="55869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loaded cost: $85/hour × ~12 hours per manual RCA avoided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· MCP MAVERICKS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— offline-first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691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484632"/>
          </a:xfrm>
          <a:prstGeom prst="rect">
            <a:avLst/>
          </a:prstGeom>
          <a:solidFill>
            <a:srgbClr val="141B24"/>
          </a:solidFill>
          <a:ln w="635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34640" y="2148840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simulation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2148840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dependency, deterministic, resets instantly live on stage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33472"/>
            <a:ext cx="11064240" cy="484632"/>
          </a:xfrm>
          <a:prstGeom prst="rect">
            <a:avLst/>
          </a:prstGeom>
          <a:solidFill>
            <a:srgbClr val="1A2330"/>
          </a:solidFill>
          <a:ln w="635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2633472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34640" y="2633472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rolling z-score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633472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in one sentence; swappable for sklearn IsolationForest later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11064240" cy="484632"/>
          </a:xfrm>
          <a:prstGeom prst="rect">
            <a:avLst/>
          </a:prstGeom>
          <a:solidFill>
            <a:srgbClr val="141B24"/>
          </a:solidFill>
          <a:ln w="635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3118104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Retrieval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34640" y="3118104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TF-IDF + cosine similarity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3118104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offline, transparent — no vector DB server needed for a hackathon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02736"/>
            <a:ext cx="11064240" cy="484632"/>
          </a:xfrm>
          <a:prstGeom prst="rect">
            <a:avLst/>
          </a:prstGeom>
          <a:solidFill>
            <a:srgbClr val="1A2330"/>
          </a:solidFill>
          <a:ln w="635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" y="3602736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Orchestration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34640" y="3602736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 loop + real MCP SDK path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3602736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reasoning trace is the wow moment; MCP-protocol-compliant for Claude Desktop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87368"/>
            <a:ext cx="11064240" cy="484632"/>
          </a:xfrm>
          <a:prstGeom prst="rect">
            <a:avLst/>
          </a:prstGeom>
          <a:solidFill>
            <a:srgbClr val="141B24"/>
          </a:solidFill>
          <a:ln w="635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31520" y="4087368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Synthesis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834640" y="4087368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(optional) via REST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4087368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friendly; graceful offline fallback if quota/network fails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11064240" cy="484632"/>
          </a:xfrm>
          <a:prstGeom prst="rect">
            <a:avLst/>
          </a:prstGeom>
          <a:solidFill>
            <a:srgbClr val="1A2330"/>
          </a:solidFill>
          <a:ln w="635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520" y="4572000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834640" y="4572000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4572000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dependencies, zero build step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056632"/>
            <a:ext cx="11064240" cy="484632"/>
          </a:xfrm>
          <a:prstGeom prst="rect">
            <a:avLst/>
          </a:prstGeom>
          <a:solidFill>
            <a:srgbClr val="141B24"/>
          </a:solidFill>
          <a:ln w="635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31520" y="5056632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Dashboard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834640" y="5056632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Chart.js (CDN)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5056632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npm/build toolchain required to run the demo anywhere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541264"/>
            <a:ext cx="11064240" cy="484632"/>
          </a:xfrm>
          <a:prstGeom prst="rect">
            <a:avLst/>
          </a:prstGeom>
          <a:solidFill>
            <a:srgbClr val="1A2330"/>
          </a:solidFill>
          <a:ln w="635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31520" y="5541264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834640" y="5541264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knowledge base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5541264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tickets, 4 BOM specs, 6 design docs, 12 fixes — regenerable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· MCP MAVERICKS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 — how we built it under hackathon constraints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08022" cy="3246120"/>
          </a:xfrm>
          <a:prstGeom prst="roundRect">
            <a:avLst>
              <a:gd name="adj" fmla="val 3643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296619" y="2057400"/>
            <a:ext cx="512064" cy="512064"/>
          </a:xfrm>
          <a:prstGeom prst="ellipse">
            <a:avLst/>
          </a:prstGeom>
          <a:solidFill>
            <a:srgbClr val="1A2330"/>
          </a:solidFill>
          <a:ln w="19050">
            <a:solidFill>
              <a:srgbClr val="8B98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756" y="2190537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97480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2971800"/>
            <a:ext cx="17337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 &amp; Scoping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3520440"/>
            <a:ext cx="173370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framing, Big Bet + use-case alignment, positioning (AEIT), data model design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510942" y="32232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812694" y="1828800"/>
            <a:ext cx="2008022" cy="3246120"/>
          </a:xfrm>
          <a:prstGeom prst="roundRect">
            <a:avLst>
              <a:gd name="adj" fmla="val 3643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560674" y="2057400"/>
            <a:ext cx="512064" cy="512064"/>
          </a:xfrm>
          <a:prstGeom prst="ellipse">
            <a:avLst/>
          </a:prstGeom>
          <a:solidFill>
            <a:srgbClr val="1A2330"/>
          </a:solidFill>
          <a:ln w="1905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3810" y="2190537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49854" y="2697480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949854" y="2971800"/>
            <a:ext cx="17337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Simulation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949854" y="3520440"/>
            <a:ext cx="173370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engine, 6-signal telemetry, fault injection, hybrid anomaly detector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774997" y="32232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076749" y="1828800"/>
            <a:ext cx="2008022" cy="3246120"/>
          </a:xfrm>
          <a:prstGeom prst="roundRect">
            <a:avLst>
              <a:gd name="adj" fmla="val 3643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5824728" y="2057400"/>
            <a:ext cx="512064" cy="512064"/>
          </a:xfrm>
          <a:prstGeom prst="ellipse">
            <a:avLst/>
          </a:prstGeom>
          <a:solidFill>
            <a:srgbClr val="1A2330"/>
          </a:solidFill>
          <a:ln w="1905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7865" y="2190537"/>
            <a:ext cx="245791" cy="24579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13909" y="2697480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4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213909" y="2971800"/>
            <a:ext cx="17337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Agent + RAG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213909" y="3520440"/>
            <a:ext cx="173370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tools (ticket/BOM/design-doc/fix), TF-IDF retrieval, synthesis + Gemini fallback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039051" y="32232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340803" y="1828800"/>
            <a:ext cx="2008022" cy="3246120"/>
          </a:xfrm>
          <a:prstGeom prst="roundRect">
            <a:avLst>
              <a:gd name="adj" fmla="val 3643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088782" y="2057400"/>
            <a:ext cx="512064" cy="512064"/>
          </a:xfrm>
          <a:prstGeom prst="ellipse">
            <a:avLst/>
          </a:prstGeom>
          <a:solidFill>
            <a:srgbClr val="1A2330"/>
          </a:solidFill>
          <a:ln w="1905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1919" y="2190537"/>
            <a:ext cx="245791" cy="24579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77963" y="2697480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477963" y="2971800"/>
            <a:ext cx="17337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Loop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477963" y="3520440"/>
            <a:ext cx="173370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agent, fleet expansion (4 assets), self-tightening thresholds, concurrency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9303106" y="32232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9604858" y="1828800"/>
            <a:ext cx="2008022" cy="3246120"/>
          </a:xfrm>
          <a:prstGeom prst="roundRect">
            <a:avLst>
              <a:gd name="adj" fmla="val 3643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10352837" y="2057400"/>
            <a:ext cx="512064" cy="512064"/>
          </a:xfrm>
          <a:prstGeom prst="ellipse">
            <a:avLst/>
          </a:prstGeom>
          <a:solidFill>
            <a:srgbClr val="1A2330"/>
          </a:solidFill>
          <a:ln w="19050">
            <a:solidFill>
              <a:srgbClr val="3ED5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5973" y="2190537"/>
            <a:ext cx="245791" cy="245791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742018" y="2697480"/>
            <a:ext cx="1733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9742018" y="2971800"/>
            <a:ext cx="17337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&amp; Demo-Ready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9742018" y="3520440"/>
            <a:ext cx="173370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testing, bug fixes, ROI calculator, docs, pitch deck, rehearsal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inside the hackathon: each sprint ended with a working, demoable increment — never a half-broken feature.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 closed with a real test — including a stress test that caught and fixed a live false-positive bug before demo day (see Testing Plan).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· MCP MAVERICKS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Plan — engineering rigor, not just a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&amp; RETRIEVAL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Held-out, paraphrased 12-query eval set scored against RAG vs. a naive keyword baseline every run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83280" y="169164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611880" y="1920240"/>
            <a:ext cx="457200" cy="45720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3ED5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D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611880" y="2926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endpoint smoke-tested end to end via Flask test client + live HTTP: telemetry, fault injection, fix, RCA pipeline, reset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0" y="169164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20391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/ STRESS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446520" y="2926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75-second fleet-wide autonomous stress test with simultaneous multi-asset incidents and auto-injection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52560" y="169164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9281160" y="1920240"/>
            <a:ext cx="457200" cy="45720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032" y="203911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REHEARSAL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281160" y="2926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12-point pre-demo checklist run 10-15 minutes before every presentation — never discover a bug on stage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88620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141B24"/>
          </a:solidFill>
          <a:ln w="12700">
            <a:solidFill>
              <a:srgbClr val="FF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914400" y="4160520"/>
            <a:ext cx="502920" cy="50292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159" y="429127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2062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BUG WE CAUGHT — AND WHAT IT TAUGHT US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600200" y="4572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concurrent fleet stress test, the statistical detector occasionally false-triggered on pure noise for a freshly-started asset — and since there was no real fault, the agent would “resolve” it in a single tick, silently padding the ROI numbers with fake incidents.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600200" y="5257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root-caused it to a z-score-divide-by-near-zero-variance edge case, fixed it two ways (variance floor + the agent now only acts on genuine threshold breaches, never statistics alone), and re-ran a 75-second stress test with zero false positives before shipping.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· MCP MAVERICKS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TO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Plan — three stages, each independently useful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8B98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2096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60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TODAY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28163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/ Offline-First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3401568"/>
            <a:ext cx="73152" cy="73152"/>
          </a:xfrm>
          <a:prstGeom prst="ellipse">
            <a:avLst/>
          </a:prstGeom>
          <a:solidFill>
            <a:srgbClr val="8B98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00584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flask requests — zero build step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" y="4041648"/>
            <a:ext cx="73152" cy="73152"/>
          </a:xfrm>
          <a:prstGeom prst="ellipse">
            <a:avLst/>
          </a:prstGeom>
          <a:solidFill>
            <a:srgbClr val="8B98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0584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judge's laptop, no cloud account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2960" y="4681728"/>
            <a:ext cx="73152" cy="73152"/>
          </a:xfrm>
          <a:prstGeom prst="ellipse">
            <a:avLst/>
          </a:prstGeom>
          <a:solidFill>
            <a:srgbClr val="8B98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005840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optional; rule-based fallback never breaks demo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22960" y="5321808"/>
            <a:ext cx="73152" cy="73152"/>
          </a:xfrm>
          <a:prstGeom prst="ellipse">
            <a:avLst/>
          </a:prstGeom>
          <a:solidFill>
            <a:srgbClr val="8B98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005840" y="5212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a single downloadable zip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43400" y="169164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479" y="2096719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17720" y="2560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NEAR-TERM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617720" y="28163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 Cloud Pilot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617720" y="3401568"/>
            <a:ext cx="73152" cy="7315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480060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 backend + frontend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617720" y="4041648"/>
            <a:ext cx="73152" cy="7315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480060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 single cloud VM / App Service for pilot plants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617720" y="4681728"/>
            <a:ext cx="73152" cy="7315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4800600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TF-IDF for FAISS/Chroma + BGE-M3 embeddings at scale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617720" y="5321808"/>
            <a:ext cx="73152" cy="7315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4800600" y="5212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 + per-plant data isolation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8138160" y="169164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8412480" y="1965960"/>
            <a:ext cx="502920" cy="502920"/>
          </a:xfrm>
          <a:prstGeom prst="ellipse">
            <a:avLst/>
          </a:prstGeom>
          <a:solidFill>
            <a:srgbClr val="1A2330"/>
          </a:solidFill>
          <a:ln w="19050">
            <a:solidFill>
              <a:srgbClr val="3ED5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239" y="2096719"/>
            <a:ext cx="241402" cy="24140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412480" y="2560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PRODUCTION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8412480" y="28163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Fleet-Scale Platform</a:t>
            </a:r>
            <a:endParaRPr lang="en-US" sz="1500" dirty="0"/>
          </a:p>
        </p:txBody>
      </p:sp>
      <p:sp>
        <p:nvSpPr>
          <p:cNvPr id="35" name="Shape 30"/>
          <p:cNvSpPr/>
          <p:nvPr/>
        </p:nvSpPr>
        <p:spPr>
          <a:xfrm>
            <a:off x="8412480" y="3401568"/>
            <a:ext cx="73152" cy="73152"/>
          </a:xfrm>
          <a:prstGeom prst="ellipse">
            <a:avLst/>
          </a:prstGeom>
          <a:solidFill>
            <a:srgbClr val="3ED5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859536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deployment, horizontal scaling per plant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8412480" y="4041648"/>
            <a:ext cx="73152" cy="73152"/>
          </a:xfrm>
          <a:prstGeom prst="ellipse">
            <a:avLst/>
          </a:prstGeom>
          <a:solidFill>
            <a:srgbClr val="3ED5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859536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vector DB + time-series DB for real sensor feeds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8412480" y="4681728"/>
            <a:ext cx="73152" cy="73152"/>
          </a:xfrm>
          <a:prstGeom prst="ellipse">
            <a:avLst/>
          </a:prstGeom>
          <a:solidFill>
            <a:srgbClr val="3ED5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/>
          <p:nvPr/>
        </p:nvSpPr>
        <p:spPr>
          <a:xfrm>
            <a:off x="8595360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SAP/CMMS integration for live ticket ingestion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8412480" y="5321808"/>
            <a:ext cx="73152" cy="73152"/>
          </a:xfrm>
          <a:prstGeom prst="ellipse">
            <a:avLst/>
          </a:prstGeom>
          <a:solidFill>
            <a:srgbClr val="3ED5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7"/>
          <p:cNvSpPr/>
          <p:nvPr/>
        </p:nvSpPr>
        <p:spPr>
          <a:xfrm>
            <a:off x="8595360" y="5212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Observability, alerting, SSO, audit logging</a:t>
            </a:r>
            <a:endParaRPr lang="en-US" sz="1050" dirty="0"/>
          </a:p>
        </p:txBody>
      </p:sp>
      <p:sp>
        <p:nvSpPr>
          <p:cNvPr id="43" name="Text 38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· MCP MAVERICKS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30 / 60 / 90 days post-hackathon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 at pilot scale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264408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24128" y="3127248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vector DB (FAISS/Chroma) + BGE-M3 embeddings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995928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24128" y="3858768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deployment for 1-2 pilot plants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727448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24128" y="4590288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SAP/CMMS ticket ingestion pipeline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173736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17720" y="196596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4FD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17720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2468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the fleet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17720" y="3264408"/>
            <a:ext cx="82296" cy="82296"/>
          </a:xfrm>
          <a:prstGeom prst="ellipse">
            <a:avLst/>
          </a:prstGeom>
          <a:solidFill>
            <a:srgbClr val="4FD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18888" y="3127248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Factory-wide digital twin, true multi-machine scale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17720" y="3995928"/>
            <a:ext cx="82296" cy="82296"/>
          </a:xfrm>
          <a:prstGeom prst="ellipse">
            <a:avLst/>
          </a:prstGeom>
          <a:solidFill>
            <a:srgbClr val="4FD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18888" y="3858768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database for real sensor feeds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17720" y="4727448"/>
            <a:ext cx="82296" cy="82296"/>
          </a:xfrm>
          <a:prstGeom prst="ellipse">
            <a:avLst/>
          </a:prstGeom>
          <a:solidFill>
            <a:srgbClr val="4FD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18888" y="4590288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anomaly detection (IsolationForest / autoencoders)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173736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412480" y="196596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3ED5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412480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E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12480" y="2468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copilot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12480" y="3264408"/>
            <a:ext cx="82296" cy="82296"/>
          </a:xfrm>
          <a:prstGeom prst="ellipse">
            <a:avLst/>
          </a:prstGeom>
          <a:solidFill>
            <a:srgbClr val="3ED5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613648" y="3127248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 inspection integration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412480" y="3995928"/>
            <a:ext cx="82296" cy="82296"/>
          </a:xfrm>
          <a:prstGeom prst="ellipse">
            <a:avLst/>
          </a:prstGeom>
          <a:solidFill>
            <a:srgbClr val="3ED5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613648" y="3858768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Voice-enabled AI maintenance assistant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412480" y="4727448"/>
            <a:ext cx="82296" cy="82296"/>
          </a:xfrm>
          <a:prstGeom prst="ellipse">
            <a:avLst/>
          </a:prstGeom>
          <a:solidFill>
            <a:srgbClr val="3ED5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613648" y="4590288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maintenance scheduling + mobile app for field engineers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· MCP MAVERICKS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300 teams won't have on stage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5200" cy="1874520"/>
          </a:xfrm>
          <a:prstGeom prst="roundRect">
            <a:avLst>
              <a:gd name="adj" fmla="val 3902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892808"/>
            <a:ext cx="438912" cy="438912"/>
          </a:xfrm>
          <a:prstGeom prst="ellipse">
            <a:avLst/>
          </a:prstGeom>
          <a:solidFill>
            <a:srgbClr val="1A2330"/>
          </a:solidFill>
          <a:ln w="1905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57" y="2006925"/>
            <a:ext cx="210678" cy="2106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41448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fixes itself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dashboard that alerts a human — an agent that detects, diagnoses, fixes, and validates with nobody touching the keyboard.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28160" y="1691640"/>
            <a:ext cx="3505200" cy="1874520"/>
          </a:xfrm>
          <a:prstGeom prst="roundRect">
            <a:avLst>
              <a:gd name="adj" fmla="val 3902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56760" y="1892808"/>
            <a:ext cx="438912" cy="438912"/>
          </a:xfrm>
          <a:prstGeom prst="ellipse">
            <a:avLst/>
          </a:prstGeom>
          <a:solidFill>
            <a:srgbClr val="1A2330"/>
          </a:solidFill>
          <a:ln w="1905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877" y="2006925"/>
            <a:ext cx="210678" cy="2106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6760" y="2441448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gets smarter live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56760" y="278892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Self-tightening detection thresholds, fleet-wide, triggered by a real repeat incident in front of the judges — not a roadmap bullet.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07680" y="1691640"/>
            <a:ext cx="3505200" cy="1874520"/>
          </a:xfrm>
          <a:prstGeom prst="roundRect">
            <a:avLst>
              <a:gd name="adj" fmla="val 3902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336280" y="1892808"/>
            <a:ext cx="438912" cy="438912"/>
          </a:xfrm>
          <a:prstGeom prst="ellipse">
            <a:avLst/>
          </a:prstGeom>
          <a:solidFill>
            <a:srgbClr val="1A2330"/>
          </a:solidFill>
          <a:ln w="1905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0397" y="2006925"/>
            <a:ext cx="210678" cy="2106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6280" y="2441448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manages a fleet, not a demo machine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36280" y="278892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incidents on two different assets, handled concurrently, at the same time, on screen.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05200" cy="1874520"/>
          </a:xfrm>
          <a:prstGeom prst="roundRect">
            <a:avLst>
              <a:gd name="adj" fmla="val 3902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77240" y="4041648"/>
            <a:ext cx="438912" cy="438912"/>
          </a:xfrm>
          <a:prstGeom prst="ellipse">
            <a:avLst/>
          </a:prstGeom>
          <a:solidFill>
            <a:srgbClr val="1A2330"/>
          </a:solidFill>
          <a:ln w="1905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357" y="4155765"/>
            <a:ext cx="210678" cy="2106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590288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is cited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493776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4-tool MCP agent grounds every root-cause statement in a real ticket, spec, or fix ID — no hallucination.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28160" y="3840480"/>
            <a:ext cx="3505200" cy="1874520"/>
          </a:xfrm>
          <a:prstGeom prst="roundRect">
            <a:avLst>
              <a:gd name="adj" fmla="val 3902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556760" y="4041648"/>
            <a:ext cx="438912" cy="438912"/>
          </a:xfrm>
          <a:prstGeom prst="ellipse">
            <a:avLst/>
          </a:prstGeom>
          <a:solidFill>
            <a:srgbClr val="1A2330"/>
          </a:solidFill>
          <a:ln w="1905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0877" y="4155765"/>
            <a:ext cx="210678" cy="21067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6760" y="4590288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ROI, not a slide estimate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56760" y="493776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figures computed from what actually happened in the session, assumptions stated openly.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107680" y="3840480"/>
            <a:ext cx="3505200" cy="1874520"/>
          </a:xfrm>
          <a:prstGeom prst="roundRect">
            <a:avLst>
              <a:gd name="adj" fmla="val 3902"/>
            </a:avLst>
          </a:prstGeom>
          <a:solidFill>
            <a:srgbClr val="1A2330"/>
          </a:solidFill>
          <a:ln w="12700">
            <a:solidFill>
              <a:srgbClr val="232E3B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336280" y="4041648"/>
            <a:ext cx="438912" cy="438912"/>
          </a:xfrm>
          <a:prstGeom prst="ellipse">
            <a:avLst/>
          </a:prstGeom>
          <a:solidFill>
            <a:srgbClr val="1A2330"/>
          </a:solidFill>
          <a:ln w="1905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0397" y="4155765"/>
            <a:ext cx="210678" cy="21067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6280" y="4590288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never breaks on stage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36280" y="493776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Offline-first, Gemini-optional, stress-tested for concurrency — the failure modes were found and fixed before demo day.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· MCP MAVERICKS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286000"/>
            <a:ext cx="6400800" cy="6400800"/>
          </a:xfrm>
          <a:prstGeom prst="ellipse">
            <a:avLst/>
          </a:prstGeom>
          <a:solidFill>
            <a:srgbClr val="FF8A3D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4FD1E8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MCP MAVERICKS  ·  LTTS OPENHACK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i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didn't just build a system that detects failures.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400" b="1" i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one that fixes them, proves the fix worked, and gets smarter every time it happens again — across a whole fleet, with nobody touching the keyboard.”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3200400" cy="0"/>
          </a:xfrm>
          <a:prstGeom prst="line">
            <a:avLst/>
          </a:prstGeom>
          <a:noFill/>
          <a:ln w="12700">
            <a:solidFill>
              <a:srgbClr val="232E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D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90s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failure → root cause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29000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D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4754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managed concurrently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0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D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35040" y="4754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precision@1, this session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41080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D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$800K+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641080" y="4754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savings per session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 welcome.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EI-NEXUS · MCP MAVERICKS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2150</Words>
  <Application>Microsoft Office PowerPoint</Application>
  <PresentationFormat>Widescreen</PresentationFormat>
  <Paragraphs>375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EI-Nexus — Autonomous Engineering Intelligence Twin</dc:title>
  <dc:subject>PptxGenJS Presentation</dc:subject>
  <dc:creator>Team MCP Mavericks</dc:creator>
  <cp:lastModifiedBy>Sourabh Chourasia</cp:lastModifiedBy>
  <cp:revision>2</cp:revision>
  <dcterms:created xsi:type="dcterms:W3CDTF">2026-07-04T18:34:00Z</dcterms:created>
  <dcterms:modified xsi:type="dcterms:W3CDTF">2026-07-04T18:43:48Z</dcterms:modified>
</cp:coreProperties>
</file>